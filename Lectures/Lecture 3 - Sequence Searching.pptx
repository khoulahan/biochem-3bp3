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6" r:id="rId5"/>
    <p:sldMasterId id="2147483706" r:id="rId6"/>
  </p:sldMasterIdLst>
  <p:notesMasterIdLst>
    <p:notesMasterId r:id="rId59"/>
  </p:notesMasterIdLst>
  <p:handoutMasterIdLst>
    <p:handoutMasterId r:id="rId60"/>
  </p:handoutMasterIdLst>
  <p:sldIdLst>
    <p:sldId id="354" r:id="rId7"/>
    <p:sldId id="407" r:id="rId8"/>
    <p:sldId id="891" r:id="rId9"/>
    <p:sldId id="889" r:id="rId10"/>
    <p:sldId id="890" r:id="rId11"/>
    <p:sldId id="892" r:id="rId12"/>
    <p:sldId id="893" r:id="rId13"/>
    <p:sldId id="894" r:id="rId14"/>
    <p:sldId id="895" r:id="rId15"/>
    <p:sldId id="899" r:id="rId16"/>
    <p:sldId id="896" r:id="rId17"/>
    <p:sldId id="897" r:id="rId18"/>
    <p:sldId id="898" r:id="rId19"/>
    <p:sldId id="900" r:id="rId20"/>
    <p:sldId id="901" r:id="rId21"/>
    <p:sldId id="902" r:id="rId22"/>
    <p:sldId id="903" r:id="rId23"/>
    <p:sldId id="904" r:id="rId24"/>
    <p:sldId id="905" r:id="rId25"/>
    <p:sldId id="906" r:id="rId26"/>
    <p:sldId id="907" r:id="rId27"/>
    <p:sldId id="908" r:id="rId28"/>
    <p:sldId id="909" r:id="rId29"/>
    <p:sldId id="910" r:id="rId30"/>
    <p:sldId id="911" r:id="rId31"/>
    <p:sldId id="912" r:id="rId32"/>
    <p:sldId id="913" r:id="rId33"/>
    <p:sldId id="914" r:id="rId34"/>
    <p:sldId id="916" r:id="rId35"/>
    <p:sldId id="915" r:id="rId36"/>
    <p:sldId id="917" r:id="rId37"/>
    <p:sldId id="918" r:id="rId38"/>
    <p:sldId id="919" r:id="rId39"/>
    <p:sldId id="920" r:id="rId40"/>
    <p:sldId id="921" r:id="rId41"/>
    <p:sldId id="922" r:id="rId42"/>
    <p:sldId id="923" r:id="rId43"/>
    <p:sldId id="924" r:id="rId44"/>
    <p:sldId id="929" r:id="rId45"/>
    <p:sldId id="930" r:id="rId46"/>
    <p:sldId id="931" r:id="rId47"/>
    <p:sldId id="925" r:id="rId48"/>
    <p:sldId id="926" r:id="rId49"/>
    <p:sldId id="927" r:id="rId50"/>
    <p:sldId id="932" r:id="rId51"/>
    <p:sldId id="928" r:id="rId52"/>
    <p:sldId id="933" r:id="rId53"/>
    <p:sldId id="934" r:id="rId54"/>
    <p:sldId id="935" r:id="rId55"/>
    <p:sldId id="936" r:id="rId56"/>
    <p:sldId id="937" r:id="rId57"/>
    <p:sldId id="888" r:id="rId58"/>
  </p:sldIdLst>
  <p:sldSz cx="20318413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AD5E1"/>
    <a:srgbClr val="619E17"/>
    <a:srgbClr val="E98676"/>
    <a:srgbClr val="79003C"/>
    <a:srgbClr val="C9F2D2"/>
    <a:srgbClr val="0F0F0F"/>
    <a:srgbClr val="B20000"/>
    <a:srgbClr val="DE0000"/>
    <a:srgbClr val="DBDB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89839" autoAdjust="0"/>
  </p:normalViewPr>
  <p:slideViewPr>
    <p:cSldViewPr snapToGrid="0">
      <p:cViewPr varScale="1">
        <p:scale>
          <a:sx n="87" d="100"/>
          <a:sy n="87" d="100"/>
        </p:scale>
        <p:origin x="248" y="1360"/>
      </p:cViewPr>
      <p:guideLst/>
    </p:cSldViewPr>
  </p:slideViewPr>
  <p:outlineViewPr>
    <p:cViewPr>
      <p:scale>
        <a:sx n="33" d="100"/>
        <a:sy n="33" d="100"/>
      </p:scale>
      <p:origin x="0" y="-465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5" Type="http://schemas.openxmlformats.org/officeDocument/2006/relationships/slideMaster" Target="slideMasters/slideMaster2.xml"/><Relationship Id="rId61" Type="http://schemas.openxmlformats.org/officeDocument/2006/relationships/presProps" Target="presProp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0DA959-37E2-B159-B57E-1B012B4102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8F0FA-E5FA-CCCF-F4EF-570FF78969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1241E-95D8-EC4C-8EC7-76F38C602C6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F15B2-5D17-F689-1A9C-3BFDEA47A0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2D73E-1B3A-6498-7C9F-A873D37A6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90235-31B2-E542-BF3E-31322265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636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ABD9C-0A3D-664C-AB0E-EE362BB8958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8D1B7-6E89-354E-B8CD-65073F1E3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419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761924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523848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2285771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3047695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3809619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4571543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5333467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6095390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74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477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131F9-3AF3-52A3-BF0E-D8C759EB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9E948-2C55-B155-18B1-2F4433586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4F0F1-1093-26A8-D36A-20BB0008F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483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45F88-AACE-C5B5-05C2-04C14922F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22268-45F8-7272-845E-27B0A7DCC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ECE93-8F1F-5F15-52EC-4E147CBE0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836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2CA36-5E1F-2CBB-AAC9-16A58091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9AAA2-4016-CE48-546E-D412079BC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25F2A-DED6-B5A5-D033-2B3FFE59A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077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6A1F-736E-82EA-B36A-AC5757EC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431D3-996E-3D21-4B04-A7788FD2F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597E5-F122-0B62-A9C5-899910B9E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47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76291-49D7-86E2-0B6F-C89BDD8D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8CBF3-0463-D24B-4AED-8B384B6C4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10408-FCB8-7076-8065-D5F6CEAAB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46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E612D-4486-9859-045D-A1B32B7B1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13468-DAF8-BEE6-3700-9B6F2D68A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83BA3-E8D6-4324-202A-B21C8E4FE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352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4C22-9EAC-69C4-CCF3-B20CC883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92C4C-D0F2-F5F1-7495-62E142561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863FB-2C81-93DA-CCB9-54C4D9724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900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AE270-B27E-43FA-81CB-09C624C7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E01DE-C06C-531F-D6B7-A84E9C205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84873-9E80-0885-0A88-D5BC427F9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68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BF27B-FFD6-ADC5-C055-9AEA5791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29849-775D-B344-0990-871EB921B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C5296-C253-DD33-9D5F-8D56C81EF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524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0F995-59E8-12F7-33C5-BB989427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F7165-DD9F-35CF-AB1C-F32357C34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AB34D-AD99-BFDE-3E56-EF4672A10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60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21B72-7A24-29F3-B028-1F29B58B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6852D-F021-BAAC-5AA2-6093750B7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04FF7-6AA9-B01A-FF24-5C481EF87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00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85E2-036B-8C4E-D009-D27357D9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29580-CCFF-D3A1-A772-C38276D71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9D185-3B40-1566-0991-D416ADDCE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75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60CE5-4CA5-C267-C084-F8F70F70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92458-0D07-FC3D-4ABF-0060756E0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0796F-2C51-535C-1E9A-4802F1D21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009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281CD-7FF2-6B90-30B9-3C9081C4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1D065-56EB-03FC-D667-AAE70ABA8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9D08B-F4FB-46B2-12B0-1EDBA3EA3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345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3F44D-1C7A-D212-3324-CAF7849D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001C2-906D-04D3-DA69-BC29B58B7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ED345-E167-3900-70D0-68A3F8FEA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547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6447-5FE6-A5FA-73BB-E6D96F617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188D0-F183-9341-1DA9-406D848E6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770AE-EB58-00E1-3A92-097975D58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0658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1403-410F-1FA3-4B46-8E2E527C1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785FB-B2AB-3699-A544-552FD4571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97A36-D775-7850-F406-CAF39E3BD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760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2F68A-F1E1-B7FB-C24C-603747A3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580EB-DBB4-7DD2-48E0-FC7D7A279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08AF8-628D-2A6C-2BF2-2DDA9C882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1848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2C43-EF8F-4639-2CE9-A2FE47C4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08D55-E8DD-81F5-C6DB-62972B4FF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681A8-CC1A-8644-2116-2109AB290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849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8ED18-63CA-F5F7-8731-5F63F24EB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E810E-F0FD-D12D-11FB-62E8E76F2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F5063-32E1-CC50-B66D-1B1F87E44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244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7E33-BCF1-00E4-C1E8-A881FBC6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ECCEA-7527-D9FD-720E-90C9AC22F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0C2DC-665B-3335-D0EA-ACEF357F0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0266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09992-3434-6002-2759-CB0448C9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B2336-CC92-DC41-3EAA-417A075F5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E7CF5-A9BB-7913-371A-D6719CF30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8946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125D-8957-9F78-F814-62AF232EF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CBEA6-D283-720F-C0F9-EFC019E99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BE2E8-393A-A059-76CD-BCD9D212D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3904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E1601-2A3B-58A7-B0A6-B295A9484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10340-E7C1-E3EB-80B5-C2D2C621A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C3EDA-CC84-8193-4C09-C44DF853D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133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4CE2-483B-5D3F-F0E1-5B44C686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A40A2-E5A8-FC10-C88C-6784EB7A5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86C41-3E24-BA9A-B302-0802E2034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5646599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6ED6-EB1F-E801-BD11-60FA23DF8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EBA94-80F2-02EE-99BF-CCEAE7A04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10576-23DE-EE65-4EE6-13D695F9C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2270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E7E1-F4A1-B568-600F-2F7ADB86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22B53-11F4-04D0-211A-3423CA419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F5434-526A-561C-37EC-342D58737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2804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DC4A-0A81-DFD4-0B9F-4F4B203A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D4B9E-2D36-F260-0089-E3605E9C8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055C2-5342-FF05-FECA-07530F97B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791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81A4-AE69-5816-340E-D349A1379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E6901-CB20-6F49-A428-1FBB30D27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D0793-6BE9-4D1E-2686-3E499BE81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2611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F1A3-5B66-CBC2-8634-196C3475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B599D-B659-B6F9-4AD7-F144CD2BF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7691F-C4CD-0E4D-8698-CC298D4D6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566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F57A-64BF-6819-010C-1C972FAB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D01B6-EC11-28AC-6A6B-88B74C4F3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4F353-E057-61FE-E33E-5336FE946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1891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DF342-8341-2CA0-9FD0-3C0547B8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9056C-9DB0-9C83-9FBB-766F118AE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0C8D3-602A-BD45-B4A7-B3EE49857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4322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52D99-B237-FD64-5130-99496C315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31D9C-C09C-D159-EA6E-578AD1791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7B755-D70B-A096-AA59-417B45348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2867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B79E2-B37F-7288-C8C4-A7B26FAE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6E2B2-51ED-6B84-CBB8-64ABE7B32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69A297-31E3-D015-95D3-28C8186F1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629498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6738-72D9-18F7-ACB5-FC0817D7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14F47-5427-6E9A-6A4D-E64AF12AC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C8031-CACB-15CE-CE9F-8B40C54B1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09580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F0A8-F448-FD6F-87E9-35150149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86CC5-7704-6983-AF39-B7188FAF1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8657B-ABF6-3282-E2B0-398BC7A92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28748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1C3D-77CA-E546-67CD-0BEA2BAA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2C9E2-B4CE-E8AA-544F-39EA6F230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9B5A4-769D-9262-A434-786E42928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430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4C52E-C90B-36F7-930C-545575B14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C08BD-0B7C-A6E3-A96C-8C709733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71AE5-9590-4CFD-2706-DA2D6C070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218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52A9F-05AE-6CE7-982B-B41E949E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65C30-6AD5-5CE0-8C74-6ADE3E0C7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93E02-41C0-61AA-01D5-222330782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0633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ADB2-EF5A-FB76-06CF-FAB7748D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FB7A4-06B4-2560-54F7-4C4F745A2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47F7D-52D6-1573-D976-D24AE1848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743019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962B-9361-5093-7908-3B74B38D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64D79-613A-B61C-EC2C-1D379CFB7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279D6-1B7B-9824-1A8D-8C879A42E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48627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1CC5E-788D-2B3E-F8F5-E8C419B2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0DE66-2CA7-E7E6-5E65-9C1814A25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21EE1-46B5-8E90-A256-BC24B86E6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021823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7193-EBF1-BFBA-DCEE-D34FCF890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9187A-6B80-0DDD-9529-14616A0D6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6004D-9D29-7DB6-44F3-C69B23768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9202718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1EC1-1FA1-4A84-2EEF-646104A0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ABCB8-CB60-D3A6-CD46-ACBECC133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B0422-15CA-5344-0F52-8C270AD8F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224586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05B1F-7231-E8A1-3649-AF932820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E88CD-64EC-643C-3985-C078DB6FD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8D558-425B-85C0-F818-B2272D6EB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078461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145AE-260F-946B-17BD-1F2A847A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00F06-C944-7CAE-98C7-30B39167B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4F9D0-8DAC-2989-F04D-B01462C5C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52117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A2CA-0AC4-A0BB-4492-D07FD5C9D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83BA4-AEBE-388B-4463-36B23D405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7E4CB-59E6-1598-B96B-A83F7CC99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934679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D84DF-23E3-0AF4-07A6-B9418FE2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B1BF4-732F-F4A2-BA01-72DB78FFE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0115D-F1D0-B63C-2AAF-2475D2994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827740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D96F1-63D8-7D99-142F-EE1BE9DB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9F6BF-61EF-472F-242D-5951F8A62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3C47A-7737-D3FF-C1A2-F2AA6A245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220266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A353B-72FC-772E-75C8-BB130AC7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76540-E27E-164B-9D4D-76AB0B5FA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4521C-3F13-22F0-7F5C-865D62A3D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898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 - White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150" y="458787"/>
            <a:ext cx="19442113" cy="8893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accent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40" descr="McMaster Brighter World Logo">
            <a:extLst>
              <a:ext uri="{FF2B5EF4-FFF2-40B4-BE49-F238E27FC236}">
                <a16:creationId xmlns:a16="http://schemas.microsoft.com/office/drawing/2014/main" id="{46D95FE9-F714-B0F4-63D2-8EE8C6CDC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0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 - White Border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150" y="458787"/>
            <a:ext cx="19442113" cy="8893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40" descr="McMaster Brighter World Logo">
            <a:extLst>
              <a:ext uri="{FF2B5EF4-FFF2-40B4-BE49-F238E27FC236}">
                <a16:creationId xmlns:a16="http://schemas.microsoft.com/office/drawing/2014/main" id="{46D95FE9-F714-B0F4-63D2-8EE8C6CDC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6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accent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40" descr="McMaster Brighter World Logo">
            <a:extLst>
              <a:ext uri="{FF2B5EF4-FFF2-40B4-BE49-F238E27FC236}">
                <a16:creationId xmlns:a16="http://schemas.microsoft.com/office/drawing/2014/main" id="{46D95FE9-F714-B0F4-63D2-8EE8C6CDC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53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 - Full Bleed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40" descr="McMaster Brighter World Logo">
            <a:extLst>
              <a:ext uri="{FF2B5EF4-FFF2-40B4-BE49-F238E27FC236}">
                <a16:creationId xmlns:a16="http://schemas.microsoft.com/office/drawing/2014/main" id="{46D95FE9-F714-B0F4-63D2-8EE8C6CDC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1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- Full Bleed w/ Maroon - Black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0" descr="McMaster Brighter World Logo">
            <a:extLst>
              <a:ext uri="{FF2B5EF4-FFF2-40B4-BE49-F238E27FC236}">
                <a16:creationId xmlns:a16="http://schemas.microsoft.com/office/drawing/2014/main" id="{8B657A84-7865-9E08-DA84-CCEB6051D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7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b - Full Bleed w/ Maroon - White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0" descr="McMaster Brighter World Logo">
            <a:extLst>
              <a:ext uri="{FF2B5EF4-FFF2-40B4-BE49-F238E27FC236}">
                <a16:creationId xmlns:a16="http://schemas.microsoft.com/office/drawing/2014/main" id="{8B657A84-7865-9E08-DA84-CCEB6051D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5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EBE3D3-D3BA-6C66-0F60-CE45C9A8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151429" y="0"/>
            <a:ext cx="6166984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37">
            <a:extLst>
              <a:ext uri="{FF2B5EF4-FFF2-40B4-BE49-F238E27FC236}">
                <a16:creationId xmlns:a16="http://schemas.microsoft.com/office/drawing/2014/main" id="{7BC0CDB4-B309-664E-5317-16C741F0DC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" y="0"/>
            <a:ext cx="14149846" cy="1142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49846" y="430098"/>
            <a:ext cx="5730418" cy="919279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32809" y="1678778"/>
            <a:ext cx="4620954" cy="9192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E541934F-CE61-AF06-06B6-6B15C0576F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32808" y="2948782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699EA757-CAA9-604E-B8EB-425B15B58B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32808" y="3456783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E2AFE52A-5C16-C9BE-79D6-EF38DEE4F4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32808" y="5162206"/>
            <a:ext cx="4620955" cy="9192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C654BE1F-9059-4847-3B90-768A01CA4D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832808" y="643221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CEF91EF5-F25E-E06D-1B3A-B79517D708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832808" y="6940211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24314" y="8617342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6" name="Picture 40" descr="McMaster Brighter World Logo">
            <a:extLst>
              <a:ext uri="{FF2B5EF4-FFF2-40B4-BE49-F238E27FC236}">
                <a16:creationId xmlns:a16="http://schemas.microsoft.com/office/drawing/2014/main" id="{90F3F9D5-D4DD-F94C-8A0C-628AE1FDC5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93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- 2 Column w/ Media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52384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marR="0" indent="0" algn="l" defTabSz="1523848" rtl="0" eaLnBrk="1" fontAlgn="auto" latinLnBrk="0" hangingPunct="1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Subtitle goes here on 1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6AFD4D6-CC7D-9D99-DF02-F294BC8603E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B5A15BD-FD3B-A9EB-7651-4C15CB2C1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33B25B5-1522-E269-6B4D-E80F42610E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4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b - 2 Column w/ Media Left - No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6AF12-7C41-8BE1-F0D0-29655407E7C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B6DC690-5E0E-28AC-904A-0B078C570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04A5E-F49B-B7F5-E918-A733AE8352D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0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1"/>
            <a:ext cx="10160000" cy="94487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55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3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0"/>
            <a:ext cx="10160000" cy="10332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84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 - 2 Column Text w/ 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2E8FF69-497B-08CB-9F38-1BCA485AFF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9200" y="2044800"/>
            <a:ext cx="19443600" cy="366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9200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4680B1-AE53-6408-584D-F76A8EC342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33BE9F3-3CB4-B281-8CBC-1E004A930F2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4B0961-0CB2-24FD-9EAE-6C1840B625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70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8238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238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76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76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808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808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87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 - Header w/ Ope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DC5996-BDFE-55CD-CC8A-FA042955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D068AA-C0B4-024E-F068-CFC63BC5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C64306-DF1D-0001-7737-CA0C49A4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84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 - 2 Line Title w/ Copy and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7203600" cy="1472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up to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257828"/>
            <a:ext cx="857056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3535200"/>
            <a:ext cx="7203600" cy="5914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70563" y="0"/>
            <a:ext cx="11747850" cy="9448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41E1458-C432-DACF-1B77-6F0178924C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838F34-5806-14A7-4D13-6E52C519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34D9D2-1CEF-12A6-591D-6FCA71B739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54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 - 2 Line Title w/ Copy and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1F801B-42A4-D1DC-A330-C73B427D2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20349275" cy="944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18400" y="457200"/>
            <a:ext cx="7203600" cy="1472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up to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1840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218400" y="3535200"/>
            <a:ext cx="7203600" cy="53712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747850" y="3257828"/>
            <a:ext cx="857056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79200" cy="9448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526E81-2B2E-2FBE-FBEE-7993015DEE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24CF3-DC6A-ACF4-BCC0-6999BB1E562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BC796C-F05B-6EF0-6DA8-13A9D6314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74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0318413" cy="94487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5200" y="3567599"/>
            <a:ext cx="5202000" cy="20196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5200" y="5799600"/>
            <a:ext cx="5202000" cy="1472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576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1 - Lo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0E6DC-510A-EBC0-7914-5C71A187FBCA}"/>
              </a:ext>
            </a:extLst>
          </p:cNvPr>
          <p:cNvSpPr/>
          <p:nvPr userDrawn="1"/>
        </p:nvSpPr>
        <p:spPr>
          <a:xfrm>
            <a:off x="0" y="0"/>
            <a:ext cx="20349275" cy="9513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7171CFEA-ADB1-7172-2C62-962AE5CDA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5199" y="3908412"/>
            <a:ext cx="3639227" cy="40771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endParaRPr lang="en-US"/>
          </a:p>
        </p:txBody>
      </p:sp>
      <p:pic>
        <p:nvPicPr>
          <p:cNvPr id="7" name="Graphic 6" descr="McMaster Logo">
            <a:extLst>
              <a:ext uri="{FF2B5EF4-FFF2-40B4-BE49-F238E27FC236}">
                <a16:creationId xmlns:a16="http://schemas.microsoft.com/office/drawing/2014/main" id="{BC6B77CC-80A6-A4BE-B798-980684DAAF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200" y="1990874"/>
            <a:ext cx="2683078" cy="14134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5AFAE97-2643-BCF4-8E70-DEE90AE46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23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0" userDrawn="1">
          <p15:clr>
            <a:srgbClr val="FBAE40"/>
          </p15:clr>
        </p15:guide>
        <p15:guide id="2" pos="639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20318413" cy="95313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2334708"/>
            <a:ext cx="13337750" cy="4861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Brighter World Logo">
            <a:extLst>
              <a:ext uri="{FF2B5EF4-FFF2-40B4-BE49-F238E27FC236}">
                <a16:creationId xmlns:a16="http://schemas.microsoft.com/office/drawing/2014/main" id="{6088992C-5070-6F90-0520-CEBA8C9E48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0917" y="5959405"/>
            <a:ext cx="1090083" cy="7396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7033470"/>
            <a:ext cx="13339334" cy="159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5200" y="3477600"/>
            <a:ext cx="5367600" cy="428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5200" y="4194000"/>
            <a:ext cx="5367600" cy="536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96355" y="4868458"/>
            <a:ext cx="5366302" cy="53639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70752" y="3077188"/>
            <a:ext cx="3257370" cy="3256121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29165" y="2722713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000" b="1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9165" y="3277327"/>
            <a:ext cx="5366302" cy="285584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 userDrawn="1"/>
        </p:nvSpPr>
        <p:spPr>
          <a:xfrm>
            <a:off x="11729165" y="6425952"/>
            <a:ext cx="318541" cy="317588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7494" y="6423101"/>
            <a:ext cx="4937973" cy="3204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1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b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20318413" cy="95313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2334708"/>
            <a:ext cx="13337750" cy="4861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7033470"/>
            <a:ext cx="13339334" cy="159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5200" y="3740400"/>
            <a:ext cx="5367600" cy="428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5200" y="4453200"/>
            <a:ext cx="5367600" cy="536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96355" y="5130000"/>
            <a:ext cx="5366302" cy="53639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70752" y="3077188"/>
            <a:ext cx="3257370" cy="3256121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29165" y="2722713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0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9165" y="3277327"/>
            <a:ext cx="5366302" cy="285584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 userDrawn="1"/>
        </p:nvSpPr>
        <p:spPr>
          <a:xfrm>
            <a:off x="11729165" y="6425952"/>
            <a:ext cx="318541" cy="317588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7494" y="6423101"/>
            <a:ext cx="4937973" cy="3204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26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c - Research Toolk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20318413" cy="11430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2334708"/>
            <a:ext cx="13337750" cy="4861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7033470"/>
            <a:ext cx="13339334" cy="159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5200" y="3740400"/>
            <a:ext cx="5367600" cy="428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5200" y="4453200"/>
            <a:ext cx="5367600" cy="536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96355" y="5130000"/>
            <a:ext cx="5366302" cy="53639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70752" y="3077188"/>
            <a:ext cx="3257370" cy="3256121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29165" y="2722713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0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9165" y="3277327"/>
            <a:ext cx="5366302" cy="285584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 userDrawn="1"/>
        </p:nvSpPr>
        <p:spPr>
          <a:xfrm>
            <a:off x="11729165" y="6425952"/>
            <a:ext cx="318541" cy="317588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7494" y="6423101"/>
            <a:ext cx="4937973" cy="3204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pic>
        <p:nvPicPr>
          <p:cNvPr id="7" name="Picture 23" descr="McMaster Brighter World Logo">
            <a:extLst>
              <a:ext uri="{FF2B5EF4-FFF2-40B4-BE49-F238E27FC236}">
                <a16:creationId xmlns:a16="http://schemas.microsoft.com/office/drawing/2014/main" id="{B886DC2B-3B2A-B4AF-7BE5-DAE93C15A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82503" y="8319738"/>
            <a:ext cx="4951820" cy="15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86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3 - Ac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E1B7CD-0550-9778-6253-DE4A8D2ED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51" t="15144" r="8891" b="1540"/>
          <a:stretch/>
        </p:blipFill>
        <p:spPr>
          <a:xfrm>
            <a:off x="-1" y="0"/>
            <a:ext cx="20318414" cy="9531350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A7BB90D-A41D-6932-4520-14D86810EE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2748271"/>
            <a:ext cx="6117336" cy="537667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Rectangle highlight</a:t>
            </a:r>
            <a:endParaRPr lang="en-CA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A23405D-EFFB-E3F3-AC3A-44BA675100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150" y="6037263"/>
            <a:ext cx="4810502" cy="1712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/>
            </a:lvl1pPr>
          </a:lstStyle>
          <a:p>
            <a:pPr lvl="0"/>
            <a:r>
              <a:rPr lang="en-US" dirty="0"/>
              <a:t>Subtitle here</a:t>
            </a:r>
            <a:endParaRPr lang="en-CA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26023E83-F8BF-D356-50B1-5B29104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3091543"/>
            <a:ext cx="4810501" cy="2570952"/>
          </a:xfrm>
          <a:prstGeom prst="rect">
            <a:avLst/>
          </a:prstGeom>
        </p:spPr>
        <p:txBody>
          <a:bodyPr anchor="b"/>
          <a:lstStyle>
            <a:lvl1pPr>
              <a:defRPr sz="4800" b="1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0347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4 - Proud to 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574" y="2584175"/>
            <a:ext cx="8583613" cy="58550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2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r>
              <a:rPr lang="en-US" sz="3200"/>
              <a:t>Top 40 in the world for Global Impact</a:t>
            </a:r>
            <a:r>
              <a:rPr lang="en-US" sz="3200" baseline="30000"/>
              <a:t>*</a:t>
            </a:r>
            <a:endParaRPr lang="en-US" sz="3200"/>
          </a:p>
          <a:p>
            <a:r>
              <a:rPr lang="en-US" sz="3200"/>
              <a:t>Ranked among the top</a:t>
            </a:r>
            <a:r>
              <a:rPr lang="en-US" sz="3200" baseline="30000"/>
              <a:t>‡</a:t>
            </a:r>
            <a:r>
              <a:rPr lang="en-US" sz="3200"/>
              <a:t> 100 universities</a:t>
            </a:r>
          </a:p>
          <a:p>
            <a:r>
              <a:rPr lang="en-US" sz="3200"/>
              <a:t>1st in North America for SDG 3 Good Health and Well-Being</a:t>
            </a:r>
            <a:r>
              <a:rPr lang="en-US" sz="3200" baseline="30000"/>
              <a:t>*</a:t>
            </a:r>
            <a:endParaRPr lang="en-US" sz="3200"/>
          </a:p>
          <a:p>
            <a:r>
              <a:rPr lang="en-US" sz="3200"/>
              <a:t>Top 40 in the world for Clinical and Health</a:t>
            </a:r>
            <a:r>
              <a:rPr lang="en-US" sz="3200" baseline="30000"/>
              <a:t>*</a:t>
            </a:r>
            <a:endParaRPr lang="en-US" sz="3200"/>
          </a:p>
          <a:p>
            <a:r>
              <a:rPr lang="en-US" sz="3200"/>
              <a:t>One of Canada's most research-intensive universities</a:t>
            </a:r>
            <a:r>
              <a:rPr lang="en-US" sz="3200" baseline="30000"/>
              <a:t>†</a:t>
            </a:r>
            <a:endParaRPr lang="en-US" sz="3200"/>
          </a:p>
          <a:p>
            <a:r>
              <a:rPr lang="en-US" sz="3200"/>
              <a:t>1st in the world for industry impact</a:t>
            </a:r>
            <a:r>
              <a:rPr lang="en-US" sz="3200" baseline="30000"/>
              <a:t>*</a:t>
            </a:r>
            <a:endParaRPr lang="en-US" sz="3200"/>
          </a:p>
          <a:p>
            <a:r>
              <a:rPr lang="en-US" sz="3200"/>
              <a:t>1st in Canada and 75th in the world for Research Quality</a:t>
            </a:r>
            <a:r>
              <a:rPr lang="en-US" sz="3200" baseline="30000"/>
              <a:t>*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154B38-5333-5F65-5C42-90405DD17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5731" y="2700077"/>
            <a:ext cx="302535" cy="380498"/>
            <a:chOff x="2798862" y="7372220"/>
            <a:chExt cx="800273" cy="100650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2AD7E24-1C23-EC62-E657-C4A09338A9E5}"/>
                </a:ext>
              </a:extLst>
            </p:cNvPr>
            <p:cNvGrpSpPr/>
            <p:nvPr/>
          </p:nvGrpSpPr>
          <p:grpSpPr>
            <a:xfrm>
              <a:off x="2935855" y="7385477"/>
              <a:ext cx="662406" cy="668507"/>
              <a:chOff x="2935855" y="7385477"/>
              <a:chExt cx="662406" cy="668507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23509ACE-1B6A-84E5-E179-D715B1E32F7E}"/>
                  </a:ext>
                </a:extLst>
              </p:cNvPr>
              <p:cNvSpPr/>
              <p:nvPr/>
            </p:nvSpPr>
            <p:spPr>
              <a:xfrm>
                <a:off x="2935855" y="7390715"/>
                <a:ext cx="259670" cy="260668"/>
              </a:xfrm>
              <a:custGeom>
                <a:avLst/>
                <a:gdLst>
                  <a:gd name="connsiteX0" fmla="*/ 97269 w 259670"/>
                  <a:gd name="connsiteY0" fmla="*/ 260668 h 260668"/>
                  <a:gd name="connsiteX1" fmla="*/ 10190 w 259670"/>
                  <a:gd name="connsiteY1" fmla="*/ 235031 h 260668"/>
                  <a:gd name="connsiteX2" fmla="*/ 3564 w 259670"/>
                  <a:gd name="connsiteY2" fmla="*/ 205595 h 260668"/>
                  <a:gd name="connsiteX3" fmla="*/ 32906 w 259670"/>
                  <a:gd name="connsiteY3" fmla="*/ 198948 h 260668"/>
                  <a:gd name="connsiteX4" fmla="*/ 181508 w 259670"/>
                  <a:gd name="connsiteY4" fmla="*/ 181857 h 260668"/>
                  <a:gd name="connsiteX5" fmla="*/ 198545 w 259670"/>
                  <a:gd name="connsiteY5" fmla="*/ 32780 h 260668"/>
                  <a:gd name="connsiteX6" fmla="*/ 205171 w 259670"/>
                  <a:gd name="connsiteY6" fmla="*/ 3345 h 260668"/>
                  <a:gd name="connsiteX7" fmla="*/ 234512 w 259670"/>
                  <a:gd name="connsiteY7" fmla="*/ 9991 h 260668"/>
                  <a:gd name="connsiteX8" fmla="*/ 211796 w 259670"/>
                  <a:gd name="connsiteY8" fmla="*/ 212242 h 260668"/>
                  <a:gd name="connsiteX9" fmla="*/ 97269 w 259670"/>
                  <a:gd name="connsiteY9" fmla="*/ 260668 h 260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9670" h="260668">
                    <a:moveTo>
                      <a:pt x="97269" y="260668"/>
                    </a:moveTo>
                    <a:cubicBezTo>
                      <a:pt x="66980" y="260668"/>
                      <a:pt x="37639" y="252122"/>
                      <a:pt x="10190" y="235031"/>
                    </a:cubicBezTo>
                    <a:cubicBezTo>
                      <a:pt x="-222" y="228384"/>
                      <a:pt x="-3061" y="215091"/>
                      <a:pt x="3564" y="205595"/>
                    </a:cubicBezTo>
                    <a:cubicBezTo>
                      <a:pt x="10190" y="195150"/>
                      <a:pt x="23441" y="192302"/>
                      <a:pt x="32906" y="198948"/>
                    </a:cubicBezTo>
                    <a:cubicBezTo>
                      <a:pt x="80231" y="229334"/>
                      <a:pt x="141755" y="221737"/>
                      <a:pt x="181508" y="181857"/>
                    </a:cubicBezTo>
                    <a:cubicBezTo>
                      <a:pt x="221261" y="141977"/>
                      <a:pt x="227887" y="80257"/>
                      <a:pt x="198545" y="32780"/>
                    </a:cubicBezTo>
                    <a:cubicBezTo>
                      <a:pt x="191920" y="22335"/>
                      <a:pt x="195706" y="9042"/>
                      <a:pt x="205171" y="3345"/>
                    </a:cubicBezTo>
                    <a:cubicBezTo>
                      <a:pt x="215582" y="-3302"/>
                      <a:pt x="228833" y="496"/>
                      <a:pt x="234512" y="9991"/>
                    </a:cubicBezTo>
                    <a:cubicBezTo>
                      <a:pt x="275212" y="74560"/>
                      <a:pt x="265747" y="158119"/>
                      <a:pt x="211796" y="212242"/>
                    </a:cubicBezTo>
                    <a:cubicBezTo>
                      <a:pt x="180561" y="243577"/>
                      <a:pt x="139862" y="260668"/>
                      <a:pt x="97269" y="260668"/>
                    </a:cubicBezTo>
                    <a:close/>
                  </a:path>
                </a:pathLst>
              </a:custGeom>
              <a:solidFill>
                <a:srgbClr val="7A003C"/>
              </a:solidFill>
              <a:ln w="94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2B80284B-C348-B1AF-7CEB-18AC4A756C78}"/>
                  </a:ext>
                </a:extLst>
              </p:cNvPr>
              <p:cNvSpPr/>
              <p:nvPr/>
            </p:nvSpPr>
            <p:spPr>
              <a:xfrm>
                <a:off x="2951960" y="7741588"/>
                <a:ext cx="331678" cy="312396"/>
              </a:xfrm>
              <a:custGeom>
                <a:avLst/>
                <a:gdLst>
                  <a:gd name="connsiteX0" fmla="*/ 296967 w 331678"/>
                  <a:gd name="connsiteY0" fmla="*/ 312396 h 312396"/>
                  <a:gd name="connsiteX1" fmla="*/ 291288 w 331678"/>
                  <a:gd name="connsiteY1" fmla="*/ 311447 h 312396"/>
                  <a:gd name="connsiteX2" fmla="*/ 277091 w 331678"/>
                  <a:gd name="connsiteY2" fmla="*/ 284860 h 312396"/>
                  <a:gd name="connsiteX3" fmla="*/ 285609 w 331678"/>
                  <a:gd name="connsiteY3" fmla="*/ 256374 h 312396"/>
                  <a:gd name="connsiteX4" fmla="*/ 278984 w 331678"/>
                  <a:gd name="connsiteY4" fmla="*/ 206998 h 312396"/>
                  <a:gd name="connsiteX5" fmla="*/ 237337 w 331678"/>
                  <a:gd name="connsiteY5" fmla="*/ 179462 h 312396"/>
                  <a:gd name="connsiteX6" fmla="*/ 170135 w 331678"/>
                  <a:gd name="connsiteY6" fmla="*/ 86407 h 312396"/>
                  <a:gd name="connsiteX7" fmla="*/ 159723 w 331678"/>
                  <a:gd name="connsiteY7" fmla="*/ 54123 h 312396"/>
                  <a:gd name="connsiteX8" fmla="*/ 106719 w 331678"/>
                  <a:gd name="connsiteY8" fmla="*/ 54123 h 312396"/>
                  <a:gd name="connsiteX9" fmla="*/ 36677 w 331678"/>
                  <a:gd name="connsiteY9" fmla="*/ 124389 h 312396"/>
                  <a:gd name="connsiteX10" fmla="*/ 6389 w 331678"/>
                  <a:gd name="connsiteY10" fmla="*/ 124389 h 312396"/>
                  <a:gd name="connsiteX11" fmla="*/ 6389 w 331678"/>
                  <a:gd name="connsiteY11" fmla="*/ 94004 h 312396"/>
                  <a:gd name="connsiteX12" fmla="*/ 76431 w 331678"/>
                  <a:gd name="connsiteY12" fmla="*/ 23738 h 312396"/>
                  <a:gd name="connsiteX13" fmla="*/ 133221 w 331678"/>
                  <a:gd name="connsiteY13" fmla="*/ 0 h 312396"/>
                  <a:gd name="connsiteX14" fmla="*/ 190012 w 331678"/>
                  <a:gd name="connsiteY14" fmla="*/ 23738 h 312396"/>
                  <a:gd name="connsiteX15" fmla="*/ 212728 w 331678"/>
                  <a:gd name="connsiteY15" fmla="*/ 92105 h 312396"/>
                  <a:gd name="connsiteX16" fmla="*/ 244909 w 331678"/>
                  <a:gd name="connsiteY16" fmla="*/ 135783 h 312396"/>
                  <a:gd name="connsiteX17" fmla="*/ 315898 w 331678"/>
                  <a:gd name="connsiteY17" fmla="*/ 183260 h 312396"/>
                  <a:gd name="connsiteX18" fmla="*/ 327256 w 331678"/>
                  <a:gd name="connsiteY18" fmla="*/ 268718 h 312396"/>
                  <a:gd name="connsiteX19" fmla="*/ 318737 w 331678"/>
                  <a:gd name="connsiteY19" fmla="*/ 297204 h 312396"/>
                  <a:gd name="connsiteX20" fmla="*/ 296967 w 331678"/>
                  <a:gd name="connsiteY20" fmla="*/ 312396 h 312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1678" h="312396">
                    <a:moveTo>
                      <a:pt x="296967" y="312396"/>
                    </a:moveTo>
                    <a:cubicBezTo>
                      <a:pt x="295074" y="312396"/>
                      <a:pt x="293181" y="312396"/>
                      <a:pt x="291288" y="311447"/>
                    </a:cubicBezTo>
                    <a:cubicBezTo>
                      <a:pt x="279930" y="307649"/>
                      <a:pt x="273305" y="296254"/>
                      <a:pt x="277091" y="284860"/>
                    </a:cubicBezTo>
                    <a:lnTo>
                      <a:pt x="285609" y="256374"/>
                    </a:lnTo>
                    <a:cubicBezTo>
                      <a:pt x="290342" y="239282"/>
                      <a:pt x="288449" y="221241"/>
                      <a:pt x="278984" y="206998"/>
                    </a:cubicBezTo>
                    <a:cubicBezTo>
                      <a:pt x="269519" y="191806"/>
                      <a:pt x="254374" y="182310"/>
                      <a:pt x="237337" y="179462"/>
                    </a:cubicBezTo>
                    <a:cubicBezTo>
                      <a:pt x="193798" y="171865"/>
                      <a:pt x="163510" y="131036"/>
                      <a:pt x="170135" y="86407"/>
                    </a:cubicBezTo>
                    <a:cubicBezTo>
                      <a:pt x="172028" y="75013"/>
                      <a:pt x="168242" y="62669"/>
                      <a:pt x="159723" y="54123"/>
                    </a:cubicBezTo>
                    <a:cubicBezTo>
                      <a:pt x="145526" y="39880"/>
                      <a:pt x="120917" y="39880"/>
                      <a:pt x="106719" y="54123"/>
                    </a:cubicBezTo>
                    <a:lnTo>
                      <a:pt x="36677" y="124389"/>
                    </a:lnTo>
                    <a:cubicBezTo>
                      <a:pt x="28159" y="132935"/>
                      <a:pt x="14908" y="132935"/>
                      <a:pt x="6389" y="124389"/>
                    </a:cubicBezTo>
                    <a:cubicBezTo>
                      <a:pt x="-2130" y="115843"/>
                      <a:pt x="-2130" y="102550"/>
                      <a:pt x="6389" y="94004"/>
                    </a:cubicBezTo>
                    <a:lnTo>
                      <a:pt x="76431" y="23738"/>
                    </a:lnTo>
                    <a:cubicBezTo>
                      <a:pt x="91575" y="8546"/>
                      <a:pt x="111451" y="0"/>
                      <a:pt x="133221" y="0"/>
                    </a:cubicBezTo>
                    <a:cubicBezTo>
                      <a:pt x="154991" y="0"/>
                      <a:pt x="174868" y="8546"/>
                      <a:pt x="190012" y="23738"/>
                    </a:cubicBezTo>
                    <a:cubicBezTo>
                      <a:pt x="207995" y="41779"/>
                      <a:pt x="216514" y="67417"/>
                      <a:pt x="212728" y="92105"/>
                    </a:cubicBezTo>
                    <a:cubicBezTo>
                      <a:pt x="209888" y="112994"/>
                      <a:pt x="224086" y="132935"/>
                      <a:pt x="244909" y="135783"/>
                    </a:cubicBezTo>
                    <a:cubicBezTo>
                      <a:pt x="274251" y="140531"/>
                      <a:pt x="299807" y="157622"/>
                      <a:pt x="315898" y="183260"/>
                    </a:cubicBezTo>
                    <a:cubicBezTo>
                      <a:pt x="331988" y="208897"/>
                      <a:pt x="335774" y="239282"/>
                      <a:pt x="327256" y="268718"/>
                    </a:cubicBezTo>
                    <a:lnTo>
                      <a:pt x="318737" y="297204"/>
                    </a:lnTo>
                    <a:cubicBezTo>
                      <a:pt x="314951" y="306699"/>
                      <a:pt x="306432" y="312396"/>
                      <a:pt x="296967" y="312396"/>
                    </a:cubicBezTo>
                    <a:close/>
                  </a:path>
                </a:pathLst>
              </a:custGeom>
              <a:solidFill>
                <a:srgbClr val="7A003C"/>
              </a:solidFill>
              <a:ln w="94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A98AEB23-A0EB-BF31-802A-EFA27F7ADABF}"/>
                  </a:ext>
                </a:extLst>
              </p:cNvPr>
              <p:cNvSpPr/>
              <p:nvPr/>
            </p:nvSpPr>
            <p:spPr>
              <a:xfrm>
                <a:off x="3229524" y="7385477"/>
                <a:ext cx="368737" cy="458660"/>
              </a:xfrm>
              <a:custGeom>
                <a:avLst/>
                <a:gdLst>
                  <a:gd name="connsiteX0" fmla="*/ 93231 w 368737"/>
                  <a:gd name="connsiteY0" fmla="*/ 458661 h 458660"/>
                  <a:gd name="connsiteX1" fmla="*/ 26976 w 368737"/>
                  <a:gd name="connsiteY1" fmla="*/ 431124 h 458660"/>
                  <a:gd name="connsiteX2" fmla="*/ 26976 w 368737"/>
                  <a:gd name="connsiteY2" fmla="*/ 299139 h 458660"/>
                  <a:gd name="connsiteX3" fmla="*/ 44959 w 368737"/>
                  <a:gd name="connsiteY3" fmla="*/ 281098 h 458660"/>
                  <a:gd name="connsiteX4" fmla="*/ 62943 w 368737"/>
                  <a:gd name="connsiteY4" fmla="*/ 223176 h 458660"/>
                  <a:gd name="connsiteX5" fmla="*/ 103643 w 368737"/>
                  <a:gd name="connsiteY5" fmla="*/ 10481 h 458660"/>
                  <a:gd name="connsiteX6" fmla="*/ 132985 w 368737"/>
                  <a:gd name="connsiteY6" fmla="*/ 2885 h 458660"/>
                  <a:gd name="connsiteX7" fmla="*/ 140557 w 368737"/>
                  <a:gd name="connsiteY7" fmla="*/ 32320 h 458660"/>
                  <a:gd name="connsiteX8" fmla="*/ 105536 w 368737"/>
                  <a:gd name="connsiteY8" fmla="*/ 216530 h 458660"/>
                  <a:gd name="connsiteX9" fmla="*/ 75247 w 368737"/>
                  <a:gd name="connsiteY9" fmla="*/ 311483 h 458660"/>
                  <a:gd name="connsiteX10" fmla="*/ 57264 w 368737"/>
                  <a:gd name="connsiteY10" fmla="*/ 329524 h 458660"/>
                  <a:gd name="connsiteX11" fmla="*/ 57264 w 368737"/>
                  <a:gd name="connsiteY11" fmla="*/ 400739 h 458660"/>
                  <a:gd name="connsiteX12" fmla="*/ 97964 w 368737"/>
                  <a:gd name="connsiteY12" fmla="*/ 414982 h 458660"/>
                  <a:gd name="connsiteX13" fmla="*/ 134878 w 368737"/>
                  <a:gd name="connsiteY13" fmla="*/ 393143 h 458660"/>
                  <a:gd name="connsiteX14" fmla="*/ 299570 w 368737"/>
                  <a:gd name="connsiteY14" fmla="*/ 318130 h 458660"/>
                  <a:gd name="connsiteX15" fmla="*/ 349735 w 368737"/>
                  <a:gd name="connsiteY15" fmla="*/ 324776 h 458660"/>
                  <a:gd name="connsiteX16" fmla="*/ 368665 w 368737"/>
                  <a:gd name="connsiteY16" fmla="*/ 349464 h 458660"/>
                  <a:gd name="connsiteX17" fmla="*/ 344056 w 368737"/>
                  <a:gd name="connsiteY17" fmla="*/ 368455 h 458660"/>
                  <a:gd name="connsiteX18" fmla="*/ 293891 w 368737"/>
                  <a:gd name="connsiteY18" fmla="*/ 361808 h 458660"/>
                  <a:gd name="connsiteX19" fmla="*/ 170845 w 368737"/>
                  <a:gd name="connsiteY19" fmla="*/ 417831 h 458660"/>
                  <a:gd name="connsiteX20" fmla="*/ 102696 w 368737"/>
                  <a:gd name="connsiteY20" fmla="*/ 458661 h 458660"/>
                  <a:gd name="connsiteX21" fmla="*/ 93231 w 368737"/>
                  <a:gd name="connsiteY21" fmla="*/ 458661 h 458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68737" h="458660">
                    <a:moveTo>
                      <a:pt x="93231" y="458661"/>
                    </a:moveTo>
                    <a:cubicBezTo>
                      <a:pt x="68622" y="458661"/>
                      <a:pt x="44959" y="449165"/>
                      <a:pt x="26976" y="431124"/>
                    </a:cubicBezTo>
                    <a:cubicBezTo>
                      <a:pt x="-8992" y="395042"/>
                      <a:pt x="-8992" y="335221"/>
                      <a:pt x="26976" y="299139"/>
                    </a:cubicBezTo>
                    <a:lnTo>
                      <a:pt x="44959" y="281098"/>
                    </a:lnTo>
                    <a:cubicBezTo>
                      <a:pt x="60103" y="265905"/>
                      <a:pt x="66729" y="244066"/>
                      <a:pt x="62943" y="223176"/>
                    </a:cubicBezTo>
                    <a:cubicBezTo>
                      <a:pt x="50638" y="150062"/>
                      <a:pt x="64836" y="75049"/>
                      <a:pt x="103643" y="10481"/>
                    </a:cubicBezTo>
                    <a:cubicBezTo>
                      <a:pt x="109322" y="36"/>
                      <a:pt x="122573" y="-2812"/>
                      <a:pt x="132985" y="2885"/>
                    </a:cubicBezTo>
                    <a:cubicBezTo>
                      <a:pt x="143396" y="8582"/>
                      <a:pt x="146236" y="21875"/>
                      <a:pt x="140557" y="32320"/>
                    </a:cubicBezTo>
                    <a:cubicBezTo>
                      <a:pt x="107429" y="87393"/>
                      <a:pt x="95124" y="152911"/>
                      <a:pt x="105536" y="216530"/>
                    </a:cubicBezTo>
                    <a:cubicBezTo>
                      <a:pt x="111215" y="251662"/>
                      <a:pt x="99857" y="286795"/>
                      <a:pt x="75247" y="311483"/>
                    </a:cubicBezTo>
                    <a:lnTo>
                      <a:pt x="57264" y="329524"/>
                    </a:lnTo>
                    <a:cubicBezTo>
                      <a:pt x="37387" y="349464"/>
                      <a:pt x="37387" y="380799"/>
                      <a:pt x="57264" y="400739"/>
                    </a:cubicBezTo>
                    <a:cubicBezTo>
                      <a:pt x="67675" y="411184"/>
                      <a:pt x="82820" y="416881"/>
                      <a:pt x="97964" y="414982"/>
                    </a:cubicBezTo>
                    <a:cubicBezTo>
                      <a:pt x="113108" y="413083"/>
                      <a:pt x="126359" y="405487"/>
                      <a:pt x="134878" y="393143"/>
                    </a:cubicBezTo>
                    <a:cubicBezTo>
                      <a:pt x="170845" y="338070"/>
                      <a:pt x="234261" y="309584"/>
                      <a:pt x="299570" y="318130"/>
                    </a:cubicBezTo>
                    <a:lnTo>
                      <a:pt x="349735" y="324776"/>
                    </a:lnTo>
                    <a:cubicBezTo>
                      <a:pt x="361093" y="326675"/>
                      <a:pt x="369612" y="337120"/>
                      <a:pt x="368665" y="349464"/>
                    </a:cubicBezTo>
                    <a:cubicBezTo>
                      <a:pt x="366772" y="360859"/>
                      <a:pt x="356361" y="369404"/>
                      <a:pt x="344056" y="368455"/>
                    </a:cubicBezTo>
                    <a:lnTo>
                      <a:pt x="293891" y="361808"/>
                    </a:lnTo>
                    <a:cubicBezTo>
                      <a:pt x="245619" y="355161"/>
                      <a:pt x="198294" y="377001"/>
                      <a:pt x="170845" y="417831"/>
                    </a:cubicBezTo>
                    <a:cubicBezTo>
                      <a:pt x="155701" y="441569"/>
                      <a:pt x="130145" y="456761"/>
                      <a:pt x="102696" y="458661"/>
                    </a:cubicBezTo>
                    <a:cubicBezTo>
                      <a:pt x="98910" y="458661"/>
                      <a:pt x="96071" y="458661"/>
                      <a:pt x="93231" y="458661"/>
                    </a:cubicBezTo>
                    <a:close/>
                  </a:path>
                </a:pathLst>
              </a:custGeom>
              <a:solidFill>
                <a:srgbClr val="7A003C"/>
              </a:solidFill>
              <a:ln w="94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727213-1099-A5FC-8973-3D071DA99C2F}"/>
                </a:ext>
              </a:extLst>
            </p:cNvPr>
            <p:cNvSpPr/>
            <p:nvPr/>
          </p:nvSpPr>
          <p:spPr>
            <a:xfrm>
              <a:off x="2798862" y="7372220"/>
              <a:ext cx="800273" cy="1006504"/>
            </a:xfrm>
            <a:custGeom>
              <a:avLst/>
              <a:gdLst>
                <a:gd name="connsiteX0" fmla="*/ 715088 w 800273"/>
                <a:gd name="connsiteY0" fmla="*/ 566871 h 1006504"/>
                <a:gd name="connsiteX1" fmla="*/ 800274 w 800273"/>
                <a:gd name="connsiteY1" fmla="*/ 341832 h 1006504"/>
                <a:gd name="connsiteX2" fmla="*/ 459530 w 800273"/>
                <a:gd name="connsiteY2" fmla="*/ 0 h 1006504"/>
                <a:gd name="connsiteX3" fmla="*/ 235208 w 800273"/>
                <a:gd name="connsiteY3" fmla="*/ 85458 h 1006504"/>
                <a:gd name="connsiteX4" fmla="*/ 165166 w 800273"/>
                <a:gd name="connsiteY4" fmla="*/ 15193 h 1006504"/>
                <a:gd name="connsiteX5" fmla="*/ 134878 w 800273"/>
                <a:gd name="connsiteY5" fmla="*/ 15193 h 1006504"/>
                <a:gd name="connsiteX6" fmla="*/ 134878 w 800273"/>
                <a:gd name="connsiteY6" fmla="*/ 667522 h 1006504"/>
                <a:gd name="connsiteX7" fmla="*/ 278747 w 800273"/>
                <a:gd name="connsiteY7" fmla="*/ 765323 h 1006504"/>
                <a:gd name="connsiteX8" fmla="*/ 278747 w 800273"/>
                <a:gd name="connsiteY8" fmla="*/ 791910 h 1006504"/>
                <a:gd name="connsiteX9" fmla="*/ 211545 w 800273"/>
                <a:gd name="connsiteY9" fmla="*/ 962826 h 1006504"/>
                <a:gd name="connsiteX10" fmla="*/ 100803 w 800273"/>
                <a:gd name="connsiteY10" fmla="*/ 962826 h 1006504"/>
                <a:gd name="connsiteX11" fmla="*/ 79034 w 800273"/>
                <a:gd name="connsiteY11" fmla="*/ 984665 h 1006504"/>
                <a:gd name="connsiteX12" fmla="*/ 100803 w 800273"/>
                <a:gd name="connsiteY12" fmla="*/ 1006505 h 1006504"/>
                <a:gd name="connsiteX13" fmla="*/ 220063 w 800273"/>
                <a:gd name="connsiteY13" fmla="*/ 1006505 h 1006504"/>
                <a:gd name="connsiteX14" fmla="*/ 578791 w 800273"/>
                <a:gd name="connsiteY14" fmla="*/ 1006505 h 1006504"/>
                <a:gd name="connsiteX15" fmla="*/ 698051 w 800273"/>
                <a:gd name="connsiteY15" fmla="*/ 1006505 h 1006504"/>
                <a:gd name="connsiteX16" fmla="*/ 719820 w 800273"/>
                <a:gd name="connsiteY16" fmla="*/ 984665 h 1006504"/>
                <a:gd name="connsiteX17" fmla="*/ 698051 w 800273"/>
                <a:gd name="connsiteY17" fmla="*/ 962826 h 1006504"/>
                <a:gd name="connsiteX18" fmla="*/ 588256 w 800273"/>
                <a:gd name="connsiteY18" fmla="*/ 962826 h 1006504"/>
                <a:gd name="connsiteX19" fmla="*/ 521053 w 800273"/>
                <a:gd name="connsiteY19" fmla="*/ 797608 h 1006504"/>
                <a:gd name="connsiteX20" fmla="*/ 784183 w 800273"/>
                <a:gd name="connsiteY20" fmla="*/ 666572 h 1006504"/>
                <a:gd name="connsiteX21" fmla="*/ 784183 w 800273"/>
                <a:gd name="connsiteY21" fmla="*/ 636187 h 1006504"/>
                <a:gd name="connsiteX22" fmla="*/ 715088 w 800273"/>
                <a:gd name="connsiteY22" fmla="*/ 566871 h 1006504"/>
                <a:gd name="connsiteX23" fmla="*/ 756734 w 800273"/>
                <a:gd name="connsiteY23" fmla="*/ 340882 h 1006504"/>
                <a:gd name="connsiteX24" fmla="*/ 459530 w 800273"/>
                <a:gd name="connsiteY24" fmla="*/ 639036 h 1006504"/>
                <a:gd name="connsiteX25" fmla="*/ 162326 w 800273"/>
                <a:gd name="connsiteY25" fmla="*/ 340882 h 1006504"/>
                <a:gd name="connsiteX26" fmla="*/ 459530 w 800273"/>
                <a:gd name="connsiteY26" fmla="*/ 42729 h 1006504"/>
                <a:gd name="connsiteX27" fmla="*/ 756734 w 800273"/>
                <a:gd name="connsiteY27" fmla="*/ 340882 h 1006504"/>
                <a:gd name="connsiteX28" fmla="*/ 532412 w 800273"/>
                <a:gd name="connsiteY28" fmla="*/ 962826 h 1006504"/>
                <a:gd name="connsiteX29" fmla="*/ 267389 w 800273"/>
                <a:gd name="connsiteY29" fmla="*/ 962826 h 1006504"/>
                <a:gd name="connsiteX30" fmla="*/ 322286 w 800273"/>
                <a:gd name="connsiteY30" fmla="*/ 791910 h 1006504"/>
                <a:gd name="connsiteX31" fmla="*/ 322286 w 800273"/>
                <a:gd name="connsiteY31" fmla="*/ 781465 h 1006504"/>
                <a:gd name="connsiteX32" fmla="*/ 459530 w 800273"/>
                <a:gd name="connsiteY32" fmla="*/ 802355 h 1006504"/>
                <a:gd name="connsiteX33" fmla="*/ 478461 w 800273"/>
                <a:gd name="connsiteY33" fmla="*/ 802355 h 1006504"/>
                <a:gd name="connsiteX34" fmla="*/ 532412 w 800273"/>
                <a:gd name="connsiteY34" fmla="*/ 962826 h 1006504"/>
                <a:gd name="connsiteX35" fmla="*/ 309982 w 800273"/>
                <a:gd name="connsiteY35" fmla="*/ 731140 h 1006504"/>
                <a:gd name="connsiteX36" fmla="*/ 307142 w 800273"/>
                <a:gd name="connsiteY36" fmla="*/ 730191 h 1006504"/>
                <a:gd name="connsiteX37" fmla="*/ 165166 w 800273"/>
                <a:gd name="connsiteY37" fmla="*/ 637136 h 1006504"/>
                <a:gd name="connsiteX38" fmla="*/ 150022 w 800273"/>
                <a:gd name="connsiteY38" fmla="*/ 60770 h 1006504"/>
                <a:gd name="connsiteX39" fmla="*/ 203973 w 800273"/>
                <a:gd name="connsiteY39" fmla="*/ 114893 h 1006504"/>
                <a:gd name="connsiteX40" fmla="*/ 118787 w 800273"/>
                <a:gd name="connsiteY40" fmla="*/ 339933 h 1006504"/>
                <a:gd name="connsiteX41" fmla="*/ 459530 w 800273"/>
                <a:gd name="connsiteY41" fmla="*/ 681765 h 1006504"/>
                <a:gd name="connsiteX42" fmla="*/ 683853 w 800273"/>
                <a:gd name="connsiteY42" fmla="*/ 596307 h 1006504"/>
                <a:gd name="connsiteX43" fmla="*/ 737804 w 800273"/>
                <a:gd name="connsiteY43" fmla="*/ 650430 h 1006504"/>
                <a:gd name="connsiteX44" fmla="*/ 309982 w 800273"/>
                <a:gd name="connsiteY44" fmla="*/ 731140 h 1006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00273" h="1006504">
                  <a:moveTo>
                    <a:pt x="715088" y="566871"/>
                  </a:moveTo>
                  <a:cubicBezTo>
                    <a:pt x="768092" y="507050"/>
                    <a:pt x="800274" y="428239"/>
                    <a:pt x="800274" y="341832"/>
                  </a:cubicBezTo>
                  <a:cubicBezTo>
                    <a:pt x="800274" y="153824"/>
                    <a:pt x="647886" y="0"/>
                    <a:pt x="459530" y="0"/>
                  </a:cubicBezTo>
                  <a:cubicBezTo>
                    <a:pt x="373398" y="0"/>
                    <a:pt x="294838" y="32284"/>
                    <a:pt x="235208" y="85458"/>
                  </a:cubicBezTo>
                  <a:lnTo>
                    <a:pt x="165166" y="15193"/>
                  </a:lnTo>
                  <a:cubicBezTo>
                    <a:pt x="156647" y="6647"/>
                    <a:pt x="143396" y="6647"/>
                    <a:pt x="134878" y="15193"/>
                  </a:cubicBezTo>
                  <a:cubicBezTo>
                    <a:pt x="-44959" y="194654"/>
                    <a:pt x="-44959" y="487110"/>
                    <a:pt x="134878" y="667522"/>
                  </a:cubicBezTo>
                  <a:cubicBezTo>
                    <a:pt x="177471" y="710251"/>
                    <a:pt x="226689" y="742535"/>
                    <a:pt x="278747" y="765323"/>
                  </a:cubicBezTo>
                  <a:lnTo>
                    <a:pt x="278747" y="791910"/>
                  </a:lnTo>
                  <a:cubicBezTo>
                    <a:pt x="278747" y="856479"/>
                    <a:pt x="255084" y="916299"/>
                    <a:pt x="211545" y="962826"/>
                  </a:cubicBezTo>
                  <a:lnTo>
                    <a:pt x="100803" y="962826"/>
                  </a:lnTo>
                  <a:cubicBezTo>
                    <a:pt x="88499" y="962826"/>
                    <a:pt x="79034" y="972322"/>
                    <a:pt x="79034" y="984665"/>
                  </a:cubicBezTo>
                  <a:cubicBezTo>
                    <a:pt x="79034" y="997009"/>
                    <a:pt x="88499" y="1006505"/>
                    <a:pt x="100803" y="1006505"/>
                  </a:cubicBezTo>
                  <a:lnTo>
                    <a:pt x="220063" y="1006505"/>
                  </a:lnTo>
                  <a:lnTo>
                    <a:pt x="578791" y="1006505"/>
                  </a:lnTo>
                  <a:lnTo>
                    <a:pt x="698051" y="1006505"/>
                  </a:lnTo>
                  <a:cubicBezTo>
                    <a:pt x="710355" y="1006505"/>
                    <a:pt x="719820" y="997009"/>
                    <a:pt x="719820" y="984665"/>
                  </a:cubicBezTo>
                  <a:cubicBezTo>
                    <a:pt x="719820" y="972322"/>
                    <a:pt x="710355" y="962826"/>
                    <a:pt x="698051" y="962826"/>
                  </a:cubicBezTo>
                  <a:lnTo>
                    <a:pt x="588256" y="962826"/>
                  </a:lnTo>
                  <a:cubicBezTo>
                    <a:pt x="546609" y="918198"/>
                    <a:pt x="522946" y="859327"/>
                    <a:pt x="521053" y="797608"/>
                  </a:cubicBezTo>
                  <a:cubicBezTo>
                    <a:pt x="617597" y="784314"/>
                    <a:pt x="710355" y="741585"/>
                    <a:pt x="784183" y="666572"/>
                  </a:cubicBezTo>
                  <a:cubicBezTo>
                    <a:pt x="792702" y="658026"/>
                    <a:pt x="792702" y="644733"/>
                    <a:pt x="784183" y="636187"/>
                  </a:cubicBezTo>
                  <a:lnTo>
                    <a:pt x="715088" y="566871"/>
                  </a:lnTo>
                  <a:close/>
                  <a:moveTo>
                    <a:pt x="756734" y="340882"/>
                  </a:moveTo>
                  <a:cubicBezTo>
                    <a:pt x="756734" y="505151"/>
                    <a:pt x="623276" y="639036"/>
                    <a:pt x="459530" y="639036"/>
                  </a:cubicBezTo>
                  <a:cubicBezTo>
                    <a:pt x="295784" y="639036"/>
                    <a:pt x="162326" y="505151"/>
                    <a:pt x="162326" y="340882"/>
                  </a:cubicBezTo>
                  <a:cubicBezTo>
                    <a:pt x="162326" y="176613"/>
                    <a:pt x="295784" y="42729"/>
                    <a:pt x="459530" y="42729"/>
                  </a:cubicBezTo>
                  <a:cubicBezTo>
                    <a:pt x="623276" y="42729"/>
                    <a:pt x="756734" y="176613"/>
                    <a:pt x="756734" y="340882"/>
                  </a:cubicBezTo>
                  <a:close/>
                  <a:moveTo>
                    <a:pt x="532412" y="962826"/>
                  </a:moveTo>
                  <a:lnTo>
                    <a:pt x="267389" y="962826"/>
                  </a:lnTo>
                  <a:cubicBezTo>
                    <a:pt x="303356" y="913450"/>
                    <a:pt x="322286" y="853630"/>
                    <a:pt x="322286" y="791910"/>
                  </a:cubicBezTo>
                  <a:lnTo>
                    <a:pt x="322286" y="781465"/>
                  </a:lnTo>
                  <a:cubicBezTo>
                    <a:pt x="366772" y="795708"/>
                    <a:pt x="413151" y="802355"/>
                    <a:pt x="459530" y="802355"/>
                  </a:cubicBezTo>
                  <a:cubicBezTo>
                    <a:pt x="466156" y="802355"/>
                    <a:pt x="471835" y="802355"/>
                    <a:pt x="478461" y="802355"/>
                  </a:cubicBezTo>
                  <a:cubicBezTo>
                    <a:pt x="480354" y="860277"/>
                    <a:pt x="499284" y="916299"/>
                    <a:pt x="532412" y="962826"/>
                  </a:cubicBezTo>
                  <a:close/>
                  <a:moveTo>
                    <a:pt x="309982" y="731140"/>
                  </a:moveTo>
                  <a:cubicBezTo>
                    <a:pt x="309035" y="731140"/>
                    <a:pt x="308089" y="730191"/>
                    <a:pt x="307142" y="730191"/>
                  </a:cubicBezTo>
                  <a:cubicBezTo>
                    <a:pt x="255084" y="710251"/>
                    <a:pt x="206812" y="678916"/>
                    <a:pt x="165166" y="637136"/>
                  </a:cubicBezTo>
                  <a:cubicBezTo>
                    <a:pt x="7099" y="478565"/>
                    <a:pt x="2366" y="225039"/>
                    <a:pt x="150022" y="60770"/>
                  </a:cubicBezTo>
                  <a:lnTo>
                    <a:pt x="203973" y="114893"/>
                  </a:lnTo>
                  <a:cubicBezTo>
                    <a:pt x="150968" y="174714"/>
                    <a:pt x="118787" y="253525"/>
                    <a:pt x="118787" y="339933"/>
                  </a:cubicBezTo>
                  <a:cubicBezTo>
                    <a:pt x="118787" y="527940"/>
                    <a:pt x="271175" y="681765"/>
                    <a:pt x="459530" y="681765"/>
                  </a:cubicBezTo>
                  <a:cubicBezTo>
                    <a:pt x="545663" y="681765"/>
                    <a:pt x="624223" y="649480"/>
                    <a:pt x="683853" y="596307"/>
                  </a:cubicBezTo>
                  <a:lnTo>
                    <a:pt x="737804" y="650430"/>
                  </a:lnTo>
                  <a:cubicBezTo>
                    <a:pt x="619490" y="759626"/>
                    <a:pt x="451958" y="786213"/>
                    <a:pt x="309982" y="731140"/>
                  </a:cubicBezTo>
                  <a:close/>
                </a:path>
              </a:pathLst>
            </a:custGeom>
            <a:solidFill>
              <a:srgbClr val="000000"/>
            </a:solidFill>
            <a:ln w="9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AC7672-58C7-4284-0B21-E4367E7AA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5912" y="3315673"/>
            <a:ext cx="382172" cy="361425"/>
            <a:chOff x="13919831" y="3606509"/>
            <a:chExt cx="1010931" cy="95604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93BA6D1-D4FF-4705-7BB7-7DD93704F725}"/>
                </a:ext>
              </a:extLst>
            </p:cNvPr>
            <p:cNvGrpSpPr/>
            <p:nvPr/>
          </p:nvGrpSpPr>
          <p:grpSpPr>
            <a:xfrm>
              <a:off x="14092045" y="3792506"/>
              <a:ext cx="666504" cy="459075"/>
              <a:chOff x="14092045" y="3792506"/>
              <a:chExt cx="666504" cy="45907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34F99B45-4438-0D84-42E8-4F7E69898E28}"/>
                  </a:ext>
                </a:extLst>
              </p:cNvPr>
              <p:cNvSpPr/>
              <p:nvPr/>
            </p:nvSpPr>
            <p:spPr>
              <a:xfrm>
                <a:off x="14092045" y="3953085"/>
                <a:ext cx="164699" cy="298496"/>
              </a:xfrm>
              <a:custGeom>
                <a:avLst/>
                <a:gdLst>
                  <a:gd name="connsiteX0" fmla="*/ 142981 w 164699"/>
                  <a:gd name="connsiteY0" fmla="*/ 298497 h 298496"/>
                  <a:gd name="connsiteX1" fmla="*/ 21720 w 164699"/>
                  <a:gd name="connsiteY1" fmla="*/ 298497 h 298496"/>
                  <a:gd name="connsiteX2" fmla="*/ 0 w 164699"/>
                  <a:gd name="connsiteY2" fmla="*/ 276777 h 298496"/>
                  <a:gd name="connsiteX3" fmla="*/ 0 w 164699"/>
                  <a:gd name="connsiteY3" fmla="*/ 21719 h 298496"/>
                  <a:gd name="connsiteX4" fmla="*/ 21720 w 164699"/>
                  <a:gd name="connsiteY4" fmla="*/ 0 h 298496"/>
                  <a:gd name="connsiteX5" fmla="*/ 142981 w 164699"/>
                  <a:gd name="connsiteY5" fmla="*/ 0 h 298496"/>
                  <a:gd name="connsiteX6" fmla="*/ 164699 w 164699"/>
                  <a:gd name="connsiteY6" fmla="*/ 21719 h 298496"/>
                  <a:gd name="connsiteX7" fmla="*/ 164699 w 164699"/>
                  <a:gd name="connsiteY7" fmla="*/ 276777 h 298496"/>
                  <a:gd name="connsiteX8" fmla="*/ 142981 w 164699"/>
                  <a:gd name="connsiteY8" fmla="*/ 298497 h 298496"/>
                  <a:gd name="connsiteX9" fmla="*/ 43438 w 164699"/>
                  <a:gd name="connsiteY9" fmla="*/ 255059 h 298496"/>
                  <a:gd name="connsiteX10" fmla="*/ 121261 w 164699"/>
                  <a:gd name="connsiteY10" fmla="*/ 255059 h 298496"/>
                  <a:gd name="connsiteX11" fmla="*/ 121261 w 164699"/>
                  <a:gd name="connsiteY11" fmla="*/ 43437 h 298496"/>
                  <a:gd name="connsiteX12" fmla="*/ 43438 w 164699"/>
                  <a:gd name="connsiteY12" fmla="*/ 43437 h 298496"/>
                  <a:gd name="connsiteX13" fmla="*/ 43438 w 164699"/>
                  <a:gd name="connsiteY13" fmla="*/ 255059 h 29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4699" h="298496">
                    <a:moveTo>
                      <a:pt x="142981" y="298497"/>
                    </a:moveTo>
                    <a:lnTo>
                      <a:pt x="21720" y="298497"/>
                    </a:lnTo>
                    <a:cubicBezTo>
                      <a:pt x="9724" y="298497"/>
                      <a:pt x="0" y="288773"/>
                      <a:pt x="0" y="276777"/>
                    </a:cubicBezTo>
                    <a:lnTo>
                      <a:pt x="0" y="21719"/>
                    </a:lnTo>
                    <a:cubicBezTo>
                      <a:pt x="0" y="9724"/>
                      <a:pt x="9724" y="0"/>
                      <a:pt x="21720" y="0"/>
                    </a:cubicBezTo>
                    <a:lnTo>
                      <a:pt x="142981" y="0"/>
                    </a:lnTo>
                    <a:cubicBezTo>
                      <a:pt x="154975" y="0"/>
                      <a:pt x="164699" y="9724"/>
                      <a:pt x="164699" y="21719"/>
                    </a:cubicBezTo>
                    <a:lnTo>
                      <a:pt x="164699" y="276777"/>
                    </a:lnTo>
                    <a:cubicBezTo>
                      <a:pt x="164699" y="288773"/>
                      <a:pt x="154975" y="298497"/>
                      <a:pt x="142981" y="298497"/>
                    </a:cubicBezTo>
                    <a:close/>
                    <a:moveTo>
                      <a:pt x="43438" y="255059"/>
                    </a:moveTo>
                    <a:lnTo>
                      <a:pt x="121261" y="255059"/>
                    </a:lnTo>
                    <a:lnTo>
                      <a:pt x="121261" y="43437"/>
                    </a:lnTo>
                    <a:lnTo>
                      <a:pt x="43438" y="43437"/>
                    </a:lnTo>
                    <a:lnTo>
                      <a:pt x="43438" y="255059"/>
                    </a:lnTo>
                    <a:close/>
                  </a:path>
                </a:pathLst>
              </a:custGeom>
              <a:solidFill>
                <a:srgbClr val="7A003C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4CD40EA-F2E3-6A16-DEF6-A4935FFBE6D4}"/>
                  </a:ext>
                </a:extLst>
              </p:cNvPr>
              <p:cNvSpPr/>
              <p:nvPr/>
            </p:nvSpPr>
            <p:spPr>
              <a:xfrm>
                <a:off x="14342949" y="3872795"/>
                <a:ext cx="164696" cy="378786"/>
              </a:xfrm>
              <a:custGeom>
                <a:avLst/>
                <a:gdLst>
                  <a:gd name="connsiteX0" fmla="*/ 142978 w 164696"/>
                  <a:gd name="connsiteY0" fmla="*/ 378787 h 378786"/>
                  <a:gd name="connsiteX1" fmla="*/ 21719 w 164696"/>
                  <a:gd name="connsiteY1" fmla="*/ 378787 h 378786"/>
                  <a:gd name="connsiteX2" fmla="*/ 0 w 164696"/>
                  <a:gd name="connsiteY2" fmla="*/ 357067 h 378786"/>
                  <a:gd name="connsiteX3" fmla="*/ 0 w 164696"/>
                  <a:gd name="connsiteY3" fmla="*/ 21719 h 378786"/>
                  <a:gd name="connsiteX4" fmla="*/ 21719 w 164696"/>
                  <a:gd name="connsiteY4" fmla="*/ 0 h 378786"/>
                  <a:gd name="connsiteX5" fmla="*/ 142978 w 164696"/>
                  <a:gd name="connsiteY5" fmla="*/ 0 h 378786"/>
                  <a:gd name="connsiteX6" fmla="*/ 164696 w 164696"/>
                  <a:gd name="connsiteY6" fmla="*/ 21719 h 378786"/>
                  <a:gd name="connsiteX7" fmla="*/ 164696 w 164696"/>
                  <a:gd name="connsiteY7" fmla="*/ 357067 h 378786"/>
                  <a:gd name="connsiteX8" fmla="*/ 142978 w 164696"/>
                  <a:gd name="connsiteY8" fmla="*/ 378787 h 378786"/>
                  <a:gd name="connsiteX9" fmla="*/ 43438 w 164696"/>
                  <a:gd name="connsiteY9" fmla="*/ 335348 h 378786"/>
                  <a:gd name="connsiteX10" fmla="*/ 121259 w 164696"/>
                  <a:gd name="connsiteY10" fmla="*/ 335348 h 378786"/>
                  <a:gd name="connsiteX11" fmla="*/ 121259 w 164696"/>
                  <a:gd name="connsiteY11" fmla="*/ 43438 h 378786"/>
                  <a:gd name="connsiteX12" fmla="*/ 43438 w 164696"/>
                  <a:gd name="connsiteY12" fmla="*/ 43438 h 378786"/>
                  <a:gd name="connsiteX13" fmla="*/ 43438 w 164696"/>
                  <a:gd name="connsiteY13" fmla="*/ 335348 h 378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4696" h="378786">
                    <a:moveTo>
                      <a:pt x="142978" y="378787"/>
                    </a:moveTo>
                    <a:lnTo>
                      <a:pt x="21719" y="378787"/>
                    </a:lnTo>
                    <a:cubicBezTo>
                      <a:pt x="9724" y="378787"/>
                      <a:pt x="0" y="369062"/>
                      <a:pt x="0" y="357067"/>
                    </a:cubicBezTo>
                    <a:lnTo>
                      <a:pt x="0" y="21719"/>
                    </a:lnTo>
                    <a:cubicBezTo>
                      <a:pt x="0" y="9724"/>
                      <a:pt x="9724" y="0"/>
                      <a:pt x="21719" y="0"/>
                    </a:cubicBezTo>
                    <a:lnTo>
                      <a:pt x="142978" y="0"/>
                    </a:lnTo>
                    <a:cubicBezTo>
                      <a:pt x="154972" y="0"/>
                      <a:pt x="164696" y="9724"/>
                      <a:pt x="164696" y="21719"/>
                    </a:cubicBezTo>
                    <a:lnTo>
                      <a:pt x="164696" y="357067"/>
                    </a:lnTo>
                    <a:cubicBezTo>
                      <a:pt x="164696" y="369062"/>
                      <a:pt x="154972" y="378787"/>
                      <a:pt x="142978" y="378787"/>
                    </a:cubicBezTo>
                    <a:close/>
                    <a:moveTo>
                      <a:pt x="43438" y="335348"/>
                    </a:moveTo>
                    <a:lnTo>
                      <a:pt x="121259" y="335348"/>
                    </a:lnTo>
                    <a:lnTo>
                      <a:pt x="121259" y="43438"/>
                    </a:lnTo>
                    <a:lnTo>
                      <a:pt x="43438" y="43438"/>
                    </a:lnTo>
                    <a:lnTo>
                      <a:pt x="43438" y="335348"/>
                    </a:lnTo>
                    <a:close/>
                  </a:path>
                </a:pathLst>
              </a:custGeom>
              <a:solidFill>
                <a:srgbClr val="7A003C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AC730DFE-0D4A-5A5D-A102-7595399238EF}"/>
                  </a:ext>
                </a:extLst>
              </p:cNvPr>
              <p:cNvSpPr/>
              <p:nvPr/>
            </p:nvSpPr>
            <p:spPr>
              <a:xfrm>
                <a:off x="14593850" y="3792506"/>
                <a:ext cx="164699" cy="459075"/>
              </a:xfrm>
              <a:custGeom>
                <a:avLst/>
                <a:gdLst>
                  <a:gd name="connsiteX0" fmla="*/ 142981 w 164699"/>
                  <a:gd name="connsiteY0" fmla="*/ 459075 h 459075"/>
                  <a:gd name="connsiteX1" fmla="*/ 21720 w 164699"/>
                  <a:gd name="connsiteY1" fmla="*/ 459075 h 459075"/>
                  <a:gd name="connsiteX2" fmla="*/ 0 w 164699"/>
                  <a:gd name="connsiteY2" fmla="*/ 437357 h 459075"/>
                  <a:gd name="connsiteX3" fmla="*/ 0 w 164699"/>
                  <a:gd name="connsiteY3" fmla="*/ 21719 h 459075"/>
                  <a:gd name="connsiteX4" fmla="*/ 21720 w 164699"/>
                  <a:gd name="connsiteY4" fmla="*/ 0 h 459075"/>
                  <a:gd name="connsiteX5" fmla="*/ 142981 w 164699"/>
                  <a:gd name="connsiteY5" fmla="*/ 0 h 459075"/>
                  <a:gd name="connsiteX6" fmla="*/ 164699 w 164699"/>
                  <a:gd name="connsiteY6" fmla="*/ 21719 h 459075"/>
                  <a:gd name="connsiteX7" fmla="*/ 164699 w 164699"/>
                  <a:gd name="connsiteY7" fmla="*/ 437357 h 459075"/>
                  <a:gd name="connsiteX8" fmla="*/ 142981 w 164699"/>
                  <a:gd name="connsiteY8" fmla="*/ 459075 h 459075"/>
                  <a:gd name="connsiteX9" fmla="*/ 43438 w 164699"/>
                  <a:gd name="connsiteY9" fmla="*/ 415637 h 459075"/>
                  <a:gd name="connsiteX10" fmla="*/ 121261 w 164699"/>
                  <a:gd name="connsiteY10" fmla="*/ 415637 h 459075"/>
                  <a:gd name="connsiteX11" fmla="*/ 121261 w 164699"/>
                  <a:gd name="connsiteY11" fmla="*/ 43438 h 459075"/>
                  <a:gd name="connsiteX12" fmla="*/ 43438 w 164699"/>
                  <a:gd name="connsiteY12" fmla="*/ 43438 h 459075"/>
                  <a:gd name="connsiteX13" fmla="*/ 43438 w 164699"/>
                  <a:gd name="connsiteY13" fmla="*/ 415637 h 45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4699" h="459075">
                    <a:moveTo>
                      <a:pt x="142981" y="459075"/>
                    </a:moveTo>
                    <a:lnTo>
                      <a:pt x="21720" y="459075"/>
                    </a:lnTo>
                    <a:cubicBezTo>
                      <a:pt x="9724" y="459075"/>
                      <a:pt x="0" y="449351"/>
                      <a:pt x="0" y="437357"/>
                    </a:cubicBezTo>
                    <a:lnTo>
                      <a:pt x="0" y="21719"/>
                    </a:lnTo>
                    <a:cubicBezTo>
                      <a:pt x="0" y="9724"/>
                      <a:pt x="9724" y="0"/>
                      <a:pt x="21720" y="0"/>
                    </a:cubicBezTo>
                    <a:lnTo>
                      <a:pt x="142981" y="0"/>
                    </a:lnTo>
                    <a:cubicBezTo>
                      <a:pt x="154975" y="0"/>
                      <a:pt x="164699" y="9724"/>
                      <a:pt x="164699" y="21719"/>
                    </a:cubicBezTo>
                    <a:lnTo>
                      <a:pt x="164699" y="437357"/>
                    </a:lnTo>
                    <a:cubicBezTo>
                      <a:pt x="164699" y="449351"/>
                      <a:pt x="154975" y="459075"/>
                      <a:pt x="142981" y="459075"/>
                    </a:cubicBezTo>
                    <a:close/>
                    <a:moveTo>
                      <a:pt x="43438" y="415637"/>
                    </a:moveTo>
                    <a:lnTo>
                      <a:pt x="121261" y="415637"/>
                    </a:lnTo>
                    <a:lnTo>
                      <a:pt x="121261" y="43438"/>
                    </a:lnTo>
                    <a:lnTo>
                      <a:pt x="43438" y="43438"/>
                    </a:lnTo>
                    <a:lnTo>
                      <a:pt x="43438" y="415637"/>
                    </a:lnTo>
                    <a:close/>
                  </a:path>
                </a:pathLst>
              </a:custGeom>
              <a:solidFill>
                <a:srgbClr val="7A003C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FEB136E-27BC-F6A9-AF99-58D141F63BD7}"/>
                </a:ext>
              </a:extLst>
            </p:cNvPr>
            <p:cNvSpPr/>
            <p:nvPr/>
          </p:nvSpPr>
          <p:spPr>
            <a:xfrm>
              <a:off x="13919831" y="3606509"/>
              <a:ext cx="1010931" cy="956049"/>
            </a:xfrm>
            <a:custGeom>
              <a:avLst/>
              <a:gdLst>
                <a:gd name="connsiteX0" fmla="*/ 989204 w 1010931"/>
                <a:gd name="connsiteY0" fmla="*/ 0 h 956049"/>
                <a:gd name="connsiteX1" fmla="*/ 21726 w 1010931"/>
                <a:gd name="connsiteY1" fmla="*/ 0 h 956049"/>
                <a:gd name="connsiteX2" fmla="*/ 8 w 1010931"/>
                <a:gd name="connsiteY2" fmla="*/ 21719 h 956049"/>
                <a:gd name="connsiteX3" fmla="*/ 8 w 1010931"/>
                <a:gd name="connsiteY3" fmla="*/ 780038 h 956049"/>
                <a:gd name="connsiteX4" fmla="*/ 21726 w 1010931"/>
                <a:gd name="connsiteY4" fmla="*/ 801757 h 956049"/>
                <a:gd name="connsiteX5" fmla="*/ 396656 w 1010931"/>
                <a:gd name="connsiteY5" fmla="*/ 801757 h 956049"/>
                <a:gd name="connsiteX6" fmla="*/ 396656 w 1010931"/>
                <a:gd name="connsiteY6" fmla="*/ 912610 h 956049"/>
                <a:gd name="connsiteX7" fmla="*/ 379591 w 1010931"/>
                <a:gd name="connsiteY7" fmla="*/ 912610 h 956049"/>
                <a:gd name="connsiteX8" fmla="*/ 379591 w 1010931"/>
                <a:gd name="connsiteY8" fmla="*/ 956049 h 956049"/>
                <a:gd name="connsiteX9" fmla="*/ 631342 w 1010931"/>
                <a:gd name="connsiteY9" fmla="*/ 956049 h 956049"/>
                <a:gd name="connsiteX10" fmla="*/ 631342 w 1010931"/>
                <a:gd name="connsiteY10" fmla="*/ 912610 h 956049"/>
                <a:gd name="connsiteX11" fmla="*/ 614278 w 1010931"/>
                <a:gd name="connsiteY11" fmla="*/ 912610 h 956049"/>
                <a:gd name="connsiteX12" fmla="*/ 614278 w 1010931"/>
                <a:gd name="connsiteY12" fmla="*/ 801757 h 956049"/>
                <a:gd name="connsiteX13" fmla="*/ 989204 w 1010931"/>
                <a:gd name="connsiteY13" fmla="*/ 801757 h 956049"/>
                <a:gd name="connsiteX14" fmla="*/ 1010929 w 1010931"/>
                <a:gd name="connsiteY14" fmla="*/ 780038 h 956049"/>
                <a:gd name="connsiteX15" fmla="*/ 1010929 w 1010931"/>
                <a:gd name="connsiteY15" fmla="*/ 21719 h 956049"/>
                <a:gd name="connsiteX16" fmla="*/ 989204 w 1010931"/>
                <a:gd name="connsiteY16" fmla="*/ 0 h 956049"/>
                <a:gd name="connsiteX17" fmla="*/ 43445 w 1010931"/>
                <a:gd name="connsiteY17" fmla="*/ 43438 h 956049"/>
                <a:gd name="connsiteX18" fmla="*/ 967488 w 1010931"/>
                <a:gd name="connsiteY18" fmla="*/ 43438 h 956049"/>
                <a:gd name="connsiteX19" fmla="*/ 967488 w 1010931"/>
                <a:gd name="connsiteY19" fmla="*/ 601634 h 956049"/>
                <a:gd name="connsiteX20" fmla="*/ 43445 w 1010931"/>
                <a:gd name="connsiteY20" fmla="*/ 601634 h 956049"/>
                <a:gd name="connsiteX21" fmla="*/ 43445 w 1010931"/>
                <a:gd name="connsiteY21" fmla="*/ 43438 h 956049"/>
                <a:gd name="connsiteX22" fmla="*/ 570839 w 1010931"/>
                <a:gd name="connsiteY22" fmla="*/ 912610 h 956049"/>
                <a:gd name="connsiteX23" fmla="*/ 440093 w 1010931"/>
                <a:gd name="connsiteY23" fmla="*/ 912610 h 956049"/>
                <a:gd name="connsiteX24" fmla="*/ 440093 w 1010931"/>
                <a:gd name="connsiteY24" fmla="*/ 801757 h 956049"/>
                <a:gd name="connsiteX25" fmla="*/ 570839 w 1010931"/>
                <a:gd name="connsiteY25" fmla="*/ 801757 h 956049"/>
                <a:gd name="connsiteX26" fmla="*/ 570839 w 1010931"/>
                <a:gd name="connsiteY26" fmla="*/ 912610 h 956049"/>
                <a:gd name="connsiteX27" fmla="*/ 967488 w 1010931"/>
                <a:gd name="connsiteY27" fmla="*/ 758319 h 956049"/>
                <a:gd name="connsiteX28" fmla="*/ 43445 w 1010931"/>
                <a:gd name="connsiteY28" fmla="*/ 758319 h 956049"/>
                <a:gd name="connsiteX29" fmla="*/ 43445 w 1010931"/>
                <a:gd name="connsiteY29" fmla="*/ 645073 h 956049"/>
                <a:gd name="connsiteX30" fmla="*/ 967488 w 1010931"/>
                <a:gd name="connsiteY30" fmla="*/ 645073 h 956049"/>
                <a:gd name="connsiteX31" fmla="*/ 967488 w 1010931"/>
                <a:gd name="connsiteY31" fmla="*/ 758319 h 95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10931" h="956049">
                  <a:moveTo>
                    <a:pt x="989204" y="0"/>
                  </a:moveTo>
                  <a:lnTo>
                    <a:pt x="21726" y="0"/>
                  </a:lnTo>
                  <a:cubicBezTo>
                    <a:pt x="9732" y="0"/>
                    <a:pt x="8" y="9724"/>
                    <a:pt x="8" y="21719"/>
                  </a:cubicBezTo>
                  <a:cubicBezTo>
                    <a:pt x="-16" y="137887"/>
                    <a:pt x="25" y="675742"/>
                    <a:pt x="8" y="780038"/>
                  </a:cubicBezTo>
                  <a:cubicBezTo>
                    <a:pt x="8" y="792033"/>
                    <a:pt x="9732" y="801757"/>
                    <a:pt x="21726" y="801757"/>
                  </a:cubicBezTo>
                  <a:lnTo>
                    <a:pt x="396656" y="801757"/>
                  </a:lnTo>
                  <a:lnTo>
                    <a:pt x="396656" y="912610"/>
                  </a:lnTo>
                  <a:lnTo>
                    <a:pt x="379591" y="912610"/>
                  </a:lnTo>
                  <a:cubicBezTo>
                    <a:pt x="350849" y="913722"/>
                    <a:pt x="350725" y="954881"/>
                    <a:pt x="379591" y="956049"/>
                  </a:cubicBezTo>
                  <a:cubicBezTo>
                    <a:pt x="432498" y="956049"/>
                    <a:pt x="578425" y="956049"/>
                    <a:pt x="631342" y="956049"/>
                  </a:cubicBezTo>
                  <a:cubicBezTo>
                    <a:pt x="660082" y="954938"/>
                    <a:pt x="660208" y="913777"/>
                    <a:pt x="631342" y="912610"/>
                  </a:cubicBezTo>
                  <a:lnTo>
                    <a:pt x="614278" y="912610"/>
                  </a:lnTo>
                  <a:lnTo>
                    <a:pt x="614278" y="801757"/>
                  </a:lnTo>
                  <a:lnTo>
                    <a:pt x="989204" y="801757"/>
                  </a:lnTo>
                  <a:cubicBezTo>
                    <a:pt x="1001206" y="801757"/>
                    <a:pt x="1010929" y="792033"/>
                    <a:pt x="1010929" y="780038"/>
                  </a:cubicBezTo>
                  <a:cubicBezTo>
                    <a:pt x="1010920" y="678434"/>
                    <a:pt x="1010939" y="134989"/>
                    <a:pt x="1010929" y="21719"/>
                  </a:cubicBezTo>
                  <a:cubicBezTo>
                    <a:pt x="1010929" y="9724"/>
                    <a:pt x="1001206" y="0"/>
                    <a:pt x="989204" y="0"/>
                  </a:cubicBezTo>
                  <a:close/>
                  <a:moveTo>
                    <a:pt x="43445" y="43438"/>
                  </a:moveTo>
                  <a:lnTo>
                    <a:pt x="967488" y="43438"/>
                  </a:lnTo>
                  <a:lnTo>
                    <a:pt x="967488" y="601634"/>
                  </a:lnTo>
                  <a:lnTo>
                    <a:pt x="43445" y="601634"/>
                  </a:lnTo>
                  <a:lnTo>
                    <a:pt x="43445" y="43438"/>
                  </a:lnTo>
                  <a:close/>
                  <a:moveTo>
                    <a:pt x="570839" y="912610"/>
                  </a:moveTo>
                  <a:lnTo>
                    <a:pt x="440093" y="912610"/>
                  </a:lnTo>
                  <a:lnTo>
                    <a:pt x="440093" y="801757"/>
                  </a:lnTo>
                  <a:lnTo>
                    <a:pt x="570839" y="801757"/>
                  </a:lnTo>
                  <a:lnTo>
                    <a:pt x="570839" y="912610"/>
                  </a:lnTo>
                  <a:close/>
                  <a:moveTo>
                    <a:pt x="967488" y="758319"/>
                  </a:moveTo>
                  <a:cubicBezTo>
                    <a:pt x="701645" y="758319"/>
                    <a:pt x="309245" y="758319"/>
                    <a:pt x="43445" y="758319"/>
                  </a:cubicBezTo>
                  <a:lnTo>
                    <a:pt x="43445" y="645073"/>
                  </a:lnTo>
                  <a:lnTo>
                    <a:pt x="967488" y="645073"/>
                  </a:lnTo>
                  <a:lnTo>
                    <a:pt x="967488" y="758319"/>
                  </a:lnTo>
                  <a:close/>
                </a:path>
              </a:pathLst>
            </a:custGeom>
            <a:solidFill>
              <a:srgbClr val="000000"/>
            </a:solidFill>
            <a:ln w="9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CF91880-33D0-3714-7AF7-098FF1A14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831" y="3908606"/>
            <a:ext cx="408334" cy="290227"/>
            <a:chOff x="8853857" y="7502938"/>
            <a:chExt cx="1080135" cy="767714"/>
          </a:xfrm>
        </p:grpSpPr>
        <p:grpSp>
          <p:nvGrpSpPr>
            <p:cNvPr id="26" name="Graphic 6">
              <a:extLst>
                <a:ext uri="{FF2B5EF4-FFF2-40B4-BE49-F238E27FC236}">
                  <a16:creationId xmlns:a16="http://schemas.microsoft.com/office/drawing/2014/main" id="{C16B7293-C591-7CCA-9FB6-DBA4D33C5346}"/>
                </a:ext>
              </a:extLst>
            </p:cNvPr>
            <p:cNvGrpSpPr/>
            <p:nvPr/>
          </p:nvGrpSpPr>
          <p:grpSpPr>
            <a:xfrm>
              <a:off x="8853857" y="7620095"/>
              <a:ext cx="351483" cy="595312"/>
              <a:chOff x="8853857" y="7620095"/>
              <a:chExt cx="351483" cy="595312"/>
            </a:xfrm>
            <a:solidFill>
              <a:srgbClr val="000000"/>
            </a:solidFill>
          </p:grpSpPr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F5A5F3EB-AA31-A7D1-F3B7-3F9A58586ACB}"/>
                  </a:ext>
                </a:extLst>
              </p:cNvPr>
              <p:cNvSpPr/>
              <p:nvPr/>
            </p:nvSpPr>
            <p:spPr>
              <a:xfrm>
                <a:off x="8941487" y="7620095"/>
                <a:ext cx="254317" cy="251460"/>
              </a:xfrm>
              <a:custGeom>
                <a:avLst/>
                <a:gdLst>
                  <a:gd name="connsiteX0" fmla="*/ 127635 w 254317"/>
                  <a:gd name="connsiteY0" fmla="*/ 251460 h 251460"/>
                  <a:gd name="connsiteX1" fmla="*/ 254318 w 254317"/>
                  <a:gd name="connsiteY1" fmla="*/ 125730 h 251460"/>
                  <a:gd name="connsiteX2" fmla="*/ 127635 w 254317"/>
                  <a:gd name="connsiteY2" fmla="*/ 0 h 251460"/>
                  <a:gd name="connsiteX3" fmla="*/ 0 w 254317"/>
                  <a:gd name="connsiteY3" fmla="*/ 125730 h 251460"/>
                  <a:gd name="connsiteX4" fmla="*/ 127635 w 254317"/>
                  <a:gd name="connsiteY4" fmla="*/ 251460 h 251460"/>
                  <a:gd name="connsiteX5" fmla="*/ 40005 w 254317"/>
                  <a:gd name="connsiteY5" fmla="*/ 125730 h 251460"/>
                  <a:gd name="connsiteX6" fmla="*/ 127635 w 254317"/>
                  <a:gd name="connsiteY6" fmla="*/ 39053 h 251460"/>
                  <a:gd name="connsiteX7" fmla="*/ 215265 w 254317"/>
                  <a:gd name="connsiteY7" fmla="*/ 125730 h 251460"/>
                  <a:gd name="connsiteX8" fmla="*/ 127635 w 254317"/>
                  <a:gd name="connsiteY8" fmla="*/ 212408 h 251460"/>
                  <a:gd name="connsiteX9" fmla="*/ 40005 w 254317"/>
                  <a:gd name="connsiteY9" fmla="*/ 125730 h 251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317" h="251460">
                    <a:moveTo>
                      <a:pt x="127635" y="251460"/>
                    </a:moveTo>
                    <a:cubicBezTo>
                      <a:pt x="198120" y="251460"/>
                      <a:pt x="254318" y="195263"/>
                      <a:pt x="254318" y="125730"/>
                    </a:cubicBezTo>
                    <a:cubicBezTo>
                      <a:pt x="254318" y="56198"/>
                      <a:pt x="197168" y="0"/>
                      <a:pt x="127635" y="0"/>
                    </a:cubicBezTo>
                    <a:cubicBezTo>
                      <a:pt x="57150" y="0"/>
                      <a:pt x="0" y="56198"/>
                      <a:pt x="0" y="125730"/>
                    </a:cubicBezTo>
                    <a:cubicBezTo>
                      <a:pt x="0" y="195263"/>
                      <a:pt x="57150" y="251460"/>
                      <a:pt x="127635" y="251460"/>
                    </a:cubicBezTo>
                    <a:close/>
                    <a:moveTo>
                      <a:pt x="40005" y="125730"/>
                    </a:moveTo>
                    <a:cubicBezTo>
                      <a:pt x="40005" y="78105"/>
                      <a:pt x="79057" y="39053"/>
                      <a:pt x="127635" y="39053"/>
                    </a:cubicBezTo>
                    <a:cubicBezTo>
                      <a:pt x="176213" y="39053"/>
                      <a:pt x="215265" y="78105"/>
                      <a:pt x="215265" y="125730"/>
                    </a:cubicBezTo>
                    <a:cubicBezTo>
                      <a:pt x="215265" y="173355"/>
                      <a:pt x="176213" y="212408"/>
                      <a:pt x="127635" y="212408"/>
                    </a:cubicBezTo>
                    <a:cubicBezTo>
                      <a:pt x="79057" y="212408"/>
                      <a:pt x="40005" y="173355"/>
                      <a:pt x="40005" y="1257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61975726-7EFC-EF83-9C54-5DED71FF1D31}"/>
                  </a:ext>
                </a:extLst>
              </p:cNvPr>
              <p:cNvSpPr/>
              <p:nvPr/>
            </p:nvSpPr>
            <p:spPr>
              <a:xfrm>
                <a:off x="8853857" y="7897273"/>
                <a:ext cx="351483" cy="318135"/>
              </a:xfrm>
              <a:custGeom>
                <a:avLst/>
                <a:gdLst>
                  <a:gd name="connsiteX0" fmla="*/ 343853 w 351483"/>
                  <a:gd name="connsiteY0" fmla="*/ 41910 h 318135"/>
                  <a:gd name="connsiteX1" fmla="*/ 215265 w 351483"/>
                  <a:gd name="connsiteY1" fmla="*/ 0 h 318135"/>
                  <a:gd name="connsiteX2" fmla="*/ 0 w 351483"/>
                  <a:gd name="connsiteY2" fmla="*/ 213360 h 318135"/>
                  <a:gd name="connsiteX3" fmla="*/ 0 w 351483"/>
                  <a:gd name="connsiteY3" fmla="*/ 270510 h 318135"/>
                  <a:gd name="connsiteX4" fmla="*/ 47625 w 351483"/>
                  <a:gd name="connsiteY4" fmla="*/ 318135 h 318135"/>
                  <a:gd name="connsiteX5" fmla="*/ 264795 w 351483"/>
                  <a:gd name="connsiteY5" fmla="*/ 318135 h 318135"/>
                  <a:gd name="connsiteX6" fmla="*/ 284798 w 351483"/>
                  <a:gd name="connsiteY6" fmla="*/ 298132 h 318135"/>
                  <a:gd name="connsiteX7" fmla="*/ 264795 w 351483"/>
                  <a:gd name="connsiteY7" fmla="*/ 277178 h 318135"/>
                  <a:gd name="connsiteX8" fmla="*/ 47625 w 351483"/>
                  <a:gd name="connsiteY8" fmla="*/ 277178 h 318135"/>
                  <a:gd name="connsiteX9" fmla="*/ 39053 w 351483"/>
                  <a:gd name="connsiteY9" fmla="*/ 269557 h 318135"/>
                  <a:gd name="connsiteX10" fmla="*/ 39053 w 351483"/>
                  <a:gd name="connsiteY10" fmla="*/ 212407 h 318135"/>
                  <a:gd name="connsiteX11" fmla="*/ 214313 w 351483"/>
                  <a:gd name="connsiteY11" fmla="*/ 39052 h 318135"/>
                  <a:gd name="connsiteX12" fmla="*/ 319088 w 351483"/>
                  <a:gd name="connsiteY12" fmla="*/ 73342 h 318135"/>
                  <a:gd name="connsiteX13" fmla="*/ 346710 w 351483"/>
                  <a:gd name="connsiteY13" fmla="*/ 69532 h 318135"/>
                  <a:gd name="connsiteX14" fmla="*/ 343853 w 351483"/>
                  <a:gd name="connsiteY14" fmla="*/ 41910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51483" h="318135">
                    <a:moveTo>
                      <a:pt x="343853" y="41910"/>
                    </a:moveTo>
                    <a:cubicBezTo>
                      <a:pt x="306705" y="14288"/>
                      <a:pt x="261938" y="0"/>
                      <a:pt x="215265" y="0"/>
                    </a:cubicBezTo>
                    <a:cubicBezTo>
                      <a:pt x="96203" y="0"/>
                      <a:pt x="0" y="95250"/>
                      <a:pt x="0" y="213360"/>
                    </a:cubicBezTo>
                    <a:lnTo>
                      <a:pt x="0" y="270510"/>
                    </a:lnTo>
                    <a:cubicBezTo>
                      <a:pt x="0" y="296228"/>
                      <a:pt x="20955" y="318135"/>
                      <a:pt x="47625" y="318135"/>
                    </a:cubicBezTo>
                    <a:lnTo>
                      <a:pt x="264795" y="318135"/>
                    </a:lnTo>
                    <a:cubicBezTo>
                      <a:pt x="275273" y="318135"/>
                      <a:pt x="284798" y="309563"/>
                      <a:pt x="284798" y="298132"/>
                    </a:cubicBezTo>
                    <a:cubicBezTo>
                      <a:pt x="284798" y="286703"/>
                      <a:pt x="276225" y="277178"/>
                      <a:pt x="264795" y="277178"/>
                    </a:cubicBezTo>
                    <a:lnTo>
                      <a:pt x="47625" y="277178"/>
                    </a:lnTo>
                    <a:cubicBezTo>
                      <a:pt x="42863" y="277178"/>
                      <a:pt x="39053" y="273367"/>
                      <a:pt x="39053" y="269557"/>
                    </a:cubicBezTo>
                    <a:lnTo>
                      <a:pt x="39053" y="212407"/>
                    </a:lnTo>
                    <a:cubicBezTo>
                      <a:pt x="39053" y="117157"/>
                      <a:pt x="118110" y="39052"/>
                      <a:pt x="214313" y="39052"/>
                    </a:cubicBezTo>
                    <a:cubicBezTo>
                      <a:pt x="252413" y="39052"/>
                      <a:pt x="288608" y="50482"/>
                      <a:pt x="319088" y="73342"/>
                    </a:cubicBezTo>
                    <a:cubicBezTo>
                      <a:pt x="327660" y="80010"/>
                      <a:pt x="340043" y="78105"/>
                      <a:pt x="346710" y="69532"/>
                    </a:cubicBezTo>
                    <a:cubicBezTo>
                      <a:pt x="354330" y="60007"/>
                      <a:pt x="352425" y="47625"/>
                      <a:pt x="343853" y="419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7" name="Graphic 6">
              <a:extLst>
                <a:ext uri="{FF2B5EF4-FFF2-40B4-BE49-F238E27FC236}">
                  <a16:creationId xmlns:a16="http://schemas.microsoft.com/office/drawing/2014/main" id="{6E66478E-B5F0-CAC2-ACE8-1466FE4D6825}"/>
                </a:ext>
              </a:extLst>
            </p:cNvPr>
            <p:cNvGrpSpPr/>
            <p:nvPr/>
          </p:nvGrpSpPr>
          <p:grpSpPr>
            <a:xfrm>
              <a:off x="9574657" y="7611523"/>
              <a:ext cx="359335" cy="589597"/>
              <a:chOff x="9574657" y="7611523"/>
              <a:chExt cx="359335" cy="589597"/>
            </a:xfrm>
            <a:solidFill>
              <a:srgbClr val="000000"/>
            </a:solidFill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09F2AF9-E16E-2069-0BD0-14DBB3263BD3}"/>
                  </a:ext>
                </a:extLst>
              </p:cNvPr>
              <p:cNvSpPr/>
              <p:nvPr/>
            </p:nvSpPr>
            <p:spPr>
              <a:xfrm>
                <a:off x="9574657" y="7883938"/>
                <a:ext cx="359335" cy="317182"/>
              </a:xfrm>
              <a:custGeom>
                <a:avLst/>
                <a:gdLst>
                  <a:gd name="connsiteX0" fmla="*/ 144070 w 359335"/>
                  <a:gd name="connsiteY0" fmla="*/ 0 h 317182"/>
                  <a:gd name="connsiteX1" fmla="*/ 7863 w 359335"/>
                  <a:gd name="connsiteY1" fmla="*/ 47625 h 317182"/>
                  <a:gd name="connsiteX2" fmla="*/ 243 w 359335"/>
                  <a:gd name="connsiteY2" fmla="*/ 60960 h 317182"/>
                  <a:gd name="connsiteX3" fmla="*/ 5005 w 359335"/>
                  <a:gd name="connsiteY3" fmla="*/ 75248 h 317182"/>
                  <a:gd name="connsiteX4" fmla="*/ 32628 w 359335"/>
                  <a:gd name="connsiteY4" fmla="*/ 78105 h 317182"/>
                  <a:gd name="connsiteX5" fmla="*/ 144070 w 359335"/>
                  <a:gd name="connsiteY5" fmla="*/ 39052 h 317182"/>
                  <a:gd name="connsiteX6" fmla="*/ 319330 w 359335"/>
                  <a:gd name="connsiteY6" fmla="*/ 212408 h 317182"/>
                  <a:gd name="connsiteX7" fmla="*/ 319330 w 359335"/>
                  <a:gd name="connsiteY7" fmla="*/ 269558 h 317182"/>
                  <a:gd name="connsiteX8" fmla="*/ 310758 w 359335"/>
                  <a:gd name="connsiteY8" fmla="*/ 277178 h 317182"/>
                  <a:gd name="connsiteX9" fmla="*/ 94540 w 359335"/>
                  <a:gd name="connsiteY9" fmla="*/ 277178 h 317182"/>
                  <a:gd name="connsiteX10" fmla="*/ 74538 w 359335"/>
                  <a:gd name="connsiteY10" fmla="*/ 297180 h 317182"/>
                  <a:gd name="connsiteX11" fmla="*/ 94540 w 359335"/>
                  <a:gd name="connsiteY11" fmla="*/ 317183 h 317182"/>
                  <a:gd name="connsiteX12" fmla="*/ 311710 w 359335"/>
                  <a:gd name="connsiteY12" fmla="*/ 317183 h 317182"/>
                  <a:gd name="connsiteX13" fmla="*/ 359335 w 359335"/>
                  <a:gd name="connsiteY13" fmla="*/ 269558 h 317182"/>
                  <a:gd name="connsiteX14" fmla="*/ 359335 w 359335"/>
                  <a:gd name="connsiteY14" fmla="*/ 212408 h 317182"/>
                  <a:gd name="connsiteX15" fmla="*/ 144070 w 359335"/>
                  <a:gd name="connsiteY15" fmla="*/ 0 h 3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9335" h="317182">
                    <a:moveTo>
                      <a:pt x="144070" y="0"/>
                    </a:moveTo>
                    <a:cubicBezTo>
                      <a:pt x="94540" y="0"/>
                      <a:pt x="45963" y="17145"/>
                      <a:pt x="7863" y="47625"/>
                    </a:cubicBezTo>
                    <a:cubicBezTo>
                      <a:pt x="4053" y="50482"/>
                      <a:pt x="1195" y="55245"/>
                      <a:pt x="243" y="60960"/>
                    </a:cubicBezTo>
                    <a:cubicBezTo>
                      <a:pt x="-710" y="65723"/>
                      <a:pt x="1195" y="71438"/>
                      <a:pt x="5005" y="75248"/>
                    </a:cubicBezTo>
                    <a:cubicBezTo>
                      <a:pt x="11673" y="83820"/>
                      <a:pt x="24055" y="84773"/>
                      <a:pt x="32628" y="78105"/>
                    </a:cubicBezTo>
                    <a:cubicBezTo>
                      <a:pt x="64060" y="52388"/>
                      <a:pt x="103113" y="39052"/>
                      <a:pt x="144070" y="39052"/>
                    </a:cubicBezTo>
                    <a:cubicBezTo>
                      <a:pt x="241225" y="39052"/>
                      <a:pt x="319330" y="117158"/>
                      <a:pt x="319330" y="212408"/>
                    </a:cubicBezTo>
                    <a:lnTo>
                      <a:pt x="319330" y="269558"/>
                    </a:lnTo>
                    <a:cubicBezTo>
                      <a:pt x="319330" y="274320"/>
                      <a:pt x="315520" y="277178"/>
                      <a:pt x="310758" y="277178"/>
                    </a:cubicBezTo>
                    <a:lnTo>
                      <a:pt x="94540" y="277178"/>
                    </a:lnTo>
                    <a:cubicBezTo>
                      <a:pt x="84063" y="277178"/>
                      <a:pt x="74538" y="285750"/>
                      <a:pt x="74538" y="297180"/>
                    </a:cubicBezTo>
                    <a:cubicBezTo>
                      <a:pt x="74538" y="308610"/>
                      <a:pt x="83110" y="317183"/>
                      <a:pt x="94540" y="317183"/>
                    </a:cubicBezTo>
                    <a:lnTo>
                      <a:pt x="311710" y="317183"/>
                    </a:lnTo>
                    <a:cubicBezTo>
                      <a:pt x="338380" y="317183"/>
                      <a:pt x="359335" y="296228"/>
                      <a:pt x="359335" y="269558"/>
                    </a:cubicBezTo>
                    <a:lnTo>
                      <a:pt x="359335" y="212408"/>
                    </a:lnTo>
                    <a:cubicBezTo>
                      <a:pt x="359335" y="95250"/>
                      <a:pt x="263133" y="0"/>
                      <a:pt x="1440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FCC10A30-8E05-C977-5E71-BE8D40BCC761}"/>
                  </a:ext>
                </a:extLst>
              </p:cNvPr>
              <p:cNvSpPr/>
              <p:nvPr/>
            </p:nvSpPr>
            <p:spPr>
              <a:xfrm>
                <a:off x="9592045" y="7611523"/>
                <a:ext cx="254317" cy="251459"/>
              </a:xfrm>
              <a:custGeom>
                <a:avLst/>
                <a:gdLst>
                  <a:gd name="connsiteX0" fmla="*/ 126682 w 254317"/>
                  <a:gd name="connsiteY0" fmla="*/ 251460 h 251459"/>
                  <a:gd name="connsiteX1" fmla="*/ 254317 w 254317"/>
                  <a:gd name="connsiteY1" fmla="*/ 125730 h 251459"/>
                  <a:gd name="connsiteX2" fmla="*/ 126682 w 254317"/>
                  <a:gd name="connsiteY2" fmla="*/ 0 h 251459"/>
                  <a:gd name="connsiteX3" fmla="*/ 0 w 254317"/>
                  <a:gd name="connsiteY3" fmla="*/ 125730 h 251459"/>
                  <a:gd name="connsiteX4" fmla="*/ 126682 w 254317"/>
                  <a:gd name="connsiteY4" fmla="*/ 251460 h 251459"/>
                  <a:gd name="connsiteX5" fmla="*/ 39052 w 254317"/>
                  <a:gd name="connsiteY5" fmla="*/ 125730 h 251459"/>
                  <a:gd name="connsiteX6" fmla="*/ 126682 w 254317"/>
                  <a:gd name="connsiteY6" fmla="*/ 39053 h 251459"/>
                  <a:gd name="connsiteX7" fmla="*/ 214313 w 254317"/>
                  <a:gd name="connsiteY7" fmla="*/ 125730 h 251459"/>
                  <a:gd name="connsiteX8" fmla="*/ 126682 w 254317"/>
                  <a:gd name="connsiteY8" fmla="*/ 212408 h 251459"/>
                  <a:gd name="connsiteX9" fmla="*/ 39052 w 254317"/>
                  <a:gd name="connsiteY9" fmla="*/ 125730 h 251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317" h="251459">
                    <a:moveTo>
                      <a:pt x="126682" y="251460"/>
                    </a:moveTo>
                    <a:cubicBezTo>
                      <a:pt x="197167" y="251460"/>
                      <a:pt x="254317" y="195263"/>
                      <a:pt x="254317" y="125730"/>
                    </a:cubicBezTo>
                    <a:cubicBezTo>
                      <a:pt x="254317" y="56197"/>
                      <a:pt x="197167" y="0"/>
                      <a:pt x="126682" y="0"/>
                    </a:cubicBezTo>
                    <a:cubicBezTo>
                      <a:pt x="56197" y="0"/>
                      <a:pt x="0" y="56197"/>
                      <a:pt x="0" y="125730"/>
                    </a:cubicBezTo>
                    <a:cubicBezTo>
                      <a:pt x="0" y="195263"/>
                      <a:pt x="57150" y="251460"/>
                      <a:pt x="126682" y="251460"/>
                    </a:cubicBezTo>
                    <a:close/>
                    <a:moveTo>
                      <a:pt x="39052" y="125730"/>
                    </a:moveTo>
                    <a:cubicBezTo>
                      <a:pt x="39052" y="78105"/>
                      <a:pt x="78105" y="39053"/>
                      <a:pt x="126682" y="39053"/>
                    </a:cubicBezTo>
                    <a:cubicBezTo>
                      <a:pt x="175260" y="39053"/>
                      <a:pt x="214313" y="78105"/>
                      <a:pt x="214313" y="125730"/>
                    </a:cubicBezTo>
                    <a:cubicBezTo>
                      <a:pt x="214313" y="173355"/>
                      <a:pt x="175260" y="212408"/>
                      <a:pt x="126682" y="212408"/>
                    </a:cubicBezTo>
                    <a:cubicBezTo>
                      <a:pt x="78105" y="212408"/>
                      <a:pt x="39052" y="173355"/>
                      <a:pt x="39052" y="1257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6">
              <a:extLst>
                <a:ext uri="{FF2B5EF4-FFF2-40B4-BE49-F238E27FC236}">
                  <a16:creationId xmlns:a16="http://schemas.microsoft.com/office/drawing/2014/main" id="{F7BB8A40-C118-4F17-8034-85609C56FBDC}"/>
                </a:ext>
              </a:extLst>
            </p:cNvPr>
            <p:cNvGrpSpPr/>
            <p:nvPr/>
          </p:nvGrpSpPr>
          <p:grpSpPr>
            <a:xfrm>
              <a:off x="9099602" y="7502938"/>
              <a:ext cx="588645" cy="767714"/>
              <a:chOff x="9099602" y="7502938"/>
              <a:chExt cx="588645" cy="767714"/>
            </a:xfrm>
            <a:solidFill>
              <a:srgbClr val="7A003C"/>
            </a:solidFill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4F238B4-AF73-1E5C-AE39-FF4730FD9E1B}"/>
                  </a:ext>
                </a:extLst>
              </p:cNvPr>
              <p:cNvSpPr/>
              <p:nvPr/>
            </p:nvSpPr>
            <p:spPr>
              <a:xfrm>
                <a:off x="9099602" y="7840123"/>
                <a:ext cx="588645" cy="430529"/>
              </a:xfrm>
              <a:custGeom>
                <a:avLst/>
                <a:gdLst>
                  <a:gd name="connsiteX0" fmla="*/ 294323 w 588645"/>
                  <a:gd name="connsiteY0" fmla="*/ 0 h 430529"/>
                  <a:gd name="connsiteX1" fmla="*/ 0 w 588645"/>
                  <a:gd name="connsiteY1" fmla="*/ 291465 h 430529"/>
                  <a:gd name="connsiteX2" fmla="*/ 0 w 588645"/>
                  <a:gd name="connsiteY2" fmla="*/ 371475 h 430529"/>
                  <a:gd name="connsiteX3" fmla="*/ 59055 w 588645"/>
                  <a:gd name="connsiteY3" fmla="*/ 430530 h 430529"/>
                  <a:gd name="connsiteX4" fmla="*/ 529590 w 588645"/>
                  <a:gd name="connsiteY4" fmla="*/ 430530 h 430529"/>
                  <a:gd name="connsiteX5" fmla="*/ 588645 w 588645"/>
                  <a:gd name="connsiteY5" fmla="*/ 371475 h 430529"/>
                  <a:gd name="connsiteX6" fmla="*/ 588645 w 588645"/>
                  <a:gd name="connsiteY6" fmla="*/ 291465 h 430529"/>
                  <a:gd name="connsiteX7" fmla="*/ 294323 w 588645"/>
                  <a:gd name="connsiteY7" fmla="*/ 0 h 430529"/>
                  <a:gd name="connsiteX8" fmla="*/ 549593 w 588645"/>
                  <a:gd name="connsiteY8" fmla="*/ 291465 h 430529"/>
                  <a:gd name="connsiteX9" fmla="*/ 549593 w 588645"/>
                  <a:gd name="connsiteY9" fmla="*/ 371475 h 430529"/>
                  <a:gd name="connsiteX10" fmla="*/ 529590 w 588645"/>
                  <a:gd name="connsiteY10" fmla="*/ 390525 h 430529"/>
                  <a:gd name="connsiteX11" fmla="*/ 59055 w 588645"/>
                  <a:gd name="connsiteY11" fmla="*/ 390525 h 430529"/>
                  <a:gd name="connsiteX12" fmla="*/ 39053 w 588645"/>
                  <a:gd name="connsiteY12" fmla="*/ 371475 h 430529"/>
                  <a:gd name="connsiteX13" fmla="*/ 39053 w 588645"/>
                  <a:gd name="connsiteY13" fmla="*/ 291465 h 430529"/>
                  <a:gd name="connsiteX14" fmla="*/ 294323 w 588645"/>
                  <a:gd name="connsiteY14" fmla="*/ 39052 h 430529"/>
                  <a:gd name="connsiteX15" fmla="*/ 474345 w 588645"/>
                  <a:gd name="connsiteY15" fmla="*/ 113348 h 430529"/>
                  <a:gd name="connsiteX16" fmla="*/ 549593 w 588645"/>
                  <a:gd name="connsiteY16" fmla="*/ 291465 h 430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88645" h="430529">
                    <a:moveTo>
                      <a:pt x="294323" y="0"/>
                    </a:moveTo>
                    <a:cubicBezTo>
                      <a:pt x="131445" y="0"/>
                      <a:pt x="0" y="130492"/>
                      <a:pt x="0" y="291465"/>
                    </a:cubicBezTo>
                    <a:lnTo>
                      <a:pt x="0" y="371475"/>
                    </a:lnTo>
                    <a:cubicBezTo>
                      <a:pt x="0" y="403860"/>
                      <a:pt x="26670" y="430530"/>
                      <a:pt x="59055" y="430530"/>
                    </a:cubicBezTo>
                    <a:lnTo>
                      <a:pt x="529590" y="430530"/>
                    </a:lnTo>
                    <a:cubicBezTo>
                      <a:pt x="561975" y="430530"/>
                      <a:pt x="588645" y="403860"/>
                      <a:pt x="588645" y="371475"/>
                    </a:cubicBezTo>
                    <a:lnTo>
                      <a:pt x="588645" y="291465"/>
                    </a:lnTo>
                    <a:cubicBezTo>
                      <a:pt x="588645" y="130492"/>
                      <a:pt x="457200" y="0"/>
                      <a:pt x="294323" y="0"/>
                    </a:cubicBezTo>
                    <a:close/>
                    <a:moveTo>
                      <a:pt x="549593" y="291465"/>
                    </a:moveTo>
                    <a:lnTo>
                      <a:pt x="549593" y="371475"/>
                    </a:lnTo>
                    <a:cubicBezTo>
                      <a:pt x="549593" y="381953"/>
                      <a:pt x="541020" y="390525"/>
                      <a:pt x="529590" y="390525"/>
                    </a:cubicBezTo>
                    <a:lnTo>
                      <a:pt x="59055" y="390525"/>
                    </a:lnTo>
                    <a:cubicBezTo>
                      <a:pt x="48578" y="390525"/>
                      <a:pt x="39053" y="381953"/>
                      <a:pt x="39053" y="371475"/>
                    </a:cubicBezTo>
                    <a:lnTo>
                      <a:pt x="39053" y="291465"/>
                    </a:lnTo>
                    <a:cubicBezTo>
                      <a:pt x="39053" y="152400"/>
                      <a:pt x="153353" y="39052"/>
                      <a:pt x="294323" y="39052"/>
                    </a:cubicBezTo>
                    <a:cubicBezTo>
                      <a:pt x="361950" y="39052"/>
                      <a:pt x="426720" y="65722"/>
                      <a:pt x="474345" y="113348"/>
                    </a:cubicBezTo>
                    <a:cubicBezTo>
                      <a:pt x="522923" y="160973"/>
                      <a:pt x="549593" y="224790"/>
                      <a:pt x="549593" y="291465"/>
                    </a:cubicBezTo>
                    <a:close/>
                  </a:path>
                </a:pathLst>
              </a:custGeom>
              <a:solidFill>
                <a:srgbClr val="7A00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F2CCE94F-F1A6-C988-FBCE-9C3D27F34B9A}"/>
                  </a:ext>
                </a:extLst>
              </p:cNvPr>
              <p:cNvSpPr/>
              <p:nvPr/>
            </p:nvSpPr>
            <p:spPr>
              <a:xfrm>
                <a:off x="9225332" y="7502938"/>
                <a:ext cx="325755" cy="321944"/>
              </a:xfrm>
              <a:custGeom>
                <a:avLst/>
                <a:gdLst>
                  <a:gd name="connsiteX0" fmla="*/ 162878 w 325755"/>
                  <a:gd name="connsiteY0" fmla="*/ 321945 h 321944"/>
                  <a:gd name="connsiteX1" fmla="*/ 325755 w 325755"/>
                  <a:gd name="connsiteY1" fmla="*/ 160973 h 321944"/>
                  <a:gd name="connsiteX2" fmla="*/ 162878 w 325755"/>
                  <a:gd name="connsiteY2" fmla="*/ 0 h 321944"/>
                  <a:gd name="connsiteX3" fmla="*/ 0 w 325755"/>
                  <a:gd name="connsiteY3" fmla="*/ 160973 h 321944"/>
                  <a:gd name="connsiteX4" fmla="*/ 162878 w 325755"/>
                  <a:gd name="connsiteY4" fmla="*/ 321945 h 321944"/>
                  <a:gd name="connsiteX5" fmla="*/ 39053 w 325755"/>
                  <a:gd name="connsiteY5" fmla="*/ 160973 h 321944"/>
                  <a:gd name="connsiteX6" fmla="*/ 161925 w 325755"/>
                  <a:gd name="connsiteY6" fmla="*/ 39053 h 321944"/>
                  <a:gd name="connsiteX7" fmla="*/ 284797 w 325755"/>
                  <a:gd name="connsiteY7" fmla="*/ 160973 h 321944"/>
                  <a:gd name="connsiteX8" fmla="*/ 161925 w 325755"/>
                  <a:gd name="connsiteY8" fmla="*/ 282893 h 321944"/>
                  <a:gd name="connsiteX9" fmla="*/ 39053 w 325755"/>
                  <a:gd name="connsiteY9" fmla="*/ 160973 h 32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5755" h="321944">
                    <a:moveTo>
                      <a:pt x="162878" y="321945"/>
                    </a:moveTo>
                    <a:cubicBezTo>
                      <a:pt x="252413" y="321945"/>
                      <a:pt x="325755" y="249555"/>
                      <a:pt x="325755" y="160973"/>
                    </a:cubicBezTo>
                    <a:cubicBezTo>
                      <a:pt x="325755" y="72390"/>
                      <a:pt x="252413" y="0"/>
                      <a:pt x="162878" y="0"/>
                    </a:cubicBezTo>
                    <a:cubicBezTo>
                      <a:pt x="73343" y="0"/>
                      <a:pt x="0" y="71438"/>
                      <a:pt x="0" y="160973"/>
                    </a:cubicBezTo>
                    <a:cubicBezTo>
                      <a:pt x="0" y="249555"/>
                      <a:pt x="72390" y="321945"/>
                      <a:pt x="162878" y="321945"/>
                    </a:cubicBezTo>
                    <a:close/>
                    <a:moveTo>
                      <a:pt x="39053" y="160973"/>
                    </a:moveTo>
                    <a:cubicBezTo>
                      <a:pt x="39053" y="94298"/>
                      <a:pt x="94298" y="39053"/>
                      <a:pt x="161925" y="39053"/>
                    </a:cubicBezTo>
                    <a:cubicBezTo>
                      <a:pt x="229553" y="39053"/>
                      <a:pt x="284797" y="93345"/>
                      <a:pt x="284797" y="160973"/>
                    </a:cubicBezTo>
                    <a:cubicBezTo>
                      <a:pt x="284797" y="227648"/>
                      <a:pt x="229553" y="282893"/>
                      <a:pt x="161925" y="282893"/>
                    </a:cubicBezTo>
                    <a:cubicBezTo>
                      <a:pt x="94298" y="282893"/>
                      <a:pt x="39053" y="227648"/>
                      <a:pt x="39053" y="160973"/>
                    </a:cubicBezTo>
                    <a:close/>
                  </a:path>
                </a:pathLst>
              </a:custGeom>
              <a:solidFill>
                <a:srgbClr val="7A00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87B8675-2F57-5A36-48F7-A2E031E0C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62150" y="4976718"/>
            <a:ext cx="369696" cy="329868"/>
            <a:chOff x="7508988" y="7469512"/>
            <a:chExt cx="977928" cy="872576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1E22B78-E447-FED9-C623-5A0F5BE3518D}"/>
                </a:ext>
              </a:extLst>
            </p:cNvPr>
            <p:cNvSpPr/>
            <p:nvPr/>
          </p:nvSpPr>
          <p:spPr>
            <a:xfrm>
              <a:off x="7872822" y="7754396"/>
              <a:ext cx="251459" cy="251460"/>
            </a:xfrm>
            <a:custGeom>
              <a:avLst/>
              <a:gdLst>
                <a:gd name="connsiteX0" fmla="*/ 217170 w 251459"/>
                <a:gd name="connsiteY0" fmla="*/ 91440 h 251460"/>
                <a:gd name="connsiteX1" fmla="*/ 160020 w 251459"/>
                <a:gd name="connsiteY1" fmla="*/ 91440 h 251460"/>
                <a:gd name="connsiteX2" fmla="*/ 160020 w 251459"/>
                <a:gd name="connsiteY2" fmla="*/ 34290 h 251460"/>
                <a:gd name="connsiteX3" fmla="*/ 125730 w 251459"/>
                <a:gd name="connsiteY3" fmla="*/ 0 h 251460"/>
                <a:gd name="connsiteX4" fmla="*/ 91440 w 251459"/>
                <a:gd name="connsiteY4" fmla="*/ 34290 h 251460"/>
                <a:gd name="connsiteX5" fmla="*/ 91440 w 251459"/>
                <a:gd name="connsiteY5" fmla="*/ 91440 h 251460"/>
                <a:gd name="connsiteX6" fmla="*/ 34290 w 251459"/>
                <a:gd name="connsiteY6" fmla="*/ 91440 h 251460"/>
                <a:gd name="connsiteX7" fmla="*/ 0 w 251459"/>
                <a:gd name="connsiteY7" fmla="*/ 125730 h 251460"/>
                <a:gd name="connsiteX8" fmla="*/ 34290 w 251459"/>
                <a:gd name="connsiteY8" fmla="*/ 160020 h 251460"/>
                <a:gd name="connsiteX9" fmla="*/ 91440 w 251459"/>
                <a:gd name="connsiteY9" fmla="*/ 160020 h 251460"/>
                <a:gd name="connsiteX10" fmla="*/ 91440 w 251459"/>
                <a:gd name="connsiteY10" fmla="*/ 217170 h 251460"/>
                <a:gd name="connsiteX11" fmla="*/ 125730 w 251459"/>
                <a:gd name="connsiteY11" fmla="*/ 251460 h 251460"/>
                <a:gd name="connsiteX12" fmla="*/ 160020 w 251459"/>
                <a:gd name="connsiteY12" fmla="*/ 217170 h 251460"/>
                <a:gd name="connsiteX13" fmla="*/ 160020 w 251459"/>
                <a:gd name="connsiteY13" fmla="*/ 160020 h 251460"/>
                <a:gd name="connsiteX14" fmla="*/ 217170 w 251459"/>
                <a:gd name="connsiteY14" fmla="*/ 160020 h 251460"/>
                <a:gd name="connsiteX15" fmla="*/ 251460 w 251459"/>
                <a:gd name="connsiteY15" fmla="*/ 125730 h 251460"/>
                <a:gd name="connsiteX16" fmla="*/ 217170 w 251459"/>
                <a:gd name="connsiteY16" fmla="*/ 91440 h 25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459" h="251460">
                  <a:moveTo>
                    <a:pt x="217170" y="91440"/>
                  </a:moveTo>
                  <a:lnTo>
                    <a:pt x="160020" y="91440"/>
                  </a:lnTo>
                  <a:lnTo>
                    <a:pt x="160020" y="34290"/>
                  </a:lnTo>
                  <a:cubicBezTo>
                    <a:pt x="160020" y="15240"/>
                    <a:pt x="144780" y="0"/>
                    <a:pt x="125730" y="0"/>
                  </a:cubicBezTo>
                  <a:cubicBezTo>
                    <a:pt x="106680" y="0"/>
                    <a:pt x="91440" y="15240"/>
                    <a:pt x="91440" y="34290"/>
                  </a:cubicBezTo>
                  <a:lnTo>
                    <a:pt x="91440" y="91440"/>
                  </a:lnTo>
                  <a:lnTo>
                    <a:pt x="34290" y="91440"/>
                  </a:lnTo>
                  <a:cubicBezTo>
                    <a:pt x="15240" y="91440"/>
                    <a:pt x="0" y="106680"/>
                    <a:pt x="0" y="125730"/>
                  </a:cubicBezTo>
                  <a:cubicBezTo>
                    <a:pt x="0" y="144780"/>
                    <a:pt x="15240" y="160020"/>
                    <a:pt x="34290" y="160020"/>
                  </a:cubicBezTo>
                  <a:lnTo>
                    <a:pt x="91440" y="160020"/>
                  </a:lnTo>
                  <a:lnTo>
                    <a:pt x="91440" y="217170"/>
                  </a:lnTo>
                  <a:cubicBezTo>
                    <a:pt x="91440" y="236220"/>
                    <a:pt x="106680" y="251460"/>
                    <a:pt x="125730" y="251460"/>
                  </a:cubicBezTo>
                  <a:cubicBezTo>
                    <a:pt x="144780" y="251460"/>
                    <a:pt x="160020" y="236220"/>
                    <a:pt x="160020" y="217170"/>
                  </a:cubicBezTo>
                  <a:lnTo>
                    <a:pt x="160020" y="160020"/>
                  </a:lnTo>
                  <a:lnTo>
                    <a:pt x="217170" y="160020"/>
                  </a:lnTo>
                  <a:cubicBezTo>
                    <a:pt x="236220" y="160020"/>
                    <a:pt x="251460" y="144780"/>
                    <a:pt x="251460" y="125730"/>
                  </a:cubicBezTo>
                  <a:cubicBezTo>
                    <a:pt x="251460" y="106680"/>
                    <a:pt x="236220" y="91440"/>
                    <a:pt x="217170" y="91440"/>
                  </a:cubicBezTo>
                  <a:close/>
                </a:path>
              </a:pathLst>
            </a:custGeom>
            <a:solidFill>
              <a:srgbClr val="7A003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3B33A4A-3E07-33B6-1AB6-081EDDA22781}"/>
                </a:ext>
              </a:extLst>
            </p:cNvPr>
            <p:cNvSpPr/>
            <p:nvPr/>
          </p:nvSpPr>
          <p:spPr>
            <a:xfrm>
              <a:off x="7508988" y="7469512"/>
              <a:ext cx="977928" cy="872576"/>
            </a:xfrm>
            <a:custGeom>
              <a:avLst/>
              <a:gdLst>
                <a:gd name="connsiteX0" fmla="*/ 489564 w 977928"/>
                <a:gd name="connsiteY0" fmla="*/ 872577 h 872576"/>
                <a:gd name="connsiteX1" fmla="*/ 467656 w 977928"/>
                <a:gd name="connsiteY1" fmla="*/ 863052 h 872576"/>
                <a:gd name="connsiteX2" fmla="*/ 87609 w 977928"/>
                <a:gd name="connsiteY2" fmla="*/ 483957 h 872576"/>
                <a:gd name="connsiteX3" fmla="*/ 59034 w 977928"/>
                <a:gd name="connsiteY3" fmla="*/ 102004 h 872576"/>
                <a:gd name="connsiteX4" fmla="*/ 260964 w 977928"/>
                <a:gd name="connsiteY4" fmla="*/ 87 h 872576"/>
                <a:gd name="connsiteX5" fmla="*/ 273346 w 977928"/>
                <a:gd name="connsiteY5" fmla="*/ 87 h 872576"/>
                <a:gd name="connsiteX6" fmla="*/ 470514 w 977928"/>
                <a:gd name="connsiteY6" fmla="*/ 82002 h 872576"/>
                <a:gd name="connsiteX7" fmla="*/ 506709 w 977928"/>
                <a:gd name="connsiteY7" fmla="*/ 82002 h 872576"/>
                <a:gd name="connsiteX8" fmla="*/ 716259 w 977928"/>
                <a:gd name="connsiteY8" fmla="*/ 87 h 872576"/>
                <a:gd name="connsiteX9" fmla="*/ 918189 w 977928"/>
                <a:gd name="connsiteY9" fmla="*/ 102004 h 872576"/>
                <a:gd name="connsiteX10" fmla="*/ 889614 w 977928"/>
                <a:gd name="connsiteY10" fmla="*/ 483957 h 872576"/>
                <a:gd name="connsiteX11" fmla="*/ 509566 w 977928"/>
                <a:gd name="connsiteY11" fmla="*/ 864004 h 872576"/>
                <a:gd name="connsiteX12" fmla="*/ 489564 w 977928"/>
                <a:gd name="connsiteY12" fmla="*/ 872577 h 872576"/>
                <a:gd name="connsiteX13" fmla="*/ 261916 w 977928"/>
                <a:gd name="connsiteY13" fmla="*/ 33424 h 872576"/>
                <a:gd name="connsiteX14" fmla="*/ 84751 w 977928"/>
                <a:gd name="connsiteY14" fmla="*/ 122959 h 872576"/>
                <a:gd name="connsiteX15" fmla="*/ 111421 w 977928"/>
                <a:gd name="connsiteY15" fmla="*/ 460144 h 872576"/>
                <a:gd name="connsiteX16" fmla="*/ 489564 w 977928"/>
                <a:gd name="connsiteY16" fmla="*/ 838287 h 872576"/>
                <a:gd name="connsiteX17" fmla="*/ 867706 w 977928"/>
                <a:gd name="connsiteY17" fmla="*/ 460144 h 872576"/>
                <a:gd name="connsiteX18" fmla="*/ 893424 w 977928"/>
                <a:gd name="connsiteY18" fmla="*/ 122959 h 872576"/>
                <a:gd name="connsiteX19" fmla="*/ 715306 w 977928"/>
                <a:gd name="connsiteY19" fmla="*/ 33424 h 872576"/>
                <a:gd name="connsiteX20" fmla="*/ 530521 w 977928"/>
                <a:gd name="connsiteY20" fmla="*/ 104862 h 872576"/>
                <a:gd name="connsiteX21" fmla="*/ 446701 w 977928"/>
                <a:gd name="connsiteY21" fmla="*/ 104862 h 872576"/>
                <a:gd name="connsiteX22" fmla="*/ 273346 w 977928"/>
                <a:gd name="connsiteY22" fmla="*/ 33424 h 872576"/>
                <a:gd name="connsiteX23" fmla="*/ 261916 w 977928"/>
                <a:gd name="connsiteY23" fmla="*/ 33424 h 87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77928" h="872576">
                  <a:moveTo>
                    <a:pt x="489564" y="872577"/>
                  </a:moveTo>
                  <a:cubicBezTo>
                    <a:pt x="481944" y="872577"/>
                    <a:pt x="474324" y="869719"/>
                    <a:pt x="467656" y="863052"/>
                  </a:cubicBezTo>
                  <a:lnTo>
                    <a:pt x="87609" y="483957"/>
                  </a:lnTo>
                  <a:cubicBezTo>
                    <a:pt x="-17166" y="379182"/>
                    <a:pt x="-29549" y="210589"/>
                    <a:pt x="59034" y="102004"/>
                  </a:cubicBezTo>
                  <a:cubicBezTo>
                    <a:pt x="110469" y="40092"/>
                    <a:pt x="182859" y="3897"/>
                    <a:pt x="260964" y="87"/>
                  </a:cubicBezTo>
                  <a:lnTo>
                    <a:pt x="273346" y="87"/>
                  </a:lnTo>
                  <a:cubicBezTo>
                    <a:pt x="346689" y="87"/>
                    <a:pt x="418126" y="29614"/>
                    <a:pt x="470514" y="82002"/>
                  </a:cubicBezTo>
                  <a:cubicBezTo>
                    <a:pt x="480991" y="92479"/>
                    <a:pt x="497184" y="92479"/>
                    <a:pt x="506709" y="82002"/>
                  </a:cubicBezTo>
                  <a:cubicBezTo>
                    <a:pt x="561001" y="27709"/>
                    <a:pt x="637201" y="-1818"/>
                    <a:pt x="716259" y="87"/>
                  </a:cubicBezTo>
                  <a:cubicBezTo>
                    <a:pt x="795316" y="3897"/>
                    <a:pt x="866754" y="40092"/>
                    <a:pt x="918189" y="102004"/>
                  </a:cubicBezTo>
                  <a:cubicBezTo>
                    <a:pt x="1007724" y="211542"/>
                    <a:pt x="995341" y="379182"/>
                    <a:pt x="889614" y="483957"/>
                  </a:cubicBezTo>
                  <a:lnTo>
                    <a:pt x="509566" y="864004"/>
                  </a:lnTo>
                  <a:cubicBezTo>
                    <a:pt x="504804" y="869719"/>
                    <a:pt x="497184" y="872577"/>
                    <a:pt x="489564" y="872577"/>
                  </a:cubicBezTo>
                  <a:close/>
                  <a:moveTo>
                    <a:pt x="261916" y="33424"/>
                  </a:moveTo>
                  <a:cubicBezTo>
                    <a:pt x="193336" y="36282"/>
                    <a:pt x="130471" y="68667"/>
                    <a:pt x="84751" y="122959"/>
                  </a:cubicBezTo>
                  <a:cubicBezTo>
                    <a:pt x="6646" y="219162"/>
                    <a:pt x="18076" y="366799"/>
                    <a:pt x="111421" y="460144"/>
                  </a:cubicBezTo>
                  <a:lnTo>
                    <a:pt x="489564" y="838287"/>
                  </a:lnTo>
                  <a:lnTo>
                    <a:pt x="867706" y="460144"/>
                  </a:lnTo>
                  <a:cubicBezTo>
                    <a:pt x="961051" y="366799"/>
                    <a:pt x="972481" y="219162"/>
                    <a:pt x="893424" y="122959"/>
                  </a:cubicBezTo>
                  <a:cubicBezTo>
                    <a:pt x="847704" y="68667"/>
                    <a:pt x="784839" y="37234"/>
                    <a:pt x="715306" y="33424"/>
                  </a:cubicBezTo>
                  <a:cubicBezTo>
                    <a:pt x="645774" y="31519"/>
                    <a:pt x="579099" y="57237"/>
                    <a:pt x="530521" y="104862"/>
                  </a:cubicBezTo>
                  <a:cubicBezTo>
                    <a:pt x="507661" y="127722"/>
                    <a:pt x="469561" y="127722"/>
                    <a:pt x="446701" y="104862"/>
                  </a:cubicBezTo>
                  <a:cubicBezTo>
                    <a:pt x="400981" y="59142"/>
                    <a:pt x="338116" y="33424"/>
                    <a:pt x="273346" y="33424"/>
                  </a:cubicBezTo>
                  <a:lnTo>
                    <a:pt x="261916" y="3342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D99DB0E-AD7D-0E2F-7FC8-D7DF0F926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60934" y="5481877"/>
            <a:ext cx="372129" cy="406285"/>
            <a:chOff x="9446584" y="5459814"/>
            <a:chExt cx="984365" cy="107471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5EFC542-1B63-21B3-C6FA-FE13A0BE624F}"/>
                </a:ext>
              </a:extLst>
            </p:cNvPr>
            <p:cNvGrpSpPr/>
            <p:nvPr/>
          </p:nvGrpSpPr>
          <p:grpSpPr>
            <a:xfrm>
              <a:off x="9596465" y="5459814"/>
              <a:ext cx="707252" cy="706415"/>
              <a:chOff x="9596465" y="5459814"/>
              <a:chExt cx="707252" cy="706415"/>
            </a:xfrm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CB27E12-5684-511C-C261-C771642C1EC6}"/>
                  </a:ext>
                </a:extLst>
              </p:cNvPr>
              <p:cNvSpPr/>
              <p:nvPr/>
            </p:nvSpPr>
            <p:spPr>
              <a:xfrm>
                <a:off x="9596465" y="5459814"/>
                <a:ext cx="234484" cy="233485"/>
              </a:xfrm>
              <a:custGeom>
                <a:avLst/>
                <a:gdLst>
                  <a:gd name="connsiteX0" fmla="*/ 94536 w 234484"/>
                  <a:gd name="connsiteY0" fmla="*/ 233485 h 233485"/>
                  <a:gd name="connsiteX1" fmla="*/ 92862 w 234484"/>
                  <a:gd name="connsiteY1" fmla="*/ 233485 h 233485"/>
                  <a:gd name="connsiteX2" fmla="*/ 79469 w 234484"/>
                  <a:gd name="connsiteY2" fmla="*/ 225952 h 233485"/>
                  <a:gd name="connsiteX3" fmla="*/ 3298 w 234484"/>
                  <a:gd name="connsiteY3" fmla="*/ 118810 h 233485"/>
                  <a:gd name="connsiteX4" fmla="*/ 4972 w 234484"/>
                  <a:gd name="connsiteY4" fmla="*/ 96210 h 233485"/>
                  <a:gd name="connsiteX5" fmla="*/ 97047 w 234484"/>
                  <a:gd name="connsiteY5" fmla="*/ 4972 h 233485"/>
                  <a:gd name="connsiteX6" fmla="*/ 119647 w 234484"/>
                  <a:gd name="connsiteY6" fmla="*/ 3298 h 233485"/>
                  <a:gd name="connsiteX7" fmla="*/ 226789 w 234484"/>
                  <a:gd name="connsiteY7" fmla="*/ 79469 h 233485"/>
                  <a:gd name="connsiteX8" fmla="*/ 234322 w 234484"/>
                  <a:gd name="connsiteY8" fmla="*/ 92862 h 233485"/>
                  <a:gd name="connsiteX9" fmla="*/ 229300 w 234484"/>
                  <a:gd name="connsiteY9" fmla="*/ 107091 h 233485"/>
                  <a:gd name="connsiteX10" fmla="*/ 107091 w 234484"/>
                  <a:gd name="connsiteY10" fmla="*/ 228463 h 233485"/>
                  <a:gd name="connsiteX11" fmla="*/ 94536 w 234484"/>
                  <a:gd name="connsiteY11" fmla="*/ 233485 h 233485"/>
                  <a:gd name="connsiteX12" fmla="*/ 40965 w 234484"/>
                  <a:gd name="connsiteY12" fmla="*/ 110440 h 233485"/>
                  <a:gd name="connsiteX13" fmla="*/ 96210 w 234484"/>
                  <a:gd name="connsiteY13" fmla="*/ 187448 h 233485"/>
                  <a:gd name="connsiteX14" fmla="*/ 188285 w 234484"/>
                  <a:gd name="connsiteY14" fmla="*/ 95373 h 233485"/>
                  <a:gd name="connsiteX15" fmla="*/ 111277 w 234484"/>
                  <a:gd name="connsiteY15" fmla="*/ 40128 h 233485"/>
                  <a:gd name="connsiteX16" fmla="*/ 40965 w 234484"/>
                  <a:gd name="connsiteY16" fmla="*/ 110440 h 23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4484" h="233485">
                    <a:moveTo>
                      <a:pt x="94536" y="233485"/>
                    </a:moveTo>
                    <a:cubicBezTo>
                      <a:pt x="93699" y="233485"/>
                      <a:pt x="93699" y="233485"/>
                      <a:pt x="92862" y="233485"/>
                    </a:cubicBezTo>
                    <a:cubicBezTo>
                      <a:pt x="87839" y="232648"/>
                      <a:pt x="82817" y="230137"/>
                      <a:pt x="79469" y="225952"/>
                    </a:cubicBezTo>
                    <a:lnTo>
                      <a:pt x="3298" y="118810"/>
                    </a:lnTo>
                    <a:cubicBezTo>
                      <a:pt x="-1725" y="112114"/>
                      <a:pt x="-888" y="102069"/>
                      <a:pt x="4972" y="96210"/>
                    </a:cubicBezTo>
                    <a:lnTo>
                      <a:pt x="97047" y="4972"/>
                    </a:lnTo>
                    <a:cubicBezTo>
                      <a:pt x="102906" y="-888"/>
                      <a:pt x="112951" y="-1725"/>
                      <a:pt x="119647" y="3298"/>
                    </a:cubicBezTo>
                    <a:lnTo>
                      <a:pt x="226789" y="79469"/>
                    </a:lnTo>
                    <a:cubicBezTo>
                      <a:pt x="230974" y="82817"/>
                      <a:pt x="233485" y="87002"/>
                      <a:pt x="234322" y="92862"/>
                    </a:cubicBezTo>
                    <a:cubicBezTo>
                      <a:pt x="235159" y="97884"/>
                      <a:pt x="232648" y="102906"/>
                      <a:pt x="229300" y="107091"/>
                    </a:cubicBezTo>
                    <a:lnTo>
                      <a:pt x="107091" y="228463"/>
                    </a:lnTo>
                    <a:cubicBezTo>
                      <a:pt x="103743" y="231811"/>
                      <a:pt x="98721" y="233485"/>
                      <a:pt x="94536" y="233485"/>
                    </a:cubicBezTo>
                    <a:close/>
                    <a:moveTo>
                      <a:pt x="40965" y="110440"/>
                    </a:moveTo>
                    <a:lnTo>
                      <a:pt x="96210" y="187448"/>
                    </a:lnTo>
                    <a:lnTo>
                      <a:pt x="188285" y="95373"/>
                    </a:lnTo>
                    <a:lnTo>
                      <a:pt x="111277" y="40128"/>
                    </a:lnTo>
                    <a:lnTo>
                      <a:pt x="40965" y="110440"/>
                    </a:lnTo>
                    <a:close/>
                  </a:path>
                </a:pathLst>
              </a:custGeom>
              <a:solidFill>
                <a:srgbClr val="7A003C"/>
              </a:solidFill>
              <a:ln w="83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A9954E3-61AC-1DBA-18FD-24745B406B74}"/>
                  </a:ext>
                </a:extLst>
              </p:cNvPr>
              <p:cNvSpPr/>
              <p:nvPr/>
            </p:nvSpPr>
            <p:spPr>
              <a:xfrm>
                <a:off x="10085249" y="5947761"/>
                <a:ext cx="218468" cy="218468"/>
              </a:xfrm>
              <a:custGeom>
                <a:avLst/>
                <a:gdLst>
                  <a:gd name="connsiteX0" fmla="*/ 108816 w 218468"/>
                  <a:gd name="connsiteY0" fmla="*/ 218469 h 218468"/>
                  <a:gd name="connsiteX1" fmla="*/ 96260 w 218468"/>
                  <a:gd name="connsiteY1" fmla="*/ 213447 h 218468"/>
                  <a:gd name="connsiteX2" fmla="*/ 5022 w 218468"/>
                  <a:gd name="connsiteY2" fmla="*/ 121372 h 218468"/>
                  <a:gd name="connsiteX3" fmla="*/ 0 w 218468"/>
                  <a:gd name="connsiteY3" fmla="*/ 108816 h 218468"/>
                  <a:gd name="connsiteX4" fmla="*/ 5022 w 218468"/>
                  <a:gd name="connsiteY4" fmla="*/ 96260 h 218468"/>
                  <a:gd name="connsiteX5" fmla="*/ 96260 w 218468"/>
                  <a:gd name="connsiteY5" fmla="*/ 5022 h 218468"/>
                  <a:gd name="connsiteX6" fmla="*/ 121372 w 218468"/>
                  <a:gd name="connsiteY6" fmla="*/ 5022 h 218468"/>
                  <a:gd name="connsiteX7" fmla="*/ 213447 w 218468"/>
                  <a:gd name="connsiteY7" fmla="*/ 96260 h 218468"/>
                  <a:gd name="connsiteX8" fmla="*/ 218469 w 218468"/>
                  <a:gd name="connsiteY8" fmla="*/ 108816 h 218468"/>
                  <a:gd name="connsiteX9" fmla="*/ 213447 w 218468"/>
                  <a:gd name="connsiteY9" fmla="*/ 121372 h 218468"/>
                  <a:gd name="connsiteX10" fmla="*/ 121372 w 218468"/>
                  <a:gd name="connsiteY10" fmla="*/ 213447 h 218468"/>
                  <a:gd name="connsiteX11" fmla="*/ 108816 w 218468"/>
                  <a:gd name="connsiteY11" fmla="*/ 218469 h 218468"/>
                  <a:gd name="connsiteX12" fmla="*/ 42689 w 218468"/>
                  <a:gd name="connsiteY12" fmla="*/ 108816 h 218468"/>
                  <a:gd name="connsiteX13" fmla="*/ 108816 w 218468"/>
                  <a:gd name="connsiteY13" fmla="*/ 174942 h 218468"/>
                  <a:gd name="connsiteX14" fmla="*/ 174943 w 218468"/>
                  <a:gd name="connsiteY14" fmla="*/ 108816 h 218468"/>
                  <a:gd name="connsiteX15" fmla="*/ 108816 w 218468"/>
                  <a:gd name="connsiteY15" fmla="*/ 42689 h 218468"/>
                  <a:gd name="connsiteX16" fmla="*/ 42689 w 218468"/>
                  <a:gd name="connsiteY16" fmla="*/ 108816 h 21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8468" h="218468">
                    <a:moveTo>
                      <a:pt x="108816" y="218469"/>
                    </a:moveTo>
                    <a:cubicBezTo>
                      <a:pt x="104631" y="218469"/>
                      <a:pt x="99608" y="216795"/>
                      <a:pt x="96260" y="213447"/>
                    </a:cubicBezTo>
                    <a:lnTo>
                      <a:pt x="5022" y="121372"/>
                    </a:lnTo>
                    <a:cubicBezTo>
                      <a:pt x="1674" y="118023"/>
                      <a:pt x="0" y="113838"/>
                      <a:pt x="0" y="108816"/>
                    </a:cubicBezTo>
                    <a:cubicBezTo>
                      <a:pt x="0" y="103794"/>
                      <a:pt x="1674" y="99608"/>
                      <a:pt x="5022" y="96260"/>
                    </a:cubicBezTo>
                    <a:lnTo>
                      <a:pt x="96260" y="5022"/>
                    </a:lnTo>
                    <a:cubicBezTo>
                      <a:pt x="102957" y="-1674"/>
                      <a:pt x="114675" y="-1674"/>
                      <a:pt x="121372" y="5022"/>
                    </a:cubicBezTo>
                    <a:lnTo>
                      <a:pt x="213447" y="96260"/>
                    </a:lnTo>
                    <a:cubicBezTo>
                      <a:pt x="216795" y="99608"/>
                      <a:pt x="218469" y="103794"/>
                      <a:pt x="218469" y="108816"/>
                    </a:cubicBezTo>
                    <a:cubicBezTo>
                      <a:pt x="218469" y="113838"/>
                      <a:pt x="216795" y="118023"/>
                      <a:pt x="213447" y="121372"/>
                    </a:cubicBezTo>
                    <a:lnTo>
                      <a:pt x="121372" y="213447"/>
                    </a:lnTo>
                    <a:cubicBezTo>
                      <a:pt x="118023" y="216795"/>
                      <a:pt x="113838" y="218469"/>
                      <a:pt x="108816" y="218469"/>
                    </a:cubicBezTo>
                    <a:close/>
                    <a:moveTo>
                      <a:pt x="42689" y="108816"/>
                    </a:moveTo>
                    <a:lnTo>
                      <a:pt x="108816" y="174942"/>
                    </a:lnTo>
                    <a:lnTo>
                      <a:pt x="174943" y="108816"/>
                    </a:lnTo>
                    <a:lnTo>
                      <a:pt x="108816" y="42689"/>
                    </a:lnTo>
                    <a:lnTo>
                      <a:pt x="42689" y="108816"/>
                    </a:lnTo>
                    <a:close/>
                  </a:path>
                </a:pathLst>
              </a:custGeom>
              <a:solidFill>
                <a:srgbClr val="7A003C"/>
              </a:solidFill>
              <a:ln w="83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" name="Graphic 102">
              <a:extLst>
                <a:ext uri="{FF2B5EF4-FFF2-40B4-BE49-F238E27FC236}">
                  <a16:creationId xmlns:a16="http://schemas.microsoft.com/office/drawing/2014/main" id="{25195CC2-F02F-955C-6361-89FADB668229}"/>
                </a:ext>
              </a:extLst>
            </p:cNvPr>
            <p:cNvGrpSpPr/>
            <p:nvPr/>
          </p:nvGrpSpPr>
          <p:grpSpPr>
            <a:xfrm>
              <a:off x="9446584" y="5523379"/>
              <a:ext cx="984365" cy="1011150"/>
              <a:chOff x="9446584" y="5523379"/>
              <a:chExt cx="984365" cy="1011150"/>
            </a:xfrm>
            <a:solidFill>
              <a:srgbClr val="000000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F9AB1C3C-0175-6841-D6B6-D00FB04B6ABF}"/>
                  </a:ext>
                </a:extLst>
              </p:cNvPr>
              <p:cNvSpPr/>
              <p:nvPr/>
            </p:nvSpPr>
            <p:spPr>
              <a:xfrm>
                <a:off x="9861758" y="6350380"/>
                <a:ext cx="65289" cy="65289"/>
              </a:xfrm>
              <a:custGeom>
                <a:avLst/>
                <a:gdLst>
                  <a:gd name="connsiteX0" fmla="*/ 65290 w 65289"/>
                  <a:gd name="connsiteY0" fmla="*/ 32645 h 65289"/>
                  <a:gd name="connsiteX1" fmla="*/ 32645 w 65289"/>
                  <a:gd name="connsiteY1" fmla="*/ 65290 h 65289"/>
                  <a:gd name="connsiteX2" fmla="*/ 0 w 65289"/>
                  <a:gd name="connsiteY2" fmla="*/ 32645 h 65289"/>
                  <a:gd name="connsiteX3" fmla="*/ 32645 w 65289"/>
                  <a:gd name="connsiteY3" fmla="*/ 0 h 65289"/>
                  <a:gd name="connsiteX4" fmla="*/ 65290 w 65289"/>
                  <a:gd name="connsiteY4" fmla="*/ 32645 h 65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89" h="65289">
                    <a:moveTo>
                      <a:pt x="65290" y="32645"/>
                    </a:moveTo>
                    <a:cubicBezTo>
                      <a:pt x="65290" y="50223"/>
                      <a:pt x="51060" y="65290"/>
                      <a:pt x="32645" y="65290"/>
                    </a:cubicBezTo>
                    <a:cubicBezTo>
                      <a:pt x="15067" y="65290"/>
                      <a:pt x="0" y="51060"/>
                      <a:pt x="0" y="32645"/>
                    </a:cubicBezTo>
                    <a:cubicBezTo>
                      <a:pt x="0" y="15067"/>
                      <a:pt x="14230" y="0"/>
                      <a:pt x="32645" y="0"/>
                    </a:cubicBezTo>
                    <a:cubicBezTo>
                      <a:pt x="51060" y="0"/>
                      <a:pt x="65290" y="15067"/>
                      <a:pt x="65290" y="326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3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088AFCFA-F290-98F5-E99C-08FA3BA9D58B}"/>
                  </a:ext>
                </a:extLst>
              </p:cNvPr>
              <p:cNvSpPr/>
              <p:nvPr/>
            </p:nvSpPr>
            <p:spPr>
              <a:xfrm>
                <a:off x="9446584" y="5523379"/>
                <a:ext cx="984365" cy="1011150"/>
              </a:xfrm>
              <a:custGeom>
                <a:avLst/>
                <a:gdLst>
                  <a:gd name="connsiteX0" fmla="*/ 965950 w 984365"/>
                  <a:gd name="connsiteY0" fmla="*/ 712326 h 1011150"/>
                  <a:gd name="connsiteX1" fmla="*/ 836208 w 984365"/>
                  <a:gd name="connsiteY1" fmla="*/ 712326 h 1011150"/>
                  <a:gd name="connsiteX2" fmla="*/ 750830 w 984365"/>
                  <a:gd name="connsiteY2" fmla="*/ 712326 h 1011150"/>
                  <a:gd name="connsiteX3" fmla="*/ 534872 w 984365"/>
                  <a:gd name="connsiteY3" fmla="*/ 712326 h 1011150"/>
                  <a:gd name="connsiteX4" fmla="*/ 363278 w 984365"/>
                  <a:gd name="connsiteY4" fmla="*/ 712326 h 1011150"/>
                  <a:gd name="connsiteX5" fmla="*/ 362441 w 984365"/>
                  <a:gd name="connsiteY5" fmla="*/ 712326 h 1011150"/>
                  <a:gd name="connsiteX6" fmla="*/ 298825 w 984365"/>
                  <a:gd name="connsiteY6" fmla="*/ 712326 h 1011150"/>
                  <a:gd name="connsiteX7" fmla="*/ 165735 w 984365"/>
                  <a:gd name="connsiteY7" fmla="*/ 579235 h 1011150"/>
                  <a:gd name="connsiteX8" fmla="*/ 298825 w 984365"/>
                  <a:gd name="connsiteY8" fmla="*/ 446145 h 1011150"/>
                  <a:gd name="connsiteX9" fmla="*/ 333144 w 984365"/>
                  <a:gd name="connsiteY9" fmla="*/ 446145 h 1011150"/>
                  <a:gd name="connsiteX10" fmla="*/ 427730 w 984365"/>
                  <a:gd name="connsiteY10" fmla="*/ 489672 h 1011150"/>
                  <a:gd name="connsiteX11" fmla="*/ 482975 w 984365"/>
                  <a:gd name="connsiteY11" fmla="*/ 476279 h 1011150"/>
                  <a:gd name="connsiteX12" fmla="*/ 567517 w 984365"/>
                  <a:gd name="connsiteY12" fmla="*/ 560820 h 1011150"/>
                  <a:gd name="connsiteX13" fmla="*/ 610206 w 984365"/>
                  <a:gd name="connsiteY13" fmla="*/ 578398 h 1011150"/>
                  <a:gd name="connsiteX14" fmla="*/ 652895 w 984365"/>
                  <a:gd name="connsiteY14" fmla="*/ 560820 h 1011150"/>
                  <a:gd name="connsiteX15" fmla="*/ 775104 w 984365"/>
                  <a:gd name="connsiteY15" fmla="*/ 438612 h 1011150"/>
                  <a:gd name="connsiteX16" fmla="*/ 792682 w 984365"/>
                  <a:gd name="connsiteY16" fmla="*/ 395923 h 1011150"/>
                  <a:gd name="connsiteX17" fmla="*/ 775104 w 984365"/>
                  <a:gd name="connsiteY17" fmla="*/ 353233 h 1011150"/>
                  <a:gd name="connsiteX18" fmla="*/ 440286 w 984365"/>
                  <a:gd name="connsiteY18" fmla="*/ 17578 h 1011150"/>
                  <a:gd name="connsiteX19" fmla="*/ 354070 w 984365"/>
                  <a:gd name="connsiteY19" fmla="*/ 17578 h 1011150"/>
                  <a:gd name="connsiteX20" fmla="*/ 231862 w 984365"/>
                  <a:gd name="connsiteY20" fmla="*/ 139787 h 1011150"/>
                  <a:gd name="connsiteX21" fmla="*/ 231862 w 984365"/>
                  <a:gd name="connsiteY21" fmla="*/ 226002 h 1011150"/>
                  <a:gd name="connsiteX22" fmla="*/ 287944 w 984365"/>
                  <a:gd name="connsiteY22" fmla="*/ 282084 h 1011150"/>
                  <a:gd name="connsiteX23" fmla="*/ 0 w 984365"/>
                  <a:gd name="connsiteY23" fmla="*/ 579235 h 1011150"/>
                  <a:gd name="connsiteX24" fmla="*/ 295477 w 984365"/>
                  <a:gd name="connsiteY24" fmla="*/ 877224 h 1011150"/>
                  <a:gd name="connsiteX25" fmla="*/ 262832 w 984365"/>
                  <a:gd name="connsiteY25" fmla="*/ 975995 h 1011150"/>
                  <a:gd name="connsiteX26" fmla="*/ 232699 w 984365"/>
                  <a:gd name="connsiteY26" fmla="*/ 975995 h 1011150"/>
                  <a:gd name="connsiteX27" fmla="*/ 215121 w 984365"/>
                  <a:gd name="connsiteY27" fmla="*/ 993573 h 1011150"/>
                  <a:gd name="connsiteX28" fmla="*/ 232699 w 984365"/>
                  <a:gd name="connsiteY28" fmla="*/ 1011151 h 1011150"/>
                  <a:gd name="connsiteX29" fmla="*/ 276225 w 984365"/>
                  <a:gd name="connsiteY29" fmla="*/ 1011151 h 1011150"/>
                  <a:gd name="connsiteX30" fmla="*/ 621088 w 984365"/>
                  <a:gd name="connsiteY30" fmla="*/ 1011151 h 1011150"/>
                  <a:gd name="connsiteX31" fmla="*/ 664614 w 984365"/>
                  <a:gd name="connsiteY31" fmla="*/ 1011151 h 1011150"/>
                  <a:gd name="connsiteX32" fmla="*/ 682192 w 984365"/>
                  <a:gd name="connsiteY32" fmla="*/ 993573 h 1011150"/>
                  <a:gd name="connsiteX33" fmla="*/ 664614 w 984365"/>
                  <a:gd name="connsiteY33" fmla="*/ 975995 h 1011150"/>
                  <a:gd name="connsiteX34" fmla="*/ 634480 w 984365"/>
                  <a:gd name="connsiteY34" fmla="*/ 975995 h 1011150"/>
                  <a:gd name="connsiteX35" fmla="*/ 602673 w 984365"/>
                  <a:gd name="connsiteY35" fmla="*/ 878061 h 1011150"/>
                  <a:gd name="connsiteX36" fmla="*/ 708141 w 984365"/>
                  <a:gd name="connsiteY36" fmla="*/ 878061 h 1011150"/>
                  <a:gd name="connsiteX37" fmla="*/ 853786 w 984365"/>
                  <a:gd name="connsiteY37" fmla="*/ 748319 h 1011150"/>
                  <a:gd name="connsiteX38" fmla="*/ 966788 w 984365"/>
                  <a:gd name="connsiteY38" fmla="*/ 748319 h 1011150"/>
                  <a:gd name="connsiteX39" fmla="*/ 984366 w 984365"/>
                  <a:gd name="connsiteY39" fmla="*/ 730741 h 1011150"/>
                  <a:gd name="connsiteX40" fmla="*/ 965950 w 984365"/>
                  <a:gd name="connsiteY40" fmla="*/ 712326 h 1011150"/>
                  <a:gd name="connsiteX41" fmla="*/ 358255 w 984365"/>
                  <a:gd name="connsiteY41" fmla="*/ 421871 h 1011150"/>
                  <a:gd name="connsiteX42" fmla="*/ 352396 w 984365"/>
                  <a:gd name="connsiteY42" fmla="*/ 413500 h 1011150"/>
                  <a:gd name="connsiteX43" fmla="*/ 337329 w 984365"/>
                  <a:gd name="connsiteY43" fmla="*/ 363278 h 1011150"/>
                  <a:gd name="connsiteX44" fmla="*/ 352396 w 984365"/>
                  <a:gd name="connsiteY44" fmla="*/ 313055 h 1011150"/>
                  <a:gd name="connsiteX45" fmla="*/ 358255 w 984365"/>
                  <a:gd name="connsiteY45" fmla="*/ 304685 h 1011150"/>
                  <a:gd name="connsiteX46" fmla="*/ 426893 w 984365"/>
                  <a:gd name="connsiteY46" fmla="*/ 272877 h 1011150"/>
                  <a:gd name="connsiteX47" fmla="*/ 517294 w 984365"/>
                  <a:gd name="connsiteY47" fmla="*/ 363278 h 1011150"/>
                  <a:gd name="connsiteX48" fmla="*/ 477116 w 984365"/>
                  <a:gd name="connsiteY48" fmla="*/ 438612 h 1011150"/>
                  <a:gd name="connsiteX49" fmla="*/ 475442 w 984365"/>
                  <a:gd name="connsiteY49" fmla="*/ 439449 h 1011150"/>
                  <a:gd name="connsiteX50" fmla="*/ 426893 w 984365"/>
                  <a:gd name="connsiteY50" fmla="*/ 453679 h 1011150"/>
                  <a:gd name="connsiteX51" fmla="*/ 358255 w 984365"/>
                  <a:gd name="connsiteY51" fmla="*/ 421871 h 1011150"/>
                  <a:gd name="connsiteX52" fmla="*/ 256973 w 984365"/>
                  <a:gd name="connsiteY52" fmla="*/ 164898 h 1011150"/>
                  <a:gd name="connsiteX53" fmla="*/ 379182 w 984365"/>
                  <a:gd name="connsiteY53" fmla="*/ 42689 h 1011150"/>
                  <a:gd name="connsiteX54" fmla="*/ 415175 w 984365"/>
                  <a:gd name="connsiteY54" fmla="*/ 42689 h 1011150"/>
                  <a:gd name="connsiteX55" fmla="*/ 750830 w 984365"/>
                  <a:gd name="connsiteY55" fmla="*/ 378345 h 1011150"/>
                  <a:gd name="connsiteX56" fmla="*/ 758363 w 984365"/>
                  <a:gd name="connsiteY56" fmla="*/ 395923 h 1011150"/>
                  <a:gd name="connsiteX57" fmla="*/ 750830 w 984365"/>
                  <a:gd name="connsiteY57" fmla="*/ 413500 h 1011150"/>
                  <a:gd name="connsiteX58" fmla="*/ 628621 w 984365"/>
                  <a:gd name="connsiteY58" fmla="*/ 535709 h 1011150"/>
                  <a:gd name="connsiteX59" fmla="*/ 592628 w 984365"/>
                  <a:gd name="connsiteY59" fmla="*/ 535709 h 1011150"/>
                  <a:gd name="connsiteX60" fmla="*/ 512272 w 984365"/>
                  <a:gd name="connsiteY60" fmla="*/ 455353 h 1011150"/>
                  <a:gd name="connsiteX61" fmla="*/ 552450 w 984365"/>
                  <a:gd name="connsiteY61" fmla="*/ 363278 h 1011150"/>
                  <a:gd name="connsiteX62" fmla="*/ 426893 w 984365"/>
                  <a:gd name="connsiteY62" fmla="*/ 237721 h 1011150"/>
                  <a:gd name="connsiteX63" fmla="*/ 334818 w 984365"/>
                  <a:gd name="connsiteY63" fmla="*/ 277899 h 1011150"/>
                  <a:gd name="connsiteX64" fmla="*/ 256973 w 984365"/>
                  <a:gd name="connsiteY64" fmla="*/ 200054 h 1011150"/>
                  <a:gd name="connsiteX65" fmla="*/ 256973 w 984365"/>
                  <a:gd name="connsiteY65" fmla="*/ 164898 h 1011150"/>
                  <a:gd name="connsiteX66" fmla="*/ 297988 w 984365"/>
                  <a:gd name="connsiteY66" fmla="*/ 842068 h 1011150"/>
                  <a:gd name="connsiteX67" fmla="*/ 35156 w 984365"/>
                  <a:gd name="connsiteY67" fmla="*/ 579235 h 1011150"/>
                  <a:gd name="connsiteX68" fmla="*/ 297988 w 984365"/>
                  <a:gd name="connsiteY68" fmla="*/ 316403 h 1011150"/>
                  <a:gd name="connsiteX69" fmla="*/ 310544 w 984365"/>
                  <a:gd name="connsiteY69" fmla="*/ 316403 h 1011150"/>
                  <a:gd name="connsiteX70" fmla="*/ 301336 w 984365"/>
                  <a:gd name="connsiteY70" fmla="*/ 363278 h 1011150"/>
                  <a:gd name="connsiteX71" fmla="*/ 310544 w 984365"/>
                  <a:gd name="connsiteY71" fmla="*/ 410152 h 1011150"/>
                  <a:gd name="connsiteX72" fmla="*/ 297988 w 984365"/>
                  <a:gd name="connsiteY72" fmla="*/ 410152 h 1011150"/>
                  <a:gd name="connsiteX73" fmla="*/ 128905 w 984365"/>
                  <a:gd name="connsiteY73" fmla="*/ 579235 h 1011150"/>
                  <a:gd name="connsiteX74" fmla="*/ 297988 w 984365"/>
                  <a:gd name="connsiteY74" fmla="*/ 748319 h 1011150"/>
                  <a:gd name="connsiteX75" fmla="*/ 337329 w 984365"/>
                  <a:gd name="connsiteY75" fmla="*/ 748319 h 1011150"/>
                  <a:gd name="connsiteX76" fmla="*/ 307196 w 984365"/>
                  <a:gd name="connsiteY76" fmla="*/ 842068 h 1011150"/>
                  <a:gd name="connsiteX77" fmla="*/ 297988 w 984365"/>
                  <a:gd name="connsiteY77" fmla="*/ 842068 h 1011150"/>
                  <a:gd name="connsiteX78" fmla="*/ 300499 w 984365"/>
                  <a:gd name="connsiteY78" fmla="*/ 975995 h 1011150"/>
                  <a:gd name="connsiteX79" fmla="*/ 374996 w 984365"/>
                  <a:gd name="connsiteY79" fmla="*/ 748319 h 1011150"/>
                  <a:gd name="connsiteX80" fmla="*/ 521479 w 984365"/>
                  <a:gd name="connsiteY80" fmla="*/ 748319 h 1011150"/>
                  <a:gd name="connsiteX81" fmla="*/ 595976 w 984365"/>
                  <a:gd name="connsiteY81" fmla="*/ 975995 h 1011150"/>
                  <a:gd name="connsiteX82" fmla="*/ 300499 w 984365"/>
                  <a:gd name="connsiteY82" fmla="*/ 975995 h 1011150"/>
                  <a:gd name="connsiteX83" fmla="*/ 707303 w 984365"/>
                  <a:gd name="connsiteY83" fmla="*/ 842068 h 1011150"/>
                  <a:gd name="connsiteX84" fmla="*/ 590117 w 984365"/>
                  <a:gd name="connsiteY84" fmla="*/ 842068 h 1011150"/>
                  <a:gd name="connsiteX85" fmla="*/ 559146 w 984365"/>
                  <a:gd name="connsiteY85" fmla="*/ 748319 h 1011150"/>
                  <a:gd name="connsiteX86" fmla="*/ 749993 w 984365"/>
                  <a:gd name="connsiteY86" fmla="*/ 748319 h 1011150"/>
                  <a:gd name="connsiteX87" fmla="*/ 816956 w 984365"/>
                  <a:gd name="connsiteY87" fmla="*/ 748319 h 1011150"/>
                  <a:gd name="connsiteX88" fmla="*/ 707303 w 984365"/>
                  <a:gd name="connsiteY88" fmla="*/ 842068 h 1011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984365" h="1011150">
                    <a:moveTo>
                      <a:pt x="965950" y="712326"/>
                    </a:moveTo>
                    <a:lnTo>
                      <a:pt x="836208" y="712326"/>
                    </a:lnTo>
                    <a:lnTo>
                      <a:pt x="750830" y="712326"/>
                    </a:lnTo>
                    <a:lnTo>
                      <a:pt x="534872" y="712326"/>
                    </a:lnTo>
                    <a:lnTo>
                      <a:pt x="363278" y="712326"/>
                    </a:lnTo>
                    <a:lnTo>
                      <a:pt x="362441" y="712326"/>
                    </a:lnTo>
                    <a:lnTo>
                      <a:pt x="298825" y="712326"/>
                    </a:lnTo>
                    <a:cubicBezTo>
                      <a:pt x="225165" y="712326"/>
                      <a:pt x="165735" y="652895"/>
                      <a:pt x="165735" y="579235"/>
                    </a:cubicBezTo>
                    <a:cubicBezTo>
                      <a:pt x="165735" y="505575"/>
                      <a:pt x="225165" y="446145"/>
                      <a:pt x="298825" y="446145"/>
                    </a:cubicBezTo>
                    <a:lnTo>
                      <a:pt x="333144" y="446145"/>
                    </a:lnTo>
                    <a:cubicBezTo>
                      <a:pt x="356581" y="472931"/>
                      <a:pt x="390063" y="489672"/>
                      <a:pt x="427730" y="489672"/>
                    </a:cubicBezTo>
                    <a:cubicBezTo>
                      <a:pt x="447819" y="489672"/>
                      <a:pt x="466234" y="484649"/>
                      <a:pt x="482975" y="476279"/>
                    </a:cubicBezTo>
                    <a:lnTo>
                      <a:pt x="567517" y="560820"/>
                    </a:lnTo>
                    <a:cubicBezTo>
                      <a:pt x="579236" y="572539"/>
                      <a:pt x="594302" y="578398"/>
                      <a:pt x="610206" y="578398"/>
                    </a:cubicBezTo>
                    <a:cubicBezTo>
                      <a:pt x="626110" y="578398"/>
                      <a:pt x="642014" y="571702"/>
                      <a:pt x="652895" y="560820"/>
                    </a:cubicBezTo>
                    <a:lnTo>
                      <a:pt x="775104" y="438612"/>
                    </a:lnTo>
                    <a:cubicBezTo>
                      <a:pt x="786823" y="426893"/>
                      <a:pt x="792682" y="411826"/>
                      <a:pt x="792682" y="395923"/>
                    </a:cubicBezTo>
                    <a:cubicBezTo>
                      <a:pt x="792682" y="380019"/>
                      <a:pt x="785986" y="364115"/>
                      <a:pt x="775104" y="353233"/>
                    </a:cubicBezTo>
                    <a:lnTo>
                      <a:pt x="440286" y="17578"/>
                    </a:lnTo>
                    <a:cubicBezTo>
                      <a:pt x="416849" y="-5859"/>
                      <a:pt x="377508" y="-5859"/>
                      <a:pt x="354070" y="17578"/>
                    </a:cubicBezTo>
                    <a:lnTo>
                      <a:pt x="231862" y="139787"/>
                    </a:lnTo>
                    <a:cubicBezTo>
                      <a:pt x="208424" y="163224"/>
                      <a:pt x="208424" y="202565"/>
                      <a:pt x="231862" y="226002"/>
                    </a:cubicBezTo>
                    <a:lnTo>
                      <a:pt x="287944" y="282084"/>
                    </a:lnTo>
                    <a:cubicBezTo>
                      <a:pt x="128068" y="287107"/>
                      <a:pt x="0" y="418523"/>
                      <a:pt x="0" y="579235"/>
                    </a:cubicBezTo>
                    <a:cubicBezTo>
                      <a:pt x="0" y="742459"/>
                      <a:pt x="132253" y="875550"/>
                      <a:pt x="295477" y="877224"/>
                    </a:cubicBezTo>
                    <a:lnTo>
                      <a:pt x="262832" y="975995"/>
                    </a:lnTo>
                    <a:lnTo>
                      <a:pt x="232699" y="975995"/>
                    </a:lnTo>
                    <a:cubicBezTo>
                      <a:pt x="222654" y="975995"/>
                      <a:pt x="215121" y="984365"/>
                      <a:pt x="215121" y="993573"/>
                    </a:cubicBezTo>
                    <a:cubicBezTo>
                      <a:pt x="215121" y="1002780"/>
                      <a:pt x="223491" y="1011151"/>
                      <a:pt x="232699" y="1011151"/>
                    </a:cubicBezTo>
                    <a:lnTo>
                      <a:pt x="276225" y="1011151"/>
                    </a:lnTo>
                    <a:lnTo>
                      <a:pt x="621088" y="1011151"/>
                    </a:lnTo>
                    <a:lnTo>
                      <a:pt x="664614" y="1011151"/>
                    </a:lnTo>
                    <a:cubicBezTo>
                      <a:pt x="674659" y="1011151"/>
                      <a:pt x="682192" y="1002780"/>
                      <a:pt x="682192" y="993573"/>
                    </a:cubicBezTo>
                    <a:cubicBezTo>
                      <a:pt x="682192" y="984365"/>
                      <a:pt x="673822" y="975995"/>
                      <a:pt x="664614" y="975995"/>
                    </a:cubicBezTo>
                    <a:lnTo>
                      <a:pt x="634480" y="975995"/>
                    </a:lnTo>
                    <a:lnTo>
                      <a:pt x="602673" y="878061"/>
                    </a:lnTo>
                    <a:lnTo>
                      <a:pt x="708141" y="878061"/>
                    </a:lnTo>
                    <a:cubicBezTo>
                      <a:pt x="783475" y="878061"/>
                      <a:pt x="845416" y="821142"/>
                      <a:pt x="853786" y="748319"/>
                    </a:cubicBezTo>
                    <a:lnTo>
                      <a:pt x="966788" y="748319"/>
                    </a:lnTo>
                    <a:cubicBezTo>
                      <a:pt x="976832" y="748319"/>
                      <a:pt x="984366" y="739948"/>
                      <a:pt x="984366" y="730741"/>
                    </a:cubicBezTo>
                    <a:cubicBezTo>
                      <a:pt x="984366" y="721533"/>
                      <a:pt x="975995" y="712326"/>
                      <a:pt x="965950" y="712326"/>
                    </a:cubicBezTo>
                    <a:close/>
                    <a:moveTo>
                      <a:pt x="358255" y="421871"/>
                    </a:moveTo>
                    <a:cubicBezTo>
                      <a:pt x="357418" y="418523"/>
                      <a:pt x="354907" y="416012"/>
                      <a:pt x="352396" y="413500"/>
                    </a:cubicBezTo>
                    <a:cubicBezTo>
                      <a:pt x="342352" y="399271"/>
                      <a:pt x="337329" y="381693"/>
                      <a:pt x="337329" y="363278"/>
                    </a:cubicBezTo>
                    <a:cubicBezTo>
                      <a:pt x="337329" y="344863"/>
                      <a:pt x="343189" y="327285"/>
                      <a:pt x="352396" y="313055"/>
                    </a:cubicBezTo>
                    <a:cubicBezTo>
                      <a:pt x="354907" y="311381"/>
                      <a:pt x="357418" y="308033"/>
                      <a:pt x="358255" y="304685"/>
                    </a:cubicBezTo>
                    <a:cubicBezTo>
                      <a:pt x="374996" y="285433"/>
                      <a:pt x="399271" y="272877"/>
                      <a:pt x="426893" y="272877"/>
                    </a:cubicBezTo>
                    <a:cubicBezTo>
                      <a:pt x="476279" y="272877"/>
                      <a:pt x="517294" y="313055"/>
                      <a:pt x="517294" y="363278"/>
                    </a:cubicBezTo>
                    <a:cubicBezTo>
                      <a:pt x="517294" y="394248"/>
                      <a:pt x="501390" y="421871"/>
                      <a:pt x="477116" y="438612"/>
                    </a:cubicBezTo>
                    <a:cubicBezTo>
                      <a:pt x="476279" y="438612"/>
                      <a:pt x="476279" y="439449"/>
                      <a:pt x="475442" y="439449"/>
                    </a:cubicBezTo>
                    <a:cubicBezTo>
                      <a:pt x="461212" y="448656"/>
                      <a:pt x="445308" y="453679"/>
                      <a:pt x="426893" y="453679"/>
                    </a:cubicBezTo>
                    <a:cubicBezTo>
                      <a:pt x="399271" y="453679"/>
                      <a:pt x="374996" y="441123"/>
                      <a:pt x="358255" y="421871"/>
                    </a:cubicBezTo>
                    <a:close/>
                    <a:moveTo>
                      <a:pt x="256973" y="164898"/>
                    </a:moveTo>
                    <a:lnTo>
                      <a:pt x="379182" y="42689"/>
                    </a:lnTo>
                    <a:cubicBezTo>
                      <a:pt x="389226" y="32645"/>
                      <a:pt x="405130" y="32645"/>
                      <a:pt x="415175" y="42689"/>
                    </a:cubicBezTo>
                    <a:lnTo>
                      <a:pt x="750830" y="378345"/>
                    </a:lnTo>
                    <a:cubicBezTo>
                      <a:pt x="755852" y="383367"/>
                      <a:pt x="758363" y="389226"/>
                      <a:pt x="758363" y="395923"/>
                    </a:cubicBezTo>
                    <a:cubicBezTo>
                      <a:pt x="758363" y="402619"/>
                      <a:pt x="755852" y="409315"/>
                      <a:pt x="750830" y="413500"/>
                    </a:cubicBezTo>
                    <a:lnTo>
                      <a:pt x="628621" y="535709"/>
                    </a:lnTo>
                    <a:cubicBezTo>
                      <a:pt x="619414" y="544917"/>
                      <a:pt x="602673" y="544917"/>
                      <a:pt x="592628" y="535709"/>
                    </a:cubicBezTo>
                    <a:lnTo>
                      <a:pt x="512272" y="455353"/>
                    </a:lnTo>
                    <a:cubicBezTo>
                      <a:pt x="537383" y="432753"/>
                      <a:pt x="552450" y="399271"/>
                      <a:pt x="552450" y="363278"/>
                    </a:cubicBezTo>
                    <a:cubicBezTo>
                      <a:pt x="552450" y="293803"/>
                      <a:pt x="496368" y="237721"/>
                      <a:pt x="426893" y="237721"/>
                    </a:cubicBezTo>
                    <a:cubicBezTo>
                      <a:pt x="390900" y="237721"/>
                      <a:pt x="357418" y="253625"/>
                      <a:pt x="334818" y="277899"/>
                    </a:cubicBezTo>
                    <a:lnTo>
                      <a:pt x="256973" y="200054"/>
                    </a:lnTo>
                    <a:cubicBezTo>
                      <a:pt x="246928" y="190846"/>
                      <a:pt x="246928" y="174105"/>
                      <a:pt x="256973" y="164898"/>
                    </a:cubicBezTo>
                    <a:close/>
                    <a:moveTo>
                      <a:pt x="297988" y="842068"/>
                    </a:moveTo>
                    <a:cubicBezTo>
                      <a:pt x="153179" y="842068"/>
                      <a:pt x="35156" y="724044"/>
                      <a:pt x="35156" y="579235"/>
                    </a:cubicBezTo>
                    <a:cubicBezTo>
                      <a:pt x="35156" y="434427"/>
                      <a:pt x="153179" y="316403"/>
                      <a:pt x="297988" y="316403"/>
                    </a:cubicBezTo>
                    <a:lnTo>
                      <a:pt x="310544" y="316403"/>
                    </a:lnTo>
                    <a:cubicBezTo>
                      <a:pt x="304685" y="330633"/>
                      <a:pt x="301336" y="346537"/>
                      <a:pt x="301336" y="363278"/>
                    </a:cubicBezTo>
                    <a:cubicBezTo>
                      <a:pt x="301336" y="380019"/>
                      <a:pt x="304685" y="395923"/>
                      <a:pt x="310544" y="410152"/>
                    </a:cubicBezTo>
                    <a:lnTo>
                      <a:pt x="297988" y="410152"/>
                    </a:lnTo>
                    <a:cubicBezTo>
                      <a:pt x="205076" y="410152"/>
                      <a:pt x="128905" y="485486"/>
                      <a:pt x="128905" y="579235"/>
                    </a:cubicBezTo>
                    <a:cubicBezTo>
                      <a:pt x="128905" y="672148"/>
                      <a:pt x="204239" y="748319"/>
                      <a:pt x="297988" y="748319"/>
                    </a:cubicBezTo>
                    <a:lnTo>
                      <a:pt x="337329" y="748319"/>
                    </a:lnTo>
                    <a:lnTo>
                      <a:pt x="307196" y="842068"/>
                    </a:lnTo>
                    <a:lnTo>
                      <a:pt x="297988" y="842068"/>
                    </a:lnTo>
                    <a:close/>
                    <a:moveTo>
                      <a:pt x="300499" y="975995"/>
                    </a:moveTo>
                    <a:lnTo>
                      <a:pt x="374996" y="748319"/>
                    </a:lnTo>
                    <a:lnTo>
                      <a:pt x="521479" y="748319"/>
                    </a:lnTo>
                    <a:lnTo>
                      <a:pt x="595976" y="975995"/>
                    </a:lnTo>
                    <a:lnTo>
                      <a:pt x="300499" y="975995"/>
                    </a:lnTo>
                    <a:close/>
                    <a:moveTo>
                      <a:pt x="707303" y="842068"/>
                    </a:moveTo>
                    <a:lnTo>
                      <a:pt x="590117" y="842068"/>
                    </a:lnTo>
                    <a:lnTo>
                      <a:pt x="559146" y="748319"/>
                    </a:lnTo>
                    <a:lnTo>
                      <a:pt x="749993" y="748319"/>
                    </a:lnTo>
                    <a:lnTo>
                      <a:pt x="816956" y="748319"/>
                    </a:lnTo>
                    <a:cubicBezTo>
                      <a:pt x="809423" y="801053"/>
                      <a:pt x="762548" y="842068"/>
                      <a:pt x="707303" y="842068"/>
                    </a:cubicBezTo>
                    <a:close/>
                  </a:path>
                </a:pathLst>
              </a:custGeom>
              <a:solidFill>
                <a:srgbClr val="000000"/>
              </a:solidFill>
              <a:ln w="83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8B14888-2F3B-3229-995D-C8F33BB79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522" y="6684168"/>
            <a:ext cx="314952" cy="375796"/>
            <a:chOff x="2791549" y="3626522"/>
            <a:chExt cx="833120" cy="99406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25102BD-E5BE-A398-1402-965553492E16}"/>
                </a:ext>
              </a:extLst>
            </p:cNvPr>
            <p:cNvGrpSpPr/>
            <p:nvPr/>
          </p:nvGrpSpPr>
          <p:grpSpPr>
            <a:xfrm>
              <a:off x="2791549" y="3626522"/>
              <a:ext cx="833120" cy="605905"/>
              <a:chOff x="2791549" y="3626522"/>
              <a:chExt cx="833120" cy="605905"/>
            </a:xfrm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3F61858A-3C57-7768-A09D-F6F828934971}"/>
                  </a:ext>
                </a:extLst>
              </p:cNvPr>
              <p:cNvSpPr/>
              <p:nvPr/>
            </p:nvSpPr>
            <p:spPr>
              <a:xfrm>
                <a:off x="2933558" y="3781786"/>
                <a:ext cx="539634" cy="276444"/>
              </a:xfrm>
              <a:custGeom>
                <a:avLst/>
                <a:gdLst>
                  <a:gd name="connsiteX0" fmla="*/ 18935 w 539634"/>
                  <a:gd name="connsiteY0" fmla="*/ 238575 h 276444"/>
                  <a:gd name="connsiteX1" fmla="*/ 0 w 539634"/>
                  <a:gd name="connsiteY1" fmla="*/ 257510 h 276444"/>
                  <a:gd name="connsiteX2" fmla="*/ 18935 w 539634"/>
                  <a:gd name="connsiteY2" fmla="*/ 276444 h 276444"/>
                  <a:gd name="connsiteX3" fmla="*/ 18935 w 539634"/>
                  <a:gd name="connsiteY3" fmla="*/ 238575 h 276444"/>
                  <a:gd name="connsiteX4" fmla="*/ 520700 w 539634"/>
                  <a:gd name="connsiteY4" fmla="*/ 276444 h 276444"/>
                  <a:gd name="connsiteX5" fmla="*/ 539635 w 539634"/>
                  <a:gd name="connsiteY5" fmla="*/ 257510 h 276444"/>
                  <a:gd name="connsiteX6" fmla="*/ 520700 w 539634"/>
                  <a:gd name="connsiteY6" fmla="*/ 238575 h 276444"/>
                  <a:gd name="connsiteX7" fmla="*/ 520700 w 539634"/>
                  <a:gd name="connsiteY7" fmla="*/ 276444 h 276444"/>
                  <a:gd name="connsiteX8" fmla="*/ 18935 w 539634"/>
                  <a:gd name="connsiteY8" fmla="*/ 0 h 276444"/>
                  <a:gd name="connsiteX9" fmla="*/ 0 w 539634"/>
                  <a:gd name="connsiteY9" fmla="*/ 18935 h 276444"/>
                  <a:gd name="connsiteX10" fmla="*/ 18935 w 539634"/>
                  <a:gd name="connsiteY10" fmla="*/ 37869 h 276444"/>
                  <a:gd name="connsiteX11" fmla="*/ 18935 w 539634"/>
                  <a:gd name="connsiteY11" fmla="*/ 0 h 276444"/>
                  <a:gd name="connsiteX12" fmla="*/ 520700 w 539634"/>
                  <a:gd name="connsiteY12" fmla="*/ 37869 h 276444"/>
                  <a:gd name="connsiteX13" fmla="*/ 539635 w 539634"/>
                  <a:gd name="connsiteY13" fmla="*/ 18935 h 276444"/>
                  <a:gd name="connsiteX14" fmla="*/ 520700 w 539634"/>
                  <a:gd name="connsiteY14" fmla="*/ 0 h 276444"/>
                  <a:gd name="connsiteX15" fmla="*/ 520700 w 539634"/>
                  <a:gd name="connsiteY15" fmla="*/ 37869 h 276444"/>
                  <a:gd name="connsiteX16" fmla="*/ 18935 w 539634"/>
                  <a:gd name="connsiteY16" fmla="*/ 119288 h 276444"/>
                  <a:gd name="connsiteX17" fmla="*/ 0 w 539634"/>
                  <a:gd name="connsiteY17" fmla="*/ 138222 h 276444"/>
                  <a:gd name="connsiteX18" fmla="*/ 18935 w 539634"/>
                  <a:gd name="connsiteY18" fmla="*/ 157157 h 276444"/>
                  <a:gd name="connsiteX19" fmla="*/ 18935 w 539634"/>
                  <a:gd name="connsiteY19" fmla="*/ 119288 h 276444"/>
                  <a:gd name="connsiteX20" fmla="*/ 520700 w 539634"/>
                  <a:gd name="connsiteY20" fmla="*/ 157157 h 276444"/>
                  <a:gd name="connsiteX21" fmla="*/ 539635 w 539634"/>
                  <a:gd name="connsiteY21" fmla="*/ 138222 h 276444"/>
                  <a:gd name="connsiteX22" fmla="*/ 520700 w 539634"/>
                  <a:gd name="connsiteY22" fmla="*/ 119288 h 276444"/>
                  <a:gd name="connsiteX23" fmla="*/ 520700 w 539634"/>
                  <a:gd name="connsiteY23" fmla="*/ 157157 h 276444"/>
                  <a:gd name="connsiteX24" fmla="*/ 18935 w 539634"/>
                  <a:gd name="connsiteY24" fmla="*/ 276444 h 276444"/>
                  <a:gd name="connsiteX25" fmla="*/ 520700 w 539634"/>
                  <a:gd name="connsiteY25" fmla="*/ 276444 h 276444"/>
                  <a:gd name="connsiteX26" fmla="*/ 520700 w 539634"/>
                  <a:gd name="connsiteY26" fmla="*/ 238575 h 276444"/>
                  <a:gd name="connsiteX27" fmla="*/ 18935 w 539634"/>
                  <a:gd name="connsiteY27" fmla="*/ 238575 h 276444"/>
                  <a:gd name="connsiteX28" fmla="*/ 18935 w 539634"/>
                  <a:gd name="connsiteY28" fmla="*/ 276444 h 276444"/>
                  <a:gd name="connsiteX29" fmla="*/ 18935 w 539634"/>
                  <a:gd name="connsiteY29" fmla="*/ 37869 h 276444"/>
                  <a:gd name="connsiteX30" fmla="*/ 520700 w 539634"/>
                  <a:gd name="connsiteY30" fmla="*/ 37869 h 276444"/>
                  <a:gd name="connsiteX31" fmla="*/ 520700 w 539634"/>
                  <a:gd name="connsiteY31" fmla="*/ 0 h 276444"/>
                  <a:gd name="connsiteX32" fmla="*/ 18935 w 539634"/>
                  <a:gd name="connsiteY32" fmla="*/ 0 h 276444"/>
                  <a:gd name="connsiteX33" fmla="*/ 18935 w 539634"/>
                  <a:gd name="connsiteY33" fmla="*/ 37869 h 276444"/>
                  <a:gd name="connsiteX34" fmla="*/ 18935 w 539634"/>
                  <a:gd name="connsiteY34" fmla="*/ 157157 h 276444"/>
                  <a:gd name="connsiteX35" fmla="*/ 520700 w 539634"/>
                  <a:gd name="connsiteY35" fmla="*/ 157157 h 276444"/>
                  <a:gd name="connsiteX36" fmla="*/ 520700 w 539634"/>
                  <a:gd name="connsiteY36" fmla="*/ 119288 h 276444"/>
                  <a:gd name="connsiteX37" fmla="*/ 18935 w 539634"/>
                  <a:gd name="connsiteY37" fmla="*/ 119288 h 276444"/>
                  <a:gd name="connsiteX38" fmla="*/ 18935 w 539634"/>
                  <a:gd name="connsiteY38" fmla="*/ 157157 h 27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539634" h="276444">
                    <a:moveTo>
                      <a:pt x="18935" y="238575"/>
                    </a:moveTo>
                    <a:cubicBezTo>
                      <a:pt x="8521" y="238575"/>
                      <a:pt x="0" y="247096"/>
                      <a:pt x="0" y="257510"/>
                    </a:cubicBezTo>
                    <a:cubicBezTo>
                      <a:pt x="0" y="267924"/>
                      <a:pt x="8521" y="276444"/>
                      <a:pt x="18935" y="276444"/>
                    </a:cubicBezTo>
                    <a:lnTo>
                      <a:pt x="18935" y="238575"/>
                    </a:lnTo>
                    <a:close/>
                    <a:moveTo>
                      <a:pt x="520700" y="276444"/>
                    </a:moveTo>
                    <a:cubicBezTo>
                      <a:pt x="531114" y="276444"/>
                      <a:pt x="539635" y="267924"/>
                      <a:pt x="539635" y="257510"/>
                    </a:cubicBezTo>
                    <a:cubicBezTo>
                      <a:pt x="539635" y="247096"/>
                      <a:pt x="531114" y="238575"/>
                      <a:pt x="520700" y="238575"/>
                    </a:cubicBezTo>
                    <a:lnTo>
                      <a:pt x="520700" y="276444"/>
                    </a:lnTo>
                    <a:close/>
                    <a:moveTo>
                      <a:pt x="18935" y="0"/>
                    </a:moveTo>
                    <a:cubicBezTo>
                      <a:pt x="8521" y="0"/>
                      <a:pt x="0" y="8521"/>
                      <a:pt x="0" y="18935"/>
                    </a:cubicBezTo>
                    <a:cubicBezTo>
                      <a:pt x="0" y="29349"/>
                      <a:pt x="8521" y="37869"/>
                      <a:pt x="18935" y="37869"/>
                    </a:cubicBezTo>
                    <a:lnTo>
                      <a:pt x="18935" y="0"/>
                    </a:lnTo>
                    <a:close/>
                    <a:moveTo>
                      <a:pt x="520700" y="37869"/>
                    </a:moveTo>
                    <a:cubicBezTo>
                      <a:pt x="531114" y="37869"/>
                      <a:pt x="539635" y="29349"/>
                      <a:pt x="539635" y="18935"/>
                    </a:cubicBezTo>
                    <a:cubicBezTo>
                      <a:pt x="539635" y="8521"/>
                      <a:pt x="531114" y="0"/>
                      <a:pt x="520700" y="0"/>
                    </a:cubicBezTo>
                    <a:lnTo>
                      <a:pt x="520700" y="37869"/>
                    </a:lnTo>
                    <a:close/>
                    <a:moveTo>
                      <a:pt x="18935" y="119288"/>
                    </a:moveTo>
                    <a:cubicBezTo>
                      <a:pt x="8521" y="119288"/>
                      <a:pt x="0" y="127808"/>
                      <a:pt x="0" y="138222"/>
                    </a:cubicBezTo>
                    <a:cubicBezTo>
                      <a:pt x="0" y="148636"/>
                      <a:pt x="8521" y="157157"/>
                      <a:pt x="18935" y="157157"/>
                    </a:cubicBezTo>
                    <a:lnTo>
                      <a:pt x="18935" y="119288"/>
                    </a:lnTo>
                    <a:close/>
                    <a:moveTo>
                      <a:pt x="520700" y="157157"/>
                    </a:moveTo>
                    <a:cubicBezTo>
                      <a:pt x="531114" y="157157"/>
                      <a:pt x="539635" y="148636"/>
                      <a:pt x="539635" y="138222"/>
                    </a:cubicBezTo>
                    <a:cubicBezTo>
                      <a:pt x="539635" y="127808"/>
                      <a:pt x="531114" y="119288"/>
                      <a:pt x="520700" y="119288"/>
                    </a:cubicBezTo>
                    <a:lnTo>
                      <a:pt x="520700" y="157157"/>
                    </a:lnTo>
                    <a:close/>
                    <a:moveTo>
                      <a:pt x="18935" y="276444"/>
                    </a:moveTo>
                    <a:lnTo>
                      <a:pt x="520700" y="276444"/>
                    </a:lnTo>
                    <a:lnTo>
                      <a:pt x="520700" y="238575"/>
                    </a:lnTo>
                    <a:lnTo>
                      <a:pt x="18935" y="238575"/>
                    </a:lnTo>
                    <a:lnTo>
                      <a:pt x="18935" y="276444"/>
                    </a:lnTo>
                    <a:close/>
                    <a:moveTo>
                      <a:pt x="18935" y="37869"/>
                    </a:moveTo>
                    <a:lnTo>
                      <a:pt x="520700" y="37869"/>
                    </a:lnTo>
                    <a:lnTo>
                      <a:pt x="520700" y="0"/>
                    </a:lnTo>
                    <a:lnTo>
                      <a:pt x="18935" y="0"/>
                    </a:lnTo>
                    <a:lnTo>
                      <a:pt x="18935" y="37869"/>
                    </a:lnTo>
                    <a:close/>
                    <a:moveTo>
                      <a:pt x="18935" y="157157"/>
                    </a:moveTo>
                    <a:lnTo>
                      <a:pt x="520700" y="157157"/>
                    </a:lnTo>
                    <a:lnTo>
                      <a:pt x="520700" y="119288"/>
                    </a:lnTo>
                    <a:lnTo>
                      <a:pt x="18935" y="119288"/>
                    </a:lnTo>
                    <a:lnTo>
                      <a:pt x="18935" y="157157"/>
                    </a:lnTo>
                    <a:close/>
                  </a:path>
                </a:pathLst>
              </a:custGeom>
              <a:solidFill>
                <a:srgbClr val="000000"/>
              </a:solidFill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B41B0F86-CB5C-3D98-6856-93ABF5D1411A}"/>
                  </a:ext>
                </a:extLst>
              </p:cNvPr>
              <p:cNvSpPr/>
              <p:nvPr/>
            </p:nvSpPr>
            <p:spPr>
              <a:xfrm>
                <a:off x="2791549" y="3626522"/>
                <a:ext cx="833120" cy="605905"/>
              </a:xfrm>
              <a:custGeom>
                <a:avLst/>
                <a:gdLst>
                  <a:gd name="connsiteX0" fmla="*/ 0 w 833120"/>
                  <a:gd name="connsiteY0" fmla="*/ 0 h 605905"/>
                  <a:gd name="connsiteX1" fmla="*/ 0 w 833120"/>
                  <a:gd name="connsiteY1" fmla="*/ 605905 h 605905"/>
                  <a:gd name="connsiteX2" fmla="*/ 296326 w 833120"/>
                  <a:gd name="connsiteY2" fmla="*/ 605905 h 605905"/>
                  <a:gd name="connsiteX3" fmla="*/ 304846 w 833120"/>
                  <a:gd name="connsiteY3" fmla="*/ 565196 h 605905"/>
                  <a:gd name="connsiteX4" fmla="*/ 41656 w 833120"/>
                  <a:gd name="connsiteY4" fmla="*/ 565196 h 605905"/>
                  <a:gd name="connsiteX5" fmla="*/ 41656 w 833120"/>
                  <a:gd name="connsiteY5" fmla="*/ 40709 h 605905"/>
                  <a:gd name="connsiteX6" fmla="*/ 792411 w 833120"/>
                  <a:gd name="connsiteY6" fmla="*/ 40709 h 605905"/>
                  <a:gd name="connsiteX7" fmla="*/ 792411 w 833120"/>
                  <a:gd name="connsiteY7" fmla="*/ 565196 h 605905"/>
                  <a:gd name="connsiteX8" fmla="*/ 523540 w 833120"/>
                  <a:gd name="connsiteY8" fmla="*/ 565196 h 605905"/>
                  <a:gd name="connsiteX9" fmla="*/ 532061 w 833120"/>
                  <a:gd name="connsiteY9" fmla="*/ 605905 h 605905"/>
                  <a:gd name="connsiteX10" fmla="*/ 833120 w 833120"/>
                  <a:gd name="connsiteY10" fmla="*/ 605905 h 605905"/>
                  <a:gd name="connsiteX11" fmla="*/ 833120 w 833120"/>
                  <a:gd name="connsiteY11" fmla="*/ 0 h 605905"/>
                  <a:gd name="connsiteX12" fmla="*/ 0 w 833120"/>
                  <a:gd name="connsiteY12" fmla="*/ 0 h 605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3120" h="605905">
                    <a:moveTo>
                      <a:pt x="0" y="0"/>
                    </a:moveTo>
                    <a:lnTo>
                      <a:pt x="0" y="605905"/>
                    </a:lnTo>
                    <a:lnTo>
                      <a:pt x="296326" y="605905"/>
                    </a:lnTo>
                    <a:cubicBezTo>
                      <a:pt x="297272" y="591705"/>
                      <a:pt x="300113" y="577504"/>
                      <a:pt x="304846" y="565196"/>
                    </a:cubicBezTo>
                    <a:lnTo>
                      <a:pt x="41656" y="565196"/>
                    </a:lnTo>
                    <a:lnTo>
                      <a:pt x="41656" y="40709"/>
                    </a:lnTo>
                    <a:lnTo>
                      <a:pt x="792411" y="40709"/>
                    </a:lnTo>
                    <a:lnTo>
                      <a:pt x="792411" y="565196"/>
                    </a:lnTo>
                    <a:lnTo>
                      <a:pt x="523540" y="565196"/>
                    </a:lnTo>
                    <a:cubicBezTo>
                      <a:pt x="528274" y="577504"/>
                      <a:pt x="532061" y="591705"/>
                      <a:pt x="532061" y="605905"/>
                    </a:cubicBezTo>
                    <a:lnTo>
                      <a:pt x="833120" y="605905"/>
                    </a:lnTo>
                    <a:lnTo>
                      <a:pt x="8331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DF6FD98-7C60-761E-2F2A-59BB9518937B}"/>
                </a:ext>
              </a:extLst>
            </p:cNvPr>
            <p:cNvSpPr/>
            <p:nvPr/>
          </p:nvSpPr>
          <p:spPr>
            <a:xfrm>
              <a:off x="3056632" y="4099886"/>
              <a:ext cx="293485" cy="520700"/>
            </a:xfrm>
            <a:custGeom>
              <a:avLst/>
              <a:gdLst>
                <a:gd name="connsiteX0" fmla="*/ 252776 w 293485"/>
                <a:gd name="connsiteY0" fmla="*/ 224374 h 520700"/>
                <a:gd name="connsiteX1" fmla="*/ 284018 w 293485"/>
                <a:gd name="connsiteY1" fmla="*/ 137275 h 520700"/>
                <a:gd name="connsiteX2" fmla="*/ 146743 w 293485"/>
                <a:gd name="connsiteY2" fmla="*/ 0 h 520700"/>
                <a:gd name="connsiteX3" fmla="*/ 9467 w 293485"/>
                <a:gd name="connsiteY3" fmla="*/ 137275 h 520700"/>
                <a:gd name="connsiteX4" fmla="*/ 42603 w 293485"/>
                <a:gd name="connsiteY4" fmla="*/ 226268 h 520700"/>
                <a:gd name="connsiteX5" fmla="*/ 0 w 293485"/>
                <a:gd name="connsiteY5" fmla="*/ 520700 h 520700"/>
                <a:gd name="connsiteX6" fmla="*/ 146743 w 293485"/>
                <a:gd name="connsiteY6" fmla="*/ 383425 h 520700"/>
                <a:gd name="connsiteX7" fmla="*/ 293485 w 293485"/>
                <a:gd name="connsiteY7" fmla="*/ 520700 h 520700"/>
                <a:gd name="connsiteX8" fmla="*/ 252776 w 293485"/>
                <a:gd name="connsiteY8" fmla="*/ 224374 h 520700"/>
                <a:gd name="connsiteX9" fmla="*/ 146743 w 293485"/>
                <a:gd name="connsiteY9" fmla="*/ 40709 h 520700"/>
                <a:gd name="connsiteX10" fmla="*/ 243309 w 293485"/>
                <a:gd name="connsiteY10" fmla="*/ 137275 h 520700"/>
                <a:gd name="connsiteX11" fmla="*/ 146743 w 293485"/>
                <a:gd name="connsiteY11" fmla="*/ 233842 h 520700"/>
                <a:gd name="connsiteX12" fmla="*/ 50177 w 293485"/>
                <a:gd name="connsiteY12" fmla="*/ 137275 h 520700"/>
                <a:gd name="connsiteX13" fmla="*/ 146743 w 293485"/>
                <a:gd name="connsiteY13" fmla="*/ 40709 h 520700"/>
                <a:gd name="connsiteX14" fmla="*/ 177038 w 293485"/>
                <a:gd name="connsiteY14" fmla="*/ 353129 h 520700"/>
                <a:gd name="connsiteX15" fmla="*/ 149583 w 293485"/>
                <a:gd name="connsiteY15" fmla="*/ 325674 h 520700"/>
                <a:gd name="connsiteX16" fmla="*/ 122128 w 293485"/>
                <a:gd name="connsiteY16" fmla="*/ 353129 h 520700"/>
                <a:gd name="connsiteX17" fmla="*/ 61537 w 293485"/>
                <a:gd name="connsiteY17" fmla="*/ 408039 h 520700"/>
                <a:gd name="connsiteX18" fmla="*/ 83312 w 293485"/>
                <a:gd name="connsiteY18" fmla="*/ 259403 h 520700"/>
                <a:gd name="connsiteX19" fmla="*/ 84259 w 293485"/>
                <a:gd name="connsiteY19" fmla="*/ 259403 h 520700"/>
                <a:gd name="connsiteX20" fmla="*/ 146743 w 293485"/>
                <a:gd name="connsiteY20" fmla="*/ 274551 h 520700"/>
                <a:gd name="connsiteX21" fmla="*/ 209227 w 293485"/>
                <a:gd name="connsiteY21" fmla="*/ 259403 h 520700"/>
                <a:gd name="connsiteX22" fmla="*/ 215854 w 293485"/>
                <a:gd name="connsiteY22" fmla="*/ 259403 h 520700"/>
                <a:gd name="connsiteX23" fmla="*/ 237629 w 293485"/>
                <a:gd name="connsiteY23" fmla="*/ 408039 h 520700"/>
                <a:gd name="connsiteX24" fmla="*/ 177038 w 293485"/>
                <a:gd name="connsiteY24" fmla="*/ 353129 h 52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3485" h="520700">
                  <a:moveTo>
                    <a:pt x="252776" y="224374"/>
                  </a:moveTo>
                  <a:cubicBezTo>
                    <a:pt x="272657" y="200706"/>
                    <a:pt x="284018" y="170411"/>
                    <a:pt x="284018" y="137275"/>
                  </a:cubicBezTo>
                  <a:cubicBezTo>
                    <a:pt x="284018" y="61537"/>
                    <a:pt x="222481" y="0"/>
                    <a:pt x="146743" y="0"/>
                  </a:cubicBezTo>
                  <a:cubicBezTo>
                    <a:pt x="71005" y="0"/>
                    <a:pt x="9467" y="61537"/>
                    <a:pt x="9467" y="137275"/>
                  </a:cubicBezTo>
                  <a:cubicBezTo>
                    <a:pt x="9467" y="171358"/>
                    <a:pt x="21775" y="202600"/>
                    <a:pt x="42603" y="226268"/>
                  </a:cubicBezTo>
                  <a:lnTo>
                    <a:pt x="0" y="520700"/>
                  </a:lnTo>
                  <a:lnTo>
                    <a:pt x="146743" y="383425"/>
                  </a:lnTo>
                  <a:lnTo>
                    <a:pt x="293485" y="520700"/>
                  </a:lnTo>
                  <a:lnTo>
                    <a:pt x="252776" y="224374"/>
                  </a:lnTo>
                  <a:close/>
                  <a:moveTo>
                    <a:pt x="146743" y="40709"/>
                  </a:moveTo>
                  <a:cubicBezTo>
                    <a:pt x="200706" y="40709"/>
                    <a:pt x="243309" y="83312"/>
                    <a:pt x="243309" y="137275"/>
                  </a:cubicBezTo>
                  <a:cubicBezTo>
                    <a:pt x="243309" y="191239"/>
                    <a:pt x="200706" y="233842"/>
                    <a:pt x="146743" y="233842"/>
                  </a:cubicBezTo>
                  <a:cubicBezTo>
                    <a:pt x="92779" y="233842"/>
                    <a:pt x="50177" y="191239"/>
                    <a:pt x="50177" y="137275"/>
                  </a:cubicBezTo>
                  <a:cubicBezTo>
                    <a:pt x="50177" y="83312"/>
                    <a:pt x="92779" y="40709"/>
                    <a:pt x="146743" y="40709"/>
                  </a:cubicBezTo>
                  <a:close/>
                  <a:moveTo>
                    <a:pt x="177038" y="353129"/>
                  </a:moveTo>
                  <a:lnTo>
                    <a:pt x="149583" y="325674"/>
                  </a:lnTo>
                  <a:lnTo>
                    <a:pt x="122128" y="353129"/>
                  </a:lnTo>
                  <a:lnTo>
                    <a:pt x="61537" y="408039"/>
                  </a:lnTo>
                  <a:lnTo>
                    <a:pt x="83312" y="259403"/>
                  </a:lnTo>
                  <a:lnTo>
                    <a:pt x="84259" y="259403"/>
                  </a:lnTo>
                  <a:cubicBezTo>
                    <a:pt x="103193" y="268871"/>
                    <a:pt x="124021" y="274551"/>
                    <a:pt x="146743" y="274551"/>
                  </a:cubicBezTo>
                  <a:cubicBezTo>
                    <a:pt x="169464" y="274551"/>
                    <a:pt x="190292" y="268871"/>
                    <a:pt x="209227" y="259403"/>
                  </a:cubicBezTo>
                  <a:lnTo>
                    <a:pt x="215854" y="259403"/>
                  </a:lnTo>
                  <a:lnTo>
                    <a:pt x="237629" y="408039"/>
                  </a:lnTo>
                  <a:lnTo>
                    <a:pt x="177038" y="353129"/>
                  </a:lnTo>
                  <a:close/>
                </a:path>
              </a:pathLst>
            </a:custGeom>
            <a:solidFill>
              <a:srgbClr val="7A003C"/>
            </a:solidFill>
            <a:ln w="9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7" name="Graphic 46">
            <a:extLst>
              <a:ext uri="{FF2B5EF4-FFF2-40B4-BE49-F238E27FC236}">
                <a16:creationId xmlns:a16="http://schemas.microsoft.com/office/drawing/2014/main" id="{3FC02B65-DB88-9AD3-CE2A-7EE6D2F12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150" y="7192093"/>
            <a:ext cx="417696" cy="41769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7E62C8C-B9B8-2BD5-45B5-E0B0A39FFE16}"/>
              </a:ext>
            </a:extLst>
          </p:cNvPr>
          <p:cNvSpPr txBox="1"/>
          <p:nvPr userDrawn="1"/>
        </p:nvSpPr>
        <p:spPr>
          <a:xfrm>
            <a:off x="438148" y="8656484"/>
            <a:ext cx="5183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3"/>
                </a:solidFill>
              </a:rPr>
              <a:t>* Times Higher Education 2023</a:t>
            </a:r>
          </a:p>
          <a:p>
            <a:r>
              <a:rPr lang="en-US" sz="1200">
                <a:solidFill>
                  <a:schemeClr val="accent3"/>
                </a:solidFill>
              </a:rPr>
              <a:t>‡ Shanghai Ranking's Academic Ranking of World Universities 2023</a:t>
            </a:r>
          </a:p>
          <a:p>
            <a:r>
              <a:rPr lang="en-US" sz="1200">
                <a:solidFill>
                  <a:schemeClr val="accent3"/>
                </a:solidFill>
              </a:rPr>
              <a:t>† Research </a:t>
            </a:r>
            <a:r>
              <a:rPr lang="en-US" sz="1200" err="1">
                <a:solidFill>
                  <a:schemeClr val="accent3"/>
                </a:solidFill>
              </a:rPr>
              <a:t>Infosource</a:t>
            </a:r>
            <a:r>
              <a:rPr lang="en-US" sz="1200">
                <a:solidFill>
                  <a:schemeClr val="accent3"/>
                </a:solidFill>
              </a:rPr>
              <a:t> 2023</a:t>
            </a:r>
            <a:endParaRPr lang="en-US" sz="1200" baseline="30000">
              <a:solidFill>
                <a:schemeClr val="accent3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6AFD4D6-CC7D-9D99-DF02-F294BC8603E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E89E05A3-F6AB-676E-2454-621F509EB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33B25B5-1522-E269-6B4D-E80F42610E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5D599-9721-B464-10AC-237C751ECC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7B01D-192F-BBAD-161B-8D22688A24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</p:spTree>
    <p:extLst>
      <p:ext uri="{BB962C8B-B14F-4D97-AF65-F5344CB8AC3E}">
        <p14:creationId xmlns:p14="http://schemas.microsoft.com/office/powerpoint/2010/main" val="20864906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5 - Brighter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>
            <a:extLst>
              <a:ext uri="{FF2B5EF4-FFF2-40B4-BE49-F238E27FC236}">
                <a16:creationId xmlns:a16="http://schemas.microsoft.com/office/drawing/2014/main" id="{2BD07626-E45E-A81D-40C3-0F8C5666C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30" y="440431"/>
            <a:ext cx="19393352" cy="733208"/>
          </a:xfrm>
          <a:prstGeom prst="rect">
            <a:avLst/>
          </a:prstGeom>
        </p:spPr>
        <p:txBody>
          <a:bodyPr/>
          <a:lstStyle>
            <a:lvl1pPr>
              <a:defRPr sz="4400" b="1"/>
            </a:lvl1pPr>
          </a:lstStyle>
          <a:p>
            <a:r>
              <a:rPr lang="en-US" dirty="0"/>
              <a:t>Title goes here on 1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530" y="1267200"/>
            <a:ext cx="1941773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" name="Date Placeholder 3">
            <a:extLst>
              <a:ext uri="{FF2B5EF4-FFF2-40B4-BE49-F238E27FC236}">
                <a16:creationId xmlns:a16="http://schemas.microsoft.com/office/drawing/2014/main" id="{25B13FEC-56D6-BDDA-B11D-2B62FBC10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81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55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7 - Land Acknowledg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307E64-9C0E-0EB5-E08F-ED76C1E8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999" y="4520998"/>
            <a:ext cx="14302799" cy="64860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2000" y="5421600"/>
            <a:ext cx="14302799" cy="280529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 baseline="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endParaRPr lang="en-US" sz="3600" baseline="30000" dirty="0">
              <a:solidFill>
                <a:schemeClr val="bg1"/>
              </a:solidFill>
            </a:endParaRPr>
          </a:p>
        </p:txBody>
      </p:sp>
      <p:grpSp>
        <p:nvGrpSpPr>
          <p:cNvPr id="8" name="Group 7" descr="An icon of a hand holding a sapling.">
            <a:extLst>
              <a:ext uri="{FF2B5EF4-FFF2-40B4-BE49-F238E27FC236}">
                <a16:creationId xmlns:a16="http://schemas.microsoft.com/office/drawing/2014/main" id="{0DECB02C-2326-F95A-1ECA-3D29624B802C}"/>
              </a:ext>
            </a:extLst>
          </p:cNvPr>
          <p:cNvGrpSpPr/>
          <p:nvPr userDrawn="1"/>
        </p:nvGrpSpPr>
        <p:grpSpPr>
          <a:xfrm>
            <a:off x="3429538" y="3189238"/>
            <a:ext cx="1087755" cy="1087754"/>
            <a:chOff x="12372571" y="7209566"/>
            <a:chExt cx="1087755" cy="108775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4FBF782-1048-A071-8D84-1668E5FC19BD}"/>
                </a:ext>
              </a:extLst>
            </p:cNvPr>
            <p:cNvSpPr/>
            <p:nvPr/>
          </p:nvSpPr>
          <p:spPr>
            <a:xfrm>
              <a:off x="12769764" y="7286718"/>
              <a:ext cx="553402" cy="402907"/>
            </a:xfrm>
            <a:custGeom>
              <a:avLst/>
              <a:gdLst>
                <a:gd name="connsiteX0" fmla="*/ 467678 w 553402"/>
                <a:gd name="connsiteY0" fmla="*/ 0 h 402907"/>
                <a:gd name="connsiteX1" fmla="*/ 276225 w 553402"/>
                <a:gd name="connsiteY1" fmla="*/ 120015 h 402907"/>
                <a:gd name="connsiteX2" fmla="*/ 84772 w 553402"/>
                <a:gd name="connsiteY2" fmla="*/ 0 h 402907"/>
                <a:gd name="connsiteX3" fmla="*/ 0 w 553402"/>
                <a:gd name="connsiteY3" fmla="*/ 0 h 402907"/>
                <a:gd name="connsiteX4" fmla="*/ 0 w 553402"/>
                <a:gd name="connsiteY4" fmla="*/ 20955 h 402907"/>
                <a:gd name="connsiteX5" fmla="*/ 212407 w 553402"/>
                <a:gd name="connsiteY5" fmla="*/ 233363 h 402907"/>
                <a:gd name="connsiteX6" fmla="*/ 255270 w 553402"/>
                <a:gd name="connsiteY6" fmla="*/ 233363 h 402907"/>
                <a:gd name="connsiteX7" fmla="*/ 255270 w 553402"/>
                <a:gd name="connsiteY7" fmla="*/ 402908 h 402907"/>
                <a:gd name="connsiteX8" fmla="*/ 298132 w 553402"/>
                <a:gd name="connsiteY8" fmla="*/ 402908 h 402907"/>
                <a:gd name="connsiteX9" fmla="*/ 298132 w 553402"/>
                <a:gd name="connsiteY9" fmla="*/ 233363 h 402907"/>
                <a:gd name="connsiteX10" fmla="*/ 340995 w 553402"/>
                <a:gd name="connsiteY10" fmla="*/ 233363 h 402907"/>
                <a:gd name="connsiteX11" fmla="*/ 553403 w 553402"/>
                <a:gd name="connsiteY11" fmla="*/ 20955 h 402907"/>
                <a:gd name="connsiteX12" fmla="*/ 553403 w 553402"/>
                <a:gd name="connsiteY12" fmla="*/ 0 h 402907"/>
                <a:gd name="connsiteX13" fmla="*/ 468630 w 553402"/>
                <a:gd name="connsiteY13" fmla="*/ 0 h 402907"/>
                <a:gd name="connsiteX14" fmla="*/ 212407 w 553402"/>
                <a:gd name="connsiteY14" fmla="*/ 190500 h 402907"/>
                <a:gd name="connsiteX15" fmla="*/ 43815 w 553402"/>
                <a:gd name="connsiteY15" fmla="*/ 41910 h 402907"/>
                <a:gd name="connsiteX16" fmla="*/ 84772 w 553402"/>
                <a:gd name="connsiteY16" fmla="*/ 41910 h 402907"/>
                <a:gd name="connsiteX17" fmla="*/ 253365 w 553402"/>
                <a:gd name="connsiteY17" fmla="*/ 190500 h 402907"/>
                <a:gd name="connsiteX18" fmla="*/ 212407 w 553402"/>
                <a:gd name="connsiteY18" fmla="*/ 190500 h 402907"/>
                <a:gd name="connsiteX19" fmla="*/ 340042 w 553402"/>
                <a:gd name="connsiteY19" fmla="*/ 190500 h 402907"/>
                <a:gd name="connsiteX20" fmla="*/ 299085 w 553402"/>
                <a:gd name="connsiteY20" fmla="*/ 190500 h 402907"/>
                <a:gd name="connsiteX21" fmla="*/ 467678 w 553402"/>
                <a:gd name="connsiteY21" fmla="*/ 41910 h 402907"/>
                <a:gd name="connsiteX22" fmla="*/ 508635 w 553402"/>
                <a:gd name="connsiteY22" fmla="*/ 41910 h 402907"/>
                <a:gd name="connsiteX23" fmla="*/ 340042 w 553402"/>
                <a:gd name="connsiteY23" fmla="*/ 190500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3402" h="402907">
                  <a:moveTo>
                    <a:pt x="467678" y="0"/>
                  </a:moveTo>
                  <a:cubicBezTo>
                    <a:pt x="383857" y="0"/>
                    <a:pt x="310515" y="48578"/>
                    <a:pt x="276225" y="120015"/>
                  </a:cubicBezTo>
                  <a:cubicBezTo>
                    <a:pt x="241935" y="49530"/>
                    <a:pt x="168592" y="0"/>
                    <a:pt x="84772" y="0"/>
                  </a:cubicBezTo>
                  <a:lnTo>
                    <a:pt x="0" y="0"/>
                  </a:lnTo>
                  <a:lnTo>
                    <a:pt x="0" y="20955"/>
                  </a:lnTo>
                  <a:cubicBezTo>
                    <a:pt x="0" y="138113"/>
                    <a:pt x="95250" y="233363"/>
                    <a:pt x="212407" y="233363"/>
                  </a:cubicBezTo>
                  <a:lnTo>
                    <a:pt x="255270" y="233363"/>
                  </a:lnTo>
                  <a:lnTo>
                    <a:pt x="255270" y="402908"/>
                  </a:lnTo>
                  <a:lnTo>
                    <a:pt x="298132" y="402908"/>
                  </a:lnTo>
                  <a:lnTo>
                    <a:pt x="298132" y="233363"/>
                  </a:lnTo>
                  <a:lnTo>
                    <a:pt x="340995" y="233363"/>
                  </a:lnTo>
                  <a:cubicBezTo>
                    <a:pt x="458153" y="233363"/>
                    <a:pt x="553403" y="138113"/>
                    <a:pt x="553403" y="20955"/>
                  </a:cubicBezTo>
                  <a:lnTo>
                    <a:pt x="553403" y="0"/>
                  </a:lnTo>
                  <a:lnTo>
                    <a:pt x="468630" y="0"/>
                  </a:lnTo>
                  <a:close/>
                  <a:moveTo>
                    <a:pt x="212407" y="190500"/>
                  </a:moveTo>
                  <a:cubicBezTo>
                    <a:pt x="125730" y="190500"/>
                    <a:pt x="54292" y="125730"/>
                    <a:pt x="43815" y="41910"/>
                  </a:cubicBezTo>
                  <a:lnTo>
                    <a:pt x="84772" y="41910"/>
                  </a:lnTo>
                  <a:cubicBezTo>
                    <a:pt x="171450" y="41910"/>
                    <a:pt x="242888" y="106680"/>
                    <a:pt x="253365" y="190500"/>
                  </a:cubicBezTo>
                  <a:lnTo>
                    <a:pt x="212407" y="190500"/>
                  </a:lnTo>
                  <a:close/>
                  <a:moveTo>
                    <a:pt x="340042" y="190500"/>
                  </a:moveTo>
                  <a:lnTo>
                    <a:pt x="299085" y="190500"/>
                  </a:lnTo>
                  <a:cubicBezTo>
                    <a:pt x="309563" y="106680"/>
                    <a:pt x="381000" y="41910"/>
                    <a:pt x="467678" y="41910"/>
                  </a:cubicBezTo>
                  <a:lnTo>
                    <a:pt x="508635" y="41910"/>
                  </a:lnTo>
                  <a:cubicBezTo>
                    <a:pt x="498157" y="125730"/>
                    <a:pt x="426720" y="190500"/>
                    <a:pt x="340042" y="19050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3ACF959F-56A5-E952-F484-09D13707B923}"/>
                </a:ext>
              </a:extLst>
            </p:cNvPr>
            <p:cNvGrpSpPr/>
            <p:nvPr/>
          </p:nvGrpSpPr>
          <p:grpSpPr>
            <a:xfrm>
              <a:off x="12372571" y="7209566"/>
              <a:ext cx="1087755" cy="1087754"/>
              <a:chOff x="12372571" y="7209566"/>
              <a:chExt cx="1087755" cy="1087754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AA8C2A7-AF14-0681-9645-70B1E1D21E4A}"/>
                  </a:ext>
                </a:extLst>
              </p:cNvPr>
              <p:cNvSpPr/>
              <p:nvPr/>
            </p:nvSpPr>
            <p:spPr>
              <a:xfrm>
                <a:off x="12372571" y="7209566"/>
                <a:ext cx="1087755" cy="1087754"/>
              </a:xfrm>
              <a:custGeom>
                <a:avLst/>
                <a:gdLst>
                  <a:gd name="connsiteX0" fmla="*/ 1087755 w 1087755"/>
                  <a:gd name="connsiteY0" fmla="*/ 0 h 1087754"/>
                  <a:gd name="connsiteX1" fmla="*/ 1087755 w 1087755"/>
                  <a:gd name="connsiteY1" fmla="*/ 1087755 h 1087754"/>
                  <a:gd name="connsiteX2" fmla="*/ 0 w 1087755"/>
                  <a:gd name="connsiteY2" fmla="*/ 1087755 h 108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7755" h="1087754">
                    <a:moveTo>
                      <a:pt x="1087755" y="0"/>
                    </a:moveTo>
                    <a:lnTo>
                      <a:pt x="1087755" y="1087755"/>
                    </a:lnTo>
                    <a:lnTo>
                      <a:pt x="0" y="1087755"/>
                    </a:lnTo>
                  </a:path>
                </a:pathLst>
              </a:custGeom>
              <a:no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BDA1C6A-BF36-D885-B1B1-203DE44727B8}"/>
                  </a:ext>
                </a:extLst>
              </p:cNvPr>
              <p:cNvSpPr/>
              <p:nvPr/>
            </p:nvSpPr>
            <p:spPr>
              <a:xfrm>
                <a:off x="12383048" y="7669623"/>
                <a:ext cx="1062990" cy="552450"/>
              </a:xfrm>
              <a:custGeom>
                <a:avLst/>
                <a:gdLst>
                  <a:gd name="connsiteX0" fmla="*/ 1048703 w 1062990"/>
                  <a:gd name="connsiteY0" fmla="*/ 261938 h 552450"/>
                  <a:gd name="connsiteX1" fmla="*/ 944880 w 1062990"/>
                  <a:gd name="connsiteY1" fmla="*/ 206693 h 552450"/>
                  <a:gd name="connsiteX2" fmla="*/ 929640 w 1062990"/>
                  <a:gd name="connsiteY2" fmla="*/ 206693 h 552450"/>
                  <a:gd name="connsiteX3" fmla="*/ 661988 w 1062990"/>
                  <a:gd name="connsiteY3" fmla="*/ 0 h 552450"/>
                  <a:gd name="connsiteX4" fmla="*/ 418148 w 1062990"/>
                  <a:gd name="connsiteY4" fmla="*/ 146685 h 552450"/>
                  <a:gd name="connsiteX5" fmla="*/ 343853 w 1062990"/>
                  <a:gd name="connsiteY5" fmla="*/ 127635 h 552450"/>
                  <a:gd name="connsiteX6" fmla="*/ 203835 w 1062990"/>
                  <a:gd name="connsiteY6" fmla="*/ 191452 h 552450"/>
                  <a:gd name="connsiteX7" fmla="*/ 0 w 1062990"/>
                  <a:gd name="connsiteY7" fmla="*/ 191452 h 552450"/>
                  <a:gd name="connsiteX8" fmla="*/ 0 w 1062990"/>
                  <a:gd name="connsiteY8" fmla="*/ 488633 h 552450"/>
                  <a:gd name="connsiteX9" fmla="*/ 209550 w 1062990"/>
                  <a:gd name="connsiteY9" fmla="*/ 488633 h 552450"/>
                  <a:gd name="connsiteX10" fmla="*/ 404813 w 1062990"/>
                  <a:gd name="connsiteY10" fmla="*/ 552450 h 552450"/>
                  <a:gd name="connsiteX11" fmla="*/ 732473 w 1062990"/>
                  <a:gd name="connsiteY11" fmla="*/ 552450 h 552450"/>
                  <a:gd name="connsiteX12" fmla="*/ 738188 w 1062990"/>
                  <a:gd name="connsiteY12" fmla="*/ 547688 h 552450"/>
                  <a:gd name="connsiteX13" fmla="*/ 974408 w 1062990"/>
                  <a:gd name="connsiteY13" fmla="*/ 351473 h 552450"/>
                  <a:gd name="connsiteX14" fmla="*/ 1022985 w 1062990"/>
                  <a:gd name="connsiteY14" fmla="*/ 311468 h 552450"/>
                  <a:gd name="connsiteX15" fmla="*/ 1045845 w 1062990"/>
                  <a:gd name="connsiteY15" fmla="*/ 293370 h 552450"/>
                  <a:gd name="connsiteX16" fmla="*/ 1062990 w 1062990"/>
                  <a:gd name="connsiteY16" fmla="*/ 280035 h 552450"/>
                  <a:gd name="connsiteX17" fmla="*/ 1048703 w 1062990"/>
                  <a:gd name="connsiteY17" fmla="*/ 263843 h 552450"/>
                  <a:gd name="connsiteX18" fmla="*/ 662940 w 1062990"/>
                  <a:gd name="connsiteY18" fmla="*/ 41910 h 552450"/>
                  <a:gd name="connsiteX19" fmla="*/ 887730 w 1062990"/>
                  <a:gd name="connsiteY19" fmla="*/ 212408 h 552450"/>
                  <a:gd name="connsiteX20" fmla="*/ 832485 w 1062990"/>
                  <a:gd name="connsiteY20" fmla="*/ 240983 h 552450"/>
                  <a:gd name="connsiteX21" fmla="*/ 798195 w 1062990"/>
                  <a:gd name="connsiteY21" fmla="*/ 271463 h 552450"/>
                  <a:gd name="connsiteX22" fmla="*/ 746760 w 1062990"/>
                  <a:gd name="connsiteY22" fmla="*/ 318135 h 552450"/>
                  <a:gd name="connsiteX23" fmla="*/ 746760 w 1062990"/>
                  <a:gd name="connsiteY23" fmla="*/ 318135 h 552450"/>
                  <a:gd name="connsiteX24" fmla="*/ 600075 w 1062990"/>
                  <a:gd name="connsiteY24" fmla="*/ 190500 h 552450"/>
                  <a:gd name="connsiteX25" fmla="*/ 481965 w 1062990"/>
                  <a:gd name="connsiteY25" fmla="*/ 190500 h 552450"/>
                  <a:gd name="connsiteX26" fmla="*/ 456248 w 1062990"/>
                  <a:gd name="connsiteY26" fmla="*/ 168593 h 552450"/>
                  <a:gd name="connsiteX27" fmla="*/ 663893 w 1062990"/>
                  <a:gd name="connsiteY27" fmla="*/ 41910 h 552450"/>
                  <a:gd name="connsiteX28" fmla="*/ 191453 w 1062990"/>
                  <a:gd name="connsiteY28" fmla="*/ 445770 h 552450"/>
                  <a:gd name="connsiteX29" fmla="*/ 42863 w 1062990"/>
                  <a:gd name="connsiteY29" fmla="*/ 445770 h 552450"/>
                  <a:gd name="connsiteX30" fmla="*/ 42863 w 1062990"/>
                  <a:gd name="connsiteY30" fmla="*/ 233363 h 552450"/>
                  <a:gd name="connsiteX31" fmla="*/ 191453 w 1062990"/>
                  <a:gd name="connsiteY31" fmla="*/ 233363 h 552450"/>
                  <a:gd name="connsiteX32" fmla="*/ 191453 w 1062990"/>
                  <a:gd name="connsiteY32" fmla="*/ 445770 h 552450"/>
                  <a:gd name="connsiteX33" fmla="*/ 996315 w 1062990"/>
                  <a:gd name="connsiteY33" fmla="*/ 277178 h 552450"/>
                  <a:gd name="connsiteX34" fmla="*/ 946785 w 1062990"/>
                  <a:gd name="connsiteY34" fmla="*/ 318135 h 552450"/>
                  <a:gd name="connsiteX35" fmla="*/ 716280 w 1062990"/>
                  <a:gd name="connsiteY35" fmla="*/ 509588 h 552450"/>
                  <a:gd name="connsiteX36" fmla="*/ 411480 w 1062990"/>
                  <a:gd name="connsiteY36" fmla="*/ 509588 h 552450"/>
                  <a:gd name="connsiteX37" fmla="*/ 234315 w 1062990"/>
                  <a:gd name="connsiteY37" fmla="*/ 451485 h 552450"/>
                  <a:gd name="connsiteX38" fmla="*/ 234315 w 1062990"/>
                  <a:gd name="connsiteY38" fmla="*/ 220980 h 552450"/>
                  <a:gd name="connsiteX39" fmla="*/ 344805 w 1062990"/>
                  <a:gd name="connsiteY39" fmla="*/ 169545 h 552450"/>
                  <a:gd name="connsiteX40" fmla="*/ 456248 w 1062990"/>
                  <a:gd name="connsiteY40" fmla="*/ 225743 h 552450"/>
                  <a:gd name="connsiteX41" fmla="*/ 462915 w 1062990"/>
                  <a:gd name="connsiteY41" fmla="*/ 232410 h 552450"/>
                  <a:gd name="connsiteX42" fmla="*/ 600075 w 1062990"/>
                  <a:gd name="connsiteY42" fmla="*/ 232410 h 552450"/>
                  <a:gd name="connsiteX43" fmla="*/ 703898 w 1062990"/>
                  <a:gd name="connsiteY43" fmla="*/ 317183 h 552450"/>
                  <a:gd name="connsiteX44" fmla="*/ 503873 w 1062990"/>
                  <a:gd name="connsiteY44" fmla="*/ 317183 h 552450"/>
                  <a:gd name="connsiteX45" fmla="*/ 503873 w 1062990"/>
                  <a:gd name="connsiteY45" fmla="*/ 360045 h 552450"/>
                  <a:gd name="connsiteX46" fmla="*/ 762953 w 1062990"/>
                  <a:gd name="connsiteY46" fmla="*/ 360045 h 552450"/>
                  <a:gd name="connsiteX47" fmla="*/ 768668 w 1062990"/>
                  <a:gd name="connsiteY47" fmla="*/ 355283 h 552450"/>
                  <a:gd name="connsiteX48" fmla="*/ 827723 w 1062990"/>
                  <a:gd name="connsiteY48" fmla="*/ 302895 h 552450"/>
                  <a:gd name="connsiteX49" fmla="*/ 860108 w 1062990"/>
                  <a:gd name="connsiteY49" fmla="*/ 274320 h 552450"/>
                  <a:gd name="connsiteX50" fmla="*/ 941070 w 1062990"/>
                  <a:gd name="connsiteY50" fmla="*/ 249555 h 552450"/>
                  <a:gd name="connsiteX51" fmla="*/ 1001078 w 1062990"/>
                  <a:gd name="connsiteY51" fmla="*/ 274320 h 552450"/>
                  <a:gd name="connsiteX52" fmla="*/ 996315 w 1062990"/>
                  <a:gd name="connsiteY52" fmla="*/ 278130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62990" h="552450">
                    <a:moveTo>
                      <a:pt x="1048703" y="261938"/>
                    </a:moveTo>
                    <a:cubicBezTo>
                      <a:pt x="1022033" y="230505"/>
                      <a:pt x="985838" y="211455"/>
                      <a:pt x="944880" y="206693"/>
                    </a:cubicBezTo>
                    <a:cubicBezTo>
                      <a:pt x="940118" y="206693"/>
                      <a:pt x="935355" y="206693"/>
                      <a:pt x="929640" y="206693"/>
                    </a:cubicBezTo>
                    <a:cubicBezTo>
                      <a:pt x="898208" y="85725"/>
                      <a:pt x="788670" y="0"/>
                      <a:pt x="661988" y="0"/>
                    </a:cubicBezTo>
                    <a:cubicBezTo>
                      <a:pt x="535305" y="0"/>
                      <a:pt x="465773" y="57150"/>
                      <a:pt x="418148" y="146685"/>
                    </a:cubicBezTo>
                    <a:cubicBezTo>
                      <a:pt x="396240" y="136208"/>
                      <a:pt x="371475" y="127635"/>
                      <a:pt x="343853" y="127635"/>
                    </a:cubicBezTo>
                    <a:cubicBezTo>
                      <a:pt x="279083" y="127635"/>
                      <a:pt x="222885" y="174308"/>
                      <a:pt x="203835" y="191452"/>
                    </a:cubicBezTo>
                    <a:lnTo>
                      <a:pt x="0" y="191452"/>
                    </a:lnTo>
                    <a:lnTo>
                      <a:pt x="0" y="488633"/>
                    </a:lnTo>
                    <a:lnTo>
                      <a:pt x="209550" y="488633"/>
                    </a:lnTo>
                    <a:lnTo>
                      <a:pt x="404813" y="552450"/>
                    </a:lnTo>
                    <a:lnTo>
                      <a:pt x="732473" y="552450"/>
                    </a:lnTo>
                    <a:lnTo>
                      <a:pt x="738188" y="547688"/>
                    </a:lnTo>
                    <a:cubicBezTo>
                      <a:pt x="874395" y="434340"/>
                      <a:pt x="939165" y="381000"/>
                      <a:pt x="974408" y="351473"/>
                    </a:cubicBezTo>
                    <a:cubicBezTo>
                      <a:pt x="999173" y="331153"/>
                      <a:pt x="1015365" y="317818"/>
                      <a:pt x="1022985" y="311468"/>
                    </a:cubicBezTo>
                    <a:cubicBezTo>
                      <a:pt x="1027748" y="307658"/>
                      <a:pt x="1034415" y="301943"/>
                      <a:pt x="1045845" y="293370"/>
                    </a:cubicBezTo>
                    <a:lnTo>
                      <a:pt x="1062990" y="280035"/>
                    </a:lnTo>
                    <a:lnTo>
                      <a:pt x="1048703" y="263843"/>
                    </a:lnTo>
                    <a:close/>
                    <a:moveTo>
                      <a:pt x="662940" y="41910"/>
                    </a:moveTo>
                    <a:cubicBezTo>
                      <a:pt x="768668" y="41910"/>
                      <a:pt x="860108" y="112395"/>
                      <a:pt x="887730" y="212408"/>
                    </a:cubicBezTo>
                    <a:cubicBezTo>
                      <a:pt x="867728" y="218123"/>
                      <a:pt x="849630" y="227648"/>
                      <a:pt x="832485" y="240983"/>
                    </a:cubicBezTo>
                    <a:cubicBezTo>
                      <a:pt x="822008" y="249555"/>
                      <a:pt x="810578" y="260033"/>
                      <a:pt x="798195" y="271463"/>
                    </a:cubicBezTo>
                    <a:cubicBezTo>
                      <a:pt x="783908" y="284798"/>
                      <a:pt x="767715" y="300038"/>
                      <a:pt x="746760" y="318135"/>
                    </a:cubicBezTo>
                    <a:lnTo>
                      <a:pt x="746760" y="318135"/>
                    </a:lnTo>
                    <a:cubicBezTo>
                      <a:pt x="736283" y="245745"/>
                      <a:pt x="674370" y="190500"/>
                      <a:pt x="600075" y="190500"/>
                    </a:cubicBezTo>
                    <a:lnTo>
                      <a:pt x="481965" y="190500"/>
                    </a:lnTo>
                    <a:cubicBezTo>
                      <a:pt x="476250" y="184785"/>
                      <a:pt x="467678" y="177165"/>
                      <a:pt x="456248" y="168593"/>
                    </a:cubicBezTo>
                    <a:cubicBezTo>
                      <a:pt x="496253" y="91440"/>
                      <a:pt x="576263" y="41910"/>
                      <a:pt x="663893" y="41910"/>
                    </a:cubicBezTo>
                    <a:close/>
                    <a:moveTo>
                      <a:pt x="191453" y="445770"/>
                    </a:moveTo>
                    <a:lnTo>
                      <a:pt x="42863" y="445770"/>
                    </a:lnTo>
                    <a:lnTo>
                      <a:pt x="42863" y="233363"/>
                    </a:lnTo>
                    <a:lnTo>
                      <a:pt x="191453" y="233363"/>
                    </a:lnTo>
                    <a:lnTo>
                      <a:pt x="191453" y="445770"/>
                    </a:lnTo>
                    <a:close/>
                    <a:moveTo>
                      <a:pt x="996315" y="277178"/>
                    </a:moveTo>
                    <a:cubicBezTo>
                      <a:pt x="988057" y="283528"/>
                      <a:pt x="971550" y="297180"/>
                      <a:pt x="946785" y="318135"/>
                    </a:cubicBezTo>
                    <a:cubicBezTo>
                      <a:pt x="912495" y="346710"/>
                      <a:pt x="848678" y="400050"/>
                      <a:pt x="716280" y="509588"/>
                    </a:cubicBezTo>
                    <a:lnTo>
                      <a:pt x="411480" y="509588"/>
                    </a:lnTo>
                    <a:lnTo>
                      <a:pt x="234315" y="451485"/>
                    </a:lnTo>
                    <a:lnTo>
                      <a:pt x="234315" y="220980"/>
                    </a:lnTo>
                    <a:cubicBezTo>
                      <a:pt x="250508" y="206693"/>
                      <a:pt x="296228" y="169545"/>
                      <a:pt x="344805" y="169545"/>
                    </a:cubicBezTo>
                    <a:cubicBezTo>
                      <a:pt x="393383" y="169545"/>
                      <a:pt x="456248" y="225743"/>
                      <a:pt x="456248" y="225743"/>
                    </a:cubicBezTo>
                    <a:lnTo>
                      <a:pt x="462915" y="232410"/>
                    </a:lnTo>
                    <a:lnTo>
                      <a:pt x="600075" y="232410"/>
                    </a:lnTo>
                    <a:cubicBezTo>
                      <a:pt x="651510" y="232410"/>
                      <a:pt x="694373" y="268605"/>
                      <a:pt x="703898" y="317183"/>
                    </a:cubicBezTo>
                    <a:lnTo>
                      <a:pt x="503873" y="317183"/>
                    </a:lnTo>
                    <a:lnTo>
                      <a:pt x="503873" y="360045"/>
                    </a:lnTo>
                    <a:lnTo>
                      <a:pt x="762953" y="360045"/>
                    </a:lnTo>
                    <a:lnTo>
                      <a:pt x="768668" y="355283"/>
                    </a:lnTo>
                    <a:cubicBezTo>
                      <a:pt x="793433" y="334328"/>
                      <a:pt x="812483" y="317183"/>
                      <a:pt x="827723" y="302895"/>
                    </a:cubicBezTo>
                    <a:cubicBezTo>
                      <a:pt x="840105" y="291465"/>
                      <a:pt x="849630" y="281940"/>
                      <a:pt x="860108" y="274320"/>
                    </a:cubicBezTo>
                    <a:cubicBezTo>
                      <a:pt x="882968" y="255270"/>
                      <a:pt x="911543" y="246698"/>
                      <a:pt x="941070" y="249555"/>
                    </a:cubicBezTo>
                    <a:cubicBezTo>
                      <a:pt x="962978" y="251460"/>
                      <a:pt x="983933" y="260033"/>
                      <a:pt x="1001078" y="274320"/>
                    </a:cubicBezTo>
                    <a:cubicBezTo>
                      <a:pt x="999173" y="275273"/>
                      <a:pt x="998220" y="277178"/>
                      <a:pt x="996315" y="27813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4748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76582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82801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6A45-524F-08F1-9FDF-87202C66C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9802" y="1870605"/>
            <a:ext cx="15238810" cy="3979333"/>
          </a:xfrm>
        </p:spPr>
        <p:txBody>
          <a:bodyPr anchor="b"/>
          <a:lstStyle>
            <a:lvl1pPr algn="ctr">
              <a:defRPr sz="7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68921-CA36-6180-78DB-809E3C61E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9802" y="6003397"/>
            <a:ext cx="15238810" cy="2759603"/>
          </a:xfrm>
        </p:spPr>
        <p:txBody>
          <a:bodyPr/>
          <a:lstStyle>
            <a:lvl1pPr marL="0" indent="0" algn="ctr">
              <a:buNone/>
              <a:defRPr sz="3000"/>
            </a:lvl1pPr>
            <a:lvl2pPr marL="571511" indent="0" algn="ctr">
              <a:buNone/>
              <a:defRPr sz="2500"/>
            </a:lvl2pPr>
            <a:lvl3pPr marL="1143023" indent="0" algn="ctr">
              <a:buNone/>
              <a:defRPr sz="2250"/>
            </a:lvl3pPr>
            <a:lvl4pPr marL="1714534" indent="0" algn="ctr">
              <a:buNone/>
              <a:defRPr sz="2000"/>
            </a:lvl4pPr>
            <a:lvl5pPr marL="2286046" indent="0" algn="ctr">
              <a:buNone/>
              <a:defRPr sz="2000"/>
            </a:lvl5pPr>
            <a:lvl6pPr marL="2857557" indent="0" algn="ctr">
              <a:buNone/>
              <a:defRPr sz="2000"/>
            </a:lvl6pPr>
            <a:lvl7pPr marL="3429069" indent="0" algn="ctr">
              <a:buNone/>
              <a:defRPr sz="2000"/>
            </a:lvl7pPr>
            <a:lvl8pPr marL="4000580" indent="0" algn="ctr">
              <a:buNone/>
              <a:defRPr sz="2000"/>
            </a:lvl8pPr>
            <a:lvl9pPr marL="4572091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6F352-2C44-E0A7-0385-E3E2813C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D1AEB-F400-1848-A41F-8B6BD3066F6D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8C031-7D25-9F3A-FBC9-8BAB899C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F4804-2C8E-9A4E-338C-0BDB1F1E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56CD-7AB9-B143-AE54-E65367AD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21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- Maroon - 2 Column w/ Media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52384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marR="0" indent="0" algn="l" defTabSz="1523848" rtl="0" eaLnBrk="1" fontAlgn="auto" latinLnBrk="0" hangingPunct="1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6AFD4D6-CC7D-9D99-DF02-F294BC8603E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B5A15BD-FD3B-A9EB-7651-4C15CB2C1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September 30,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33B25B5-1522-E269-6B4D-E80F42610E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68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0" userDrawn="1">
          <p15:clr>
            <a:srgbClr val="FBAE40"/>
          </p15:clr>
        </p15:guide>
        <p15:guide id="2" pos="6399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b - Maroon - 2 Column w/ Media Left - No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6AF12-7C41-8BE1-F0D0-29655407E7C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B6DC690-5E0E-28AC-904A-0B078C570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September 30,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04A5E-F49B-B7F5-E918-A733AE8352D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517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 - Maroon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154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 - Maroon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here,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1"/>
            <a:ext cx="10160000" cy="94487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77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b - Maroon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here,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0"/>
            <a:ext cx="10160000" cy="1033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541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 - Maroon - 2 Column Text w/ 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2E8FF69-497B-08CB-9F38-1BCA485AFF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9200" y="2044800"/>
            <a:ext cx="19443600" cy="3668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9200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4680B1-AE53-6408-584D-F76A8EC342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33BE9F3-3CB4-B281-8CBC-1E004A930F2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4B0961-0CB2-24FD-9EAE-6C1840B625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420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68B941-1F2D-5CE2-2A8F-A04A5B1FF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20318413" cy="1881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accent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8238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238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76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76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808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808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767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b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8238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238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76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76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808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808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54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4b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2400" y="3837600"/>
            <a:ext cx="3769200" cy="536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3E0BDB4-5A47-F698-9942-26196CF700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04036" y="4108384"/>
            <a:ext cx="4787984" cy="3956861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250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36800" y="4536000"/>
            <a:ext cx="9079200" cy="30996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66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896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2 - Maroon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1B14348-2B66-409B-1DDB-93ED677FDC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14800" y="2394000"/>
            <a:ext cx="3769200" cy="536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Callouts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E3E1CB6-82BF-D96D-69BD-262E1455F8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07200" y="2664000"/>
            <a:ext cx="4788000" cy="3956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50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30CB8F8-C7D1-20C9-2877-A7FB57A968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56200" y="6236337"/>
            <a:ext cx="5486400" cy="31105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Callouts can look like this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923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5 - Brighter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06D1A-FA44-AA97-8AFB-1DE7F68CF0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Creating a Brighter World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" name="Date Placeholder 3">
            <a:extLst>
              <a:ext uri="{FF2B5EF4-FFF2-40B4-BE49-F238E27FC236}">
                <a16:creationId xmlns:a16="http://schemas.microsoft.com/office/drawing/2014/main" id="{25B13FEC-56D6-BDDA-B11D-2B62FBC10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910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 - 2 Line Title w/ Copy and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7203600" cy="1472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257828"/>
            <a:ext cx="857056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3535200"/>
            <a:ext cx="7203600" cy="5914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70563" y="0"/>
            <a:ext cx="11747850" cy="944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41E1458-C432-DACF-1B77-6F0178924C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838F34-5806-14A7-4D13-6E52C519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34D9D2-1CEF-12A6-591D-6FCA71B739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55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 - 2 Line Title w/ Copy and 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18400" y="457200"/>
            <a:ext cx="7203600" cy="1472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up to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1840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218400" y="3535200"/>
            <a:ext cx="7203600" cy="53712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747850" y="3257828"/>
            <a:ext cx="857056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79200" cy="944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526E81-2B2E-2FBE-FBEE-7993015DEE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24CF3-DC6A-ACF4-BCC0-6999BB1E562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BC796C-F05B-6EF0-6DA8-13A9D6314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034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0318413" cy="9448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5200" y="3567599"/>
            <a:ext cx="5202000" cy="20196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5200" y="5799600"/>
            <a:ext cx="5202000" cy="1472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September 30,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299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b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31000" y="0"/>
            <a:ext cx="13587413" cy="9448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5200" y="3567599"/>
            <a:ext cx="5202000" cy="20196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5200" y="5799600"/>
            <a:ext cx="5202000" cy="1472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September 30,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45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c - Toolkit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8929" y="3567599"/>
            <a:ext cx="10543122" cy="20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8929" y="5799600"/>
            <a:ext cx="10543122" cy="1472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September 30,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227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 - Header w/ Ope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DC5996-BDFE-55CD-CC8A-FA042955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D068AA-C0B4-024E-F068-CFC63BC5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C64306-DF1D-0001-7737-CA0C49A4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224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63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7 - Land Acknowledg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1CD51DFF-2A6D-7EC7-1E76-C81EC80C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999" y="4520998"/>
            <a:ext cx="14302799" cy="64860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2000" y="5421600"/>
            <a:ext cx="14302799" cy="280529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 baseline="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endParaRPr lang="en-US" sz="3600" baseline="30000">
              <a:solidFill>
                <a:schemeClr val="bg1"/>
              </a:solidFill>
            </a:endParaRPr>
          </a:p>
        </p:txBody>
      </p:sp>
      <p:grpSp>
        <p:nvGrpSpPr>
          <p:cNvPr id="8" name="Group 7" descr="An icon of a hand holding a sapling.">
            <a:extLst>
              <a:ext uri="{FF2B5EF4-FFF2-40B4-BE49-F238E27FC236}">
                <a16:creationId xmlns:a16="http://schemas.microsoft.com/office/drawing/2014/main" id="{0DECB02C-2326-F95A-1ECA-3D29624B802C}"/>
              </a:ext>
            </a:extLst>
          </p:cNvPr>
          <p:cNvGrpSpPr/>
          <p:nvPr userDrawn="1"/>
        </p:nvGrpSpPr>
        <p:grpSpPr>
          <a:xfrm>
            <a:off x="3429538" y="3189238"/>
            <a:ext cx="1087755" cy="1087754"/>
            <a:chOff x="12372571" y="7209566"/>
            <a:chExt cx="1087755" cy="108775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4FBF782-1048-A071-8D84-1668E5FC19BD}"/>
                </a:ext>
              </a:extLst>
            </p:cNvPr>
            <p:cNvSpPr/>
            <p:nvPr/>
          </p:nvSpPr>
          <p:spPr>
            <a:xfrm>
              <a:off x="12769764" y="7286718"/>
              <a:ext cx="553402" cy="402907"/>
            </a:xfrm>
            <a:custGeom>
              <a:avLst/>
              <a:gdLst>
                <a:gd name="connsiteX0" fmla="*/ 467678 w 553402"/>
                <a:gd name="connsiteY0" fmla="*/ 0 h 402907"/>
                <a:gd name="connsiteX1" fmla="*/ 276225 w 553402"/>
                <a:gd name="connsiteY1" fmla="*/ 120015 h 402907"/>
                <a:gd name="connsiteX2" fmla="*/ 84772 w 553402"/>
                <a:gd name="connsiteY2" fmla="*/ 0 h 402907"/>
                <a:gd name="connsiteX3" fmla="*/ 0 w 553402"/>
                <a:gd name="connsiteY3" fmla="*/ 0 h 402907"/>
                <a:gd name="connsiteX4" fmla="*/ 0 w 553402"/>
                <a:gd name="connsiteY4" fmla="*/ 20955 h 402907"/>
                <a:gd name="connsiteX5" fmla="*/ 212407 w 553402"/>
                <a:gd name="connsiteY5" fmla="*/ 233363 h 402907"/>
                <a:gd name="connsiteX6" fmla="*/ 255270 w 553402"/>
                <a:gd name="connsiteY6" fmla="*/ 233363 h 402907"/>
                <a:gd name="connsiteX7" fmla="*/ 255270 w 553402"/>
                <a:gd name="connsiteY7" fmla="*/ 402908 h 402907"/>
                <a:gd name="connsiteX8" fmla="*/ 298132 w 553402"/>
                <a:gd name="connsiteY8" fmla="*/ 402908 h 402907"/>
                <a:gd name="connsiteX9" fmla="*/ 298132 w 553402"/>
                <a:gd name="connsiteY9" fmla="*/ 233363 h 402907"/>
                <a:gd name="connsiteX10" fmla="*/ 340995 w 553402"/>
                <a:gd name="connsiteY10" fmla="*/ 233363 h 402907"/>
                <a:gd name="connsiteX11" fmla="*/ 553403 w 553402"/>
                <a:gd name="connsiteY11" fmla="*/ 20955 h 402907"/>
                <a:gd name="connsiteX12" fmla="*/ 553403 w 553402"/>
                <a:gd name="connsiteY12" fmla="*/ 0 h 402907"/>
                <a:gd name="connsiteX13" fmla="*/ 468630 w 553402"/>
                <a:gd name="connsiteY13" fmla="*/ 0 h 402907"/>
                <a:gd name="connsiteX14" fmla="*/ 212407 w 553402"/>
                <a:gd name="connsiteY14" fmla="*/ 190500 h 402907"/>
                <a:gd name="connsiteX15" fmla="*/ 43815 w 553402"/>
                <a:gd name="connsiteY15" fmla="*/ 41910 h 402907"/>
                <a:gd name="connsiteX16" fmla="*/ 84772 w 553402"/>
                <a:gd name="connsiteY16" fmla="*/ 41910 h 402907"/>
                <a:gd name="connsiteX17" fmla="*/ 253365 w 553402"/>
                <a:gd name="connsiteY17" fmla="*/ 190500 h 402907"/>
                <a:gd name="connsiteX18" fmla="*/ 212407 w 553402"/>
                <a:gd name="connsiteY18" fmla="*/ 190500 h 402907"/>
                <a:gd name="connsiteX19" fmla="*/ 340042 w 553402"/>
                <a:gd name="connsiteY19" fmla="*/ 190500 h 402907"/>
                <a:gd name="connsiteX20" fmla="*/ 299085 w 553402"/>
                <a:gd name="connsiteY20" fmla="*/ 190500 h 402907"/>
                <a:gd name="connsiteX21" fmla="*/ 467678 w 553402"/>
                <a:gd name="connsiteY21" fmla="*/ 41910 h 402907"/>
                <a:gd name="connsiteX22" fmla="*/ 508635 w 553402"/>
                <a:gd name="connsiteY22" fmla="*/ 41910 h 402907"/>
                <a:gd name="connsiteX23" fmla="*/ 340042 w 553402"/>
                <a:gd name="connsiteY23" fmla="*/ 190500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3402" h="402907">
                  <a:moveTo>
                    <a:pt x="467678" y="0"/>
                  </a:moveTo>
                  <a:cubicBezTo>
                    <a:pt x="383857" y="0"/>
                    <a:pt x="310515" y="48578"/>
                    <a:pt x="276225" y="120015"/>
                  </a:cubicBezTo>
                  <a:cubicBezTo>
                    <a:pt x="241935" y="49530"/>
                    <a:pt x="168592" y="0"/>
                    <a:pt x="84772" y="0"/>
                  </a:cubicBezTo>
                  <a:lnTo>
                    <a:pt x="0" y="0"/>
                  </a:lnTo>
                  <a:lnTo>
                    <a:pt x="0" y="20955"/>
                  </a:lnTo>
                  <a:cubicBezTo>
                    <a:pt x="0" y="138113"/>
                    <a:pt x="95250" y="233363"/>
                    <a:pt x="212407" y="233363"/>
                  </a:cubicBezTo>
                  <a:lnTo>
                    <a:pt x="255270" y="233363"/>
                  </a:lnTo>
                  <a:lnTo>
                    <a:pt x="255270" y="402908"/>
                  </a:lnTo>
                  <a:lnTo>
                    <a:pt x="298132" y="402908"/>
                  </a:lnTo>
                  <a:lnTo>
                    <a:pt x="298132" y="233363"/>
                  </a:lnTo>
                  <a:lnTo>
                    <a:pt x="340995" y="233363"/>
                  </a:lnTo>
                  <a:cubicBezTo>
                    <a:pt x="458153" y="233363"/>
                    <a:pt x="553403" y="138113"/>
                    <a:pt x="553403" y="20955"/>
                  </a:cubicBezTo>
                  <a:lnTo>
                    <a:pt x="553403" y="0"/>
                  </a:lnTo>
                  <a:lnTo>
                    <a:pt x="468630" y="0"/>
                  </a:lnTo>
                  <a:close/>
                  <a:moveTo>
                    <a:pt x="212407" y="190500"/>
                  </a:moveTo>
                  <a:cubicBezTo>
                    <a:pt x="125730" y="190500"/>
                    <a:pt x="54292" y="125730"/>
                    <a:pt x="43815" y="41910"/>
                  </a:cubicBezTo>
                  <a:lnTo>
                    <a:pt x="84772" y="41910"/>
                  </a:lnTo>
                  <a:cubicBezTo>
                    <a:pt x="171450" y="41910"/>
                    <a:pt x="242888" y="106680"/>
                    <a:pt x="253365" y="190500"/>
                  </a:cubicBezTo>
                  <a:lnTo>
                    <a:pt x="212407" y="190500"/>
                  </a:lnTo>
                  <a:close/>
                  <a:moveTo>
                    <a:pt x="340042" y="190500"/>
                  </a:moveTo>
                  <a:lnTo>
                    <a:pt x="299085" y="190500"/>
                  </a:lnTo>
                  <a:cubicBezTo>
                    <a:pt x="309563" y="106680"/>
                    <a:pt x="381000" y="41910"/>
                    <a:pt x="467678" y="41910"/>
                  </a:cubicBezTo>
                  <a:lnTo>
                    <a:pt x="508635" y="41910"/>
                  </a:lnTo>
                  <a:cubicBezTo>
                    <a:pt x="498157" y="125730"/>
                    <a:pt x="426720" y="190500"/>
                    <a:pt x="340042" y="19050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3ACF959F-56A5-E952-F484-09D13707B923}"/>
                </a:ext>
              </a:extLst>
            </p:cNvPr>
            <p:cNvGrpSpPr/>
            <p:nvPr/>
          </p:nvGrpSpPr>
          <p:grpSpPr>
            <a:xfrm>
              <a:off x="12372571" y="7209566"/>
              <a:ext cx="1087755" cy="1087754"/>
              <a:chOff x="12372571" y="7209566"/>
              <a:chExt cx="1087755" cy="1087754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AA8C2A7-AF14-0681-9645-70B1E1D21E4A}"/>
                  </a:ext>
                </a:extLst>
              </p:cNvPr>
              <p:cNvSpPr/>
              <p:nvPr/>
            </p:nvSpPr>
            <p:spPr>
              <a:xfrm>
                <a:off x="12372571" y="7209566"/>
                <a:ext cx="1087755" cy="1087754"/>
              </a:xfrm>
              <a:custGeom>
                <a:avLst/>
                <a:gdLst>
                  <a:gd name="connsiteX0" fmla="*/ 1087755 w 1087755"/>
                  <a:gd name="connsiteY0" fmla="*/ 0 h 1087754"/>
                  <a:gd name="connsiteX1" fmla="*/ 1087755 w 1087755"/>
                  <a:gd name="connsiteY1" fmla="*/ 1087755 h 1087754"/>
                  <a:gd name="connsiteX2" fmla="*/ 0 w 1087755"/>
                  <a:gd name="connsiteY2" fmla="*/ 1087755 h 108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7755" h="1087754">
                    <a:moveTo>
                      <a:pt x="1087755" y="0"/>
                    </a:moveTo>
                    <a:lnTo>
                      <a:pt x="1087755" y="1087755"/>
                    </a:lnTo>
                    <a:lnTo>
                      <a:pt x="0" y="1087755"/>
                    </a:lnTo>
                  </a:path>
                </a:pathLst>
              </a:custGeom>
              <a:no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BDA1C6A-BF36-D885-B1B1-203DE44727B8}"/>
                  </a:ext>
                </a:extLst>
              </p:cNvPr>
              <p:cNvSpPr/>
              <p:nvPr/>
            </p:nvSpPr>
            <p:spPr>
              <a:xfrm>
                <a:off x="12383048" y="7669623"/>
                <a:ext cx="1062990" cy="552450"/>
              </a:xfrm>
              <a:custGeom>
                <a:avLst/>
                <a:gdLst>
                  <a:gd name="connsiteX0" fmla="*/ 1048703 w 1062990"/>
                  <a:gd name="connsiteY0" fmla="*/ 261938 h 552450"/>
                  <a:gd name="connsiteX1" fmla="*/ 944880 w 1062990"/>
                  <a:gd name="connsiteY1" fmla="*/ 206693 h 552450"/>
                  <a:gd name="connsiteX2" fmla="*/ 929640 w 1062990"/>
                  <a:gd name="connsiteY2" fmla="*/ 206693 h 552450"/>
                  <a:gd name="connsiteX3" fmla="*/ 661988 w 1062990"/>
                  <a:gd name="connsiteY3" fmla="*/ 0 h 552450"/>
                  <a:gd name="connsiteX4" fmla="*/ 418148 w 1062990"/>
                  <a:gd name="connsiteY4" fmla="*/ 146685 h 552450"/>
                  <a:gd name="connsiteX5" fmla="*/ 343853 w 1062990"/>
                  <a:gd name="connsiteY5" fmla="*/ 127635 h 552450"/>
                  <a:gd name="connsiteX6" fmla="*/ 203835 w 1062990"/>
                  <a:gd name="connsiteY6" fmla="*/ 191452 h 552450"/>
                  <a:gd name="connsiteX7" fmla="*/ 0 w 1062990"/>
                  <a:gd name="connsiteY7" fmla="*/ 191452 h 552450"/>
                  <a:gd name="connsiteX8" fmla="*/ 0 w 1062990"/>
                  <a:gd name="connsiteY8" fmla="*/ 488633 h 552450"/>
                  <a:gd name="connsiteX9" fmla="*/ 209550 w 1062990"/>
                  <a:gd name="connsiteY9" fmla="*/ 488633 h 552450"/>
                  <a:gd name="connsiteX10" fmla="*/ 404813 w 1062990"/>
                  <a:gd name="connsiteY10" fmla="*/ 552450 h 552450"/>
                  <a:gd name="connsiteX11" fmla="*/ 732473 w 1062990"/>
                  <a:gd name="connsiteY11" fmla="*/ 552450 h 552450"/>
                  <a:gd name="connsiteX12" fmla="*/ 738188 w 1062990"/>
                  <a:gd name="connsiteY12" fmla="*/ 547688 h 552450"/>
                  <a:gd name="connsiteX13" fmla="*/ 974408 w 1062990"/>
                  <a:gd name="connsiteY13" fmla="*/ 351473 h 552450"/>
                  <a:gd name="connsiteX14" fmla="*/ 1022985 w 1062990"/>
                  <a:gd name="connsiteY14" fmla="*/ 311468 h 552450"/>
                  <a:gd name="connsiteX15" fmla="*/ 1045845 w 1062990"/>
                  <a:gd name="connsiteY15" fmla="*/ 293370 h 552450"/>
                  <a:gd name="connsiteX16" fmla="*/ 1062990 w 1062990"/>
                  <a:gd name="connsiteY16" fmla="*/ 280035 h 552450"/>
                  <a:gd name="connsiteX17" fmla="*/ 1048703 w 1062990"/>
                  <a:gd name="connsiteY17" fmla="*/ 263843 h 552450"/>
                  <a:gd name="connsiteX18" fmla="*/ 662940 w 1062990"/>
                  <a:gd name="connsiteY18" fmla="*/ 41910 h 552450"/>
                  <a:gd name="connsiteX19" fmla="*/ 887730 w 1062990"/>
                  <a:gd name="connsiteY19" fmla="*/ 212408 h 552450"/>
                  <a:gd name="connsiteX20" fmla="*/ 832485 w 1062990"/>
                  <a:gd name="connsiteY20" fmla="*/ 240983 h 552450"/>
                  <a:gd name="connsiteX21" fmla="*/ 798195 w 1062990"/>
                  <a:gd name="connsiteY21" fmla="*/ 271463 h 552450"/>
                  <a:gd name="connsiteX22" fmla="*/ 746760 w 1062990"/>
                  <a:gd name="connsiteY22" fmla="*/ 318135 h 552450"/>
                  <a:gd name="connsiteX23" fmla="*/ 746760 w 1062990"/>
                  <a:gd name="connsiteY23" fmla="*/ 318135 h 552450"/>
                  <a:gd name="connsiteX24" fmla="*/ 600075 w 1062990"/>
                  <a:gd name="connsiteY24" fmla="*/ 190500 h 552450"/>
                  <a:gd name="connsiteX25" fmla="*/ 481965 w 1062990"/>
                  <a:gd name="connsiteY25" fmla="*/ 190500 h 552450"/>
                  <a:gd name="connsiteX26" fmla="*/ 456248 w 1062990"/>
                  <a:gd name="connsiteY26" fmla="*/ 168593 h 552450"/>
                  <a:gd name="connsiteX27" fmla="*/ 663893 w 1062990"/>
                  <a:gd name="connsiteY27" fmla="*/ 41910 h 552450"/>
                  <a:gd name="connsiteX28" fmla="*/ 191453 w 1062990"/>
                  <a:gd name="connsiteY28" fmla="*/ 445770 h 552450"/>
                  <a:gd name="connsiteX29" fmla="*/ 42863 w 1062990"/>
                  <a:gd name="connsiteY29" fmla="*/ 445770 h 552450"/>
                  <a:gd name="connsiteX30" fmla="*/ 42863 w 1062990"/>
                  <a:gd name="connsiteY30" fmla="*/ 233363 h 552450"/>
                  <a:gd name="connsiteX31" fmla="*/ 191453 w 1062990"/>
                  <a:gd name="connsiteY31" fmla="*/ 233363 h 552450"/>
                  <a:gd name="connsiteX32" fmla="*/ 191453 w 1062990"/>
                  <a:gd name="connsiteY32" fmla="*/ 445770 h 552450"/>
                  <a:gd name="connsiteX33" fmla="*/ 996315 w 1062990"/>
                  <a:gd name="connsiteY33" fmla="*/ 277178 h 552450"/>
                  <a:gd name="connsiteX34" fmla="*/ 946785 w 1062990"/>
                  <a:gd name="connsiteY34" fmla="*/ 318135 h 552450"/>
                  <a:gd name="connsiteX35" fmla="*/ 716280 w 1062990"/>
                  <a:gd name="connsiteY35" fmla="*/ 509588 h 552450"/>
                  <a:gd name="connsiteX36" fmla="*/ 411480 w 1062990"/>
                  <a:gd name="connsiteY36" fmla="*/ 509588 h 552450"/>
                  <a:gd name="connsiteX37" fmla="*/ 234315 w 1062990"/>
                  <a:gd name="connsiteY37" fmla="*/ 451485 h 552450"/>
                  <a:gd name="connsiteX38" fmla="*/ 234315 w 1062990"/>
                  <a:gd name="connsiteY38" fmla="*/ 220980 h 552450"/>
                  <a:gd name="connsiteX39" fmla="*/ 344805 w 1062990"/>
                  <a:gd name="connsiteY39" fmla="*/ 169545 h 552450"/>
                  <a:gd name="connsiteX40" fmla="*/ 456248 w 1062990"/>
                  <a:gd name="connsiteY40" fmla="*/ 225743 h 552450"/>
                  <a:gd name="connsiteX41" fmla="*/ 462915 w 1062990"/>
                  <a:gd name="connsiteY41" fmla="*/ 232410 h 552450"/>
                  <a:gd name="connsiteX42" fmla="*/ 600075 w 1062990"/>
                  <a:gd name="connsiteY42" fmla="*/ 232410 h 552450"/>
                  <a:gd name="connsiteX43" fmla="*/ 703898 w 1062990"/>
                  <a:gd name="connsiteY43" fmla="*/ 317183 h 552450"/>
                  <a:gd name="connsiteX44" fmla="*/ 503873 w 1062990"/>
                  <a:gd name="connsiteY44" fmla="*/ 317183 h 552450"/>
                  <a:gd name="connsiteX45" fmla="*/ 503873 w 1062990"/>
                  <a:gd name="connsiteY45" fmla="*/ 360045 h 552450"/>
                  <a:gd name="connsiteX46" fmla="*/ 762953 w 1062990"/>
                  <a:gd name="connsiteY46" fmla="*/ 360045 h 552450"/>
                  <a:gd name="connsiteX47" fmla="*/ 768668 w 1062990"/>
                  <a:gd name="connsiteY47" fmla="*/ 355283 h 552450"/>
                  <a:gd name="connsiteX48" fmla="*/ 827723 w 1062990"/>
                  <a:gd name="connsiteY48" fmla="*/ 302895 h 552450"/>
                  <a:gd name="connsiteX49" fmla="*/ 860108 w 1062990"/>
                  <a:gd name="connsiteY49" fmla="*/ 274320 h 552450"/>
                  <a:gd name="connsiteX50" fmla="*/ 941070 w 1062990"/>
                  <a:gd name="connsiteY50" fmla="*/ 249555 h 552450"/>
                  <a:gd name="connsiteX51" fmla="*/ 1001078 w 1062990"/>
                  <a:gd name="connsiteY51" fmla="*/ 274320 h 552450"/>
                  <a:gd name="connsiteX52" fmla="*/ 996315 w 1062990"/>
                  <a:gd name="connsiteY52" fmla="*/ 278130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62990" h="552450">
                    <a:moveTo>
                      <a:pt x="1048703" y="261938"/>
                    </a:moveTo>
                    <a:cubicBezTo>
                      <a:pt x="1022033" y="230505"/>
                      <a:pt x="985838" y="211455"/>
                      <a:pt x="944880" y="206693"/>
                    </a:cubicBezTo>
                    <a:cubicBezTo>
                      <a:pt x="940118" y="206693"/>
                      <a:pt x="935355" y="206693"/>
                      <a:pt x="929640" y="206693"/>
                    </a:cubicBezTo>
                    <a:cubicBezTo>
                      <a:pt x="898208" y="85725"/>
                      <a:pt x="788670" y="0"/>
                      <a:pt x="661988" y="0"/>
                    </a:cubicBezTo>
                    <a:cubicBezTo>
                      <a:pt x="535305" y="0"/>
                      <a:pt x="465773" y="57150"/>
                      <a:pt x="418148" y="146685"/>
                    </a:cubicBezTo>
                    <a:cubicBezTo>
                      <a:pt x="396240" y="136208"/>
                      <a:pt x="371475" y="127635"/>
                      <a:pt x="343853" y="127635"/>
                    </a:cubicBezTo>
                    <a:cubicBezTo>
                      <a:pt x="279083" y="127635"/>
                      <a:pt x="222885" y="174308"/>
                      <a:pt x="203835" y="191452"/>
                    </a:cubicBezTo>
                    <a:lnTo>
                      <a:pt x="0" y="191452"/>
                    </a:lnTo>
                    <a:lnTo>
                      <a:pt x="0" y="488633"/>
                    </a:lnTo>
                    <a:lnTo>
                      <a:pt x="209550" y="488633"/>
                    </a:lnTo>
                    <a:lnTo>
                      <a:pt x="404813" y="552450"/>
                    </a:lnTo>
                    <a:lnTo>
                      <a:pt x="732473" y="552450"/>
                    </a:lnTo>
                    <a:lnTo>
                      <a:pt x="738188" y="547688"/>
                    </a:lnTo>
                    <a:cubicBezTo>
                      <a:pt x="874395" y="434340"/>
                      <a:pt x="939165" y="381000"/>
                      <a:pt x="974408" y="351473"/>
                    </a:cubicBezTo>
                    <a:cubicBezTo>
                      <a:pt x="999173" y="331153"/>
                      <a:pt x="1015365" y="317818"/>
                      <a:pt x="1022985" y="311468"/>
                    </a:cubicBezTo>
                    <a:cubicBezTo>
                      <a:pt x="1027748" y="307658"/>
                      <a:pt x="1034415" y="301943"/>
                      <a:pt x="1045845" y="293370"/>
                    </a:cubicBezTo>
                    <a:lnTo>
                      <a:pt x="1062990" y="280035"/>
                    </a:lnTo>
                    <a:lnTo>
                      <a:pt x="1048703" y="263843"/>
                    </a:lnTo>
                    <a:close/>
                    <a:moveTo>
                      <a:pt x="662940" y="41910"/>
                    </a:moveTo>
                    <a:cubicBezTo>
                      <a:pt x="768668" y="41910"/>
                      <a:pt x="860108" y="112395"/>
                      <a:pt x="887730" y="212408"/>
                    </a:cubicBezTo>
                    <a:cubicBezTo>
                      <a:pt x="867728" y="218123"/>
                      <a:pt x="849630" y="227648"/>
                      <a:pt x="832485" y="240983"/>
                    </a:cubicBezTo>
                    <a:cubicBezTo>
                      <a:pt x="822008" y="249555"/>
                      <a:pt x="810578" y="260033"/>
                      <a:pt x="798195" y="271463"/>
                    </a:cubicBezTo>
                    <a:cubicBezTo>
                      <a:pt x="783908" y="284798"/>
                      <a:pt x="767715" y="300038"/>
                      <a:pt x="746760" y="318135"/>
                    </a:cubicBezTo>
                    <a:lnTo>
                      <a:pt x="746760" y="318135"/>
                    </a:lnTo>
                    <a:cubicBezTo>
                      <a:pt x="736283" y="245745"/>
                      <a:pt x="674370" y="190500"/>
                      <a:pt x="600075" y="190500"/>
                    </a:cubicBezTo>
                    <a:lnTo>
                      <a:pt x="481965" y="190500"/>
                    </a:lnTo>
                    <a:cubicBezTo>
                      <a:pt x="476250" y="184785"/>
                      <a:pt x="467678" y="177165"/>
                      <a:pt x="456248" y="168593"/>
                    </a:cubicBezTo>
                    <a:cubicBezTo>
                      <a:pt x="496253" y="91440"/>
                      <a:pt x="576263" y="41910"/>
                      <a:pt x="663893" y="41910"/>
                    </a:cubicBezTo>
                    <a:close/>
                    <a:moveTo>
                      <a:pt x="191453" y="445770"/>
                    </a:moveTo>
                    <a:lnTo>
                      <a:pt x="42863" y="445770"/>
                    </a:lnTo>
                    <a:lnTo>
                      <a:pt x="42863" y="233363"/>
                    </a:lnTo>
                    <a:lnTo>
                      <a:pt x="191453" y="233363"/>
                    </a:lnTo>
                    <a:lnTo>
                      <a:pt x="191453" y="445770"/>
                    </a:lnTo>
                    <a:close/>
                    <a:moveTo>
                      <a:pt x="996315" y="277178"/>
                    </a:moveTo>
                    <a:cubicBezTo>
                      <a:pt x="988057" y="283528"/>
                      <a:pt x="971550" y="297180"/>
                      <a:pt x="946785" y="318135"/>
                    </a:cubicBezTo>
                    <a:cubicBezTo>
                      <a:pt x="912495" y="346710"/>
                      <a:pt x="848678" y="400050"/>
                      <a:pt x="716280" y="509588"/>
                    </a:cubicBezTo>
                    <a:lnTo>
                      <a:pt x="411480" y="509588"/>
                    </a:lnTo>
                    <a:lnTo>
                      <a:pt x="234315" y="451485"/>
                    </a:lnTo>
                    <a:lnTo>
                      <a:pt x="234315" y="220980"/>
                    </a:lnTo>
                    <a:cubicBezTo>
                      <a:pt x="250508" y="206693"/>
                      <a:pt x="296228" y="169545"/>
                      <a:pt x="344805" y="169545"/>
                    </a:cubicBezTo>
                    <a:cubicBezTo>
                      <a:pt x="393383" y="169545"/>
                      <a:pt x="456248" y="225743"/>
                      <a:pt x="456248" y="225743"/>
                    </a:cubicBezTo>
                    <a:lnTo>
                      <a:pt x="462915" y="232410"/>
                    </a:lnTo>
                    <a:lnTo>
                      <a:pt x="600075" y="232410"/>
                    </a:lnTo>
                    <a:cubicBezTo>
                      <a:pt x="651510" y="232410"/>
                      <a:pt x="694373" y="268605"/>
                      <a:pt x="703898" y="317183"/>
                    </a:cubicBezTo>
                    <a:lnTo>
                      <a:pt x="503873" y="317183"/>
                    </a:lnTo>
                    <a:lnTo>
                      <a:pt x="503873" y="360045"/>
                    </a:lnTo>
                    <a:lnTo>
                      <a:pt x="762953" y="360045"/>
                    </a:lnTo>
                    <a:lnTo>
                      <a:pt x="768668" y="355283"/>
                    </a:lnTo>
                    <a:cubicBezTo>
                      <a:pt x="793433" y="334328"/>
                      <a:pt x="812483" y="317183"/>
                      <a:pt x="827723" y="302895"/>
                    </a:cubicBezTo>
                    <a:cubicBezTo>
                      <a:pt x="840105" y="291465"/>
                      <a:pt x="849630" y="281940"/>
                      <a:pt x="860108" y="274320"/>
                    </a:cubicBezTo>
                    <a:cubicBezTo>
                      <a:pt x="882968" y="255270"/>
                      <a:pt x="911543" y="246698"/>
                      <a:pt x="941070" y="249555"/>
                    </a:cubicBezTo>
                    <a:cubicBezTo>
                      <a:pt x="962978" y="251460"/>
                      <a:pt x="983933" y="260033"/>
                      <a:pt x="1001078" y="274320"/>
                    </a:cubicBezTo>
                    <a:cubicBezTo>
                      <a:pt x="999173" y="275273"/>
                      <a:pt x="998220" y="277178"/>
                      <a:pt x="996315" y="27813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06092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92945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714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image" Target="../media/image6.svg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image" Target="../media/image16.svg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image" Target="../media/image15.png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75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36" r:id="rId2"/>
    <p:sldLayoutId id="2147483673" r:id="rId3"/>
    <p:sldLayoutId id="2147483698" r:id="rId4"/>
    <p:sldLayoutId id="2147483674" r:id="rId5"/>
    <p:sldLayoutId id="2147483699" r:id="rId6"/>
    <p:sldLayoutId id="2147483675" r:id="rId7"/>
  </p:sldLayoutIdLst>
  <p:hf hdr="0"/>
  <p:txStyles>
    <p:titleStyle>
      <a:lvl1pPr algn="l" defTabSz="1523848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62" indent="-380962" algn="l" defTabSz="1523848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6" kern="1200">
          <a:solidFill>
            <a:schemeClr val="tx1"/>
          </a:solidFill>
          <a:latin typeface="+mn-lt"/>
          <a:ea typeface="+mn-ea"/>
          <a:cs typeface="+mn-cs"/>
        </a:defRPr>
      </a:lvl1pPr>
      <a:lvl2pPr marL="1142886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810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733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657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581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505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429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352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24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695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619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543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467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39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6" userDrawn="1">
          <p15:clr>
            <a:srgbClr val="F26B43"/>
          </p15:clr>
        </p15:guide>
        <p15:guide id="2" pos="12523" userDrawn="1">
          <p15:clr>
            <a:srgbClr val="F26B43"/>
          </p15:clr>
        </p15:guide>
        <p15:guide id="3" orient="horz" pos="6911" userDrawn="1">
          <p15:clr>
            <a:srgbClr val="F26B43"/>
          </p15:clr>
        </p15:guide>
        <p15:guide id="4" orient="horz" pos="26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3" descr="McMaster Brighter World Logo">
            <a:extLst>
              <a:ext uri="{FF2B5EF4-FFF2-40B4-BE49-F238E27FC236}">
                <a16:creationId xmlns:a16="http://schemas.microsoft.com/office/drawing/2014/main" id="{BD60C075-AE86-8E05-54F6-84253EC0EDCA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439230" y="10046677"/>
            <a:ext cx="2919093" cy="92453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124C9A-1A6B-0A47-A80A-9BE7F1D1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45877" y="10339754"/>
            <a:ext cx="16672536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F28D3-D67E-618C-8F3A-A8EC188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141708" y="10621111"/>
            <a:ext cx="0" cy="35010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70D333-8933-5D45-A645-E2101C8D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1000" y="10620000"/>
            <a:ext cx="6856413" cy="377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B6E45-6B27-3FE5-2C5E-F383AA13173A}"/>
              </a:ext>
            </a:extLst>
          </p:cNvPr>
          <p:cNvSpPr txBox="1"/>
          <p:nvPr userDrawn="1"/>
        </p:nvSpPr>
        <p:spPr>
          <a:xfrm>
            <a:off x="14712457" y="10621110"/>
            <a:ext cx="1699850" cy="3501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>
                <a:solidFill>
                  <a:schemeClr val="accent3"/>
                </a:solidFill>
              </a:rPr>
              <a:t>mcmaster.ca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FFE53B8-8EDD-64F7-3BAB-DF15C46C5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1AF429-5834-A301-2B81-A35534AD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274400" y="10620000"/>
            <a:ext cx="763538" cy="377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3"/>
                </a:solidFill>
              </a:defRPr>
            </a:lvl1pPr>
          </a:lstStyle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2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70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93" r:id="rId12"/>
    <p:sldLayoutId id="2147483694" r:id="rId13"/>
    <p:sldLayoutId id="2147483695" r:id="rId14"/>
    <p:sldLayoutId id="2147483696" r:id="rId15"/>
    <p:sldLayoutId id="2147483688" r:id="rId16"/>
    <p:sldLayoutId id="2147483691" r:id="rId17"/>
    <p:sldLayoutId id="2147483692" r:id="rId18"/>
    <p:sldLayoutId id="2147483689" r:id="rId19"/>
    <p:sldLayoutId id="2147483690" r:id="rId20"/>
    <p:sldLayoutId id="2147483704" r:id="rId21"/>
    <p:sldLayoutId id="2147483705" r:id="rId22"/>
    <p:sldLayoutId id="2147483741" r:id="rId23"/>
  </p:sldLayoutIdLst>
  <p:hf hdr="0"/>
  <p:txStyles>
    <p:titleStyle>
      <a:lvl1pPr algn="l" defTabSz="1523848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62" indent="-380962" algn="l" defTabSz="1523848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6" kern="1200">
          <a:solidFill>
            <a:schemeClr val="tx1"/>
          </a:solidFill>
          <a:latin typeface="+mn-lt"/>
          <a:ea typeface="+mn-ea"/>
          <a:cs typeface="+mn-cs"/>
        </a:defRPr>
      </a:lvl1pPr>
      <a:lvl2pPr marL="1142886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810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733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657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581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505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429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352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24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695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619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543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467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39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523" userDrawn="1">
          <p15:clr>
            <a:srgbClr val="F26B43"/>
          </p15:clr>
        </p15:guide>
        <p15:guide id="2" pos="276" userDrawn="1">
          <p15:clr>
            <a:srgbClr val="F26B43"/>
          </p15:clr>
        </p15:guide>
        <p15:guide id="3" orient="horz" pos="266" userDrawn="1">
          <p15:clr>
            <a:srgbClr val="F26B43"/>
          </p15:clr>
        </p15:guide>
        <p15:guide id="4" orient="horz" pos="691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124C9A-1A6B-0A47-A80A-9BE7F1D1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45877" y="10339754"/>
            <a:ext cx="16672536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F28D3-D67E-618C-8F3A-A8EC188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141708" y="10621111"/>
            <a:ext cx="0" cy="35010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70D333-8933-5D45-A645-E2101C8D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1000" y="10620000"/>
            <a:ext cx="6856413" cy="377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B6E45-6B27-3FE5-2C5E-F383AA13173A}"/>
              </a:ext>
            </a:extLst>
          </p:cNvPr>
          <p:cNvSpPr txBox="1"/>
          <p:nvPr userDrawn="1"/>
        </p:nvSpPr>
        <p:spPr>
          <a:xfrm>
            <a:off x="14712457" y="10621110"/>
            <a:ext cx="1699850" cy="3501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mcmaster.ca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FFE53B8-8EDD-64F7-3BAB-DF15C46C5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September 30,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1AF429-5834-A301-2B81-A35534AD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274400" y="10620000"/>
            <a:ext cx="763538" cy="377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3" descr="McMaster Brighter World Logo">
            <a:extLst>
              <a:ext uri="{FF2B5EF4-FFF2-40B4-BE49-F238E27FC236}">
                <a16:creationId xmlns:a16="http://schemas.microsoft.com/office/drawing/2014/main" id="{94428B16-60A1-22C3-116E-B4640B101775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439230" y="10046677"/>
            <a:ext cx="2919093" cy="9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8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9" r:id="rId8"/>
    <p:sldLayoutId id="2147483730" r:id="rId9"/>
    <p:sldLayoutId id="2147483732" r:id="rId10"/>
    <p:sldLayoutId id="2147483724" r:id="rId11"/>
    <p:sldLayoutId id="2147483715" r:id="rId12"/>
    <p:sldLayoutId id="2147483716" r:id="rId13"/>
    <p:sldLayoutId id="2147483717" r:id="rId14"/>
    <p:sldLayoutId id="2147483739" r:id="rId15"/>
    <p:sldLayoutId id="2147483740" r:id="rId16"/>
    <p:sldLayoutId id="2147483714" r:id="rId17"/>
    <p:sldLayoutId id="2147483725" r:id="rId18"/>
    <p:sldLayoutId id="2147483726" r:id="rId19"/>
    <p:sldLayoutId id="2147483727" r:id="rId20"/>
    <p:sldLayoutId id="2147483728" r:id="rId21"/>
  </p:sldLayoutIdLst>
  <p:hf hdr="0"/>
  <p:txStyles>
    <p:titleStyle>
      <a:lvl1pPr algn="l" defTabSz="1523848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62" indent="-380962" algn="l" defTabSz="1523848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6" kern="1200">
          <a:solidFill>
            <a:schemeClr val="tx1"/>
          </a:solidFill>
          <a:latin typeface="+mn-lt"/>
          <a:ea typeface="+mn-ea"/>
          <a:cs typeface="+mn-cs"/>
        </a:defRPr>
      </a:lvl1pPr>
      <a:lvl2pPr marL="1142886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810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733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657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581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505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429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352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24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695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619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543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467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39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911" userDrawn="1">
          <p15:clr>
            <a:srgbClr val="F26B43"/>
          </p15:clr>
        </p15:guide>
        <p15:guide id="2" pos="276" userDrawn="1">
          <p15:clr>
            <a:srgbClr val="F26B43"/>
          </p15:clr>
        </p15:guide>
        <p15:guide id="3" pos="12523" userDrawn="1">
          <p15:clr>
            <a:srgbClr val="F26B43"/>
          </p15:clr>
        </p15:guide>
        <p15:guide id="4" orient="horz" pos="2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jp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jp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jp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tiff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tiff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tiff"/><Relationship Id="rId5" Type="http://schemas.openxmlformats.org/officeDocument/2006/relationships/image" Target="../media/image24.tiff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tiff"/><Relationship Id="rId5" Type="http://schemas.openxmlformats.org/officeDocument/2006/relationships/image" Target="../media/image24.tiff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tiff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tiff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tiff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gif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tif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tif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W-CircleShape">
            <a:extLst>
              <a:ext uri="{FF2B5EF4-FFF2-40B4-BE49-F238E27FC236}">
                <a16:creationId xmlns:a16="http://schemas.microsoft.com/office/drawing/2014/main" id="{E70B4EF9-9B95-047B-FF5C-B61225FA6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99505" y="0"/>
            <a:ext cx="4387409" cy="9352636"/>
          </a:xfrm>
          <a:custGeom>
            <a:avLst/>
            <a:gdLst>
              <a:gd name="connsiteX0" fmla="*/ 157711 w 4387409"/>
              <a:gd name="connsiteY0" fmla="*/ 0 h 9352636"/>
              <a:gd name="connsiteX1" fmla="*/ 2359448 w 4387409"/>
              <a:gd name="connsiteY1" fmla="*/ 0 h 9352636"/>
              <a:gd name="connsiteX2" fmla="*/ 2533410 w 4387409"/>
              <a:gd name="connsiteY2" fmla="*/ 165857 h 9352636"/>
              <a:gd name="connsiteX3" fmla="*/ 4387409 w 4387409"/>
              <a:gd name="connsiteY3" fmla="*/ 4641872 h 9352636"/>
              <a:gd name="connsiteX4" fmla="*/ 2313573 w 4387409"/>
              <a:gd name="connsiteY4" fmla="*/ 9327481 h 9352636"/>
              <a:gd name="connsiteX5" fmla="*/ 2284534 w 4387409"/>
              <a:gd name="connsiteY5" fmla="*/ 9352636 h 9352636"/>
              <a:gd name="connsiteX6" fmla="*/ 0 w 4387409"/>
              <a:gd name="connsiteY6" fmla="*/ 9352636 h 9352636"/>
              <a:gd name="connsiteX7" fmla="*/ 40141 w 4387409"/>
              <a:gd name="connsiteY7" fmla="*/ 9336829 h 9352636"/>
              <a:gd name="connsiteX8" fmla="*/ 1660007 w 4387409"/>
              <a:gd name="connsiteY8" fmla="*/ 8244485 h 9352636"/>
              <a:gd name="connsiteX9" fmla="*/ 2752351 w 4387409"/>
              <a:gd name="connsiteY9" fmla="*/ 6624619 h 9352636"/>
              <a:gd name="connsiteX10" fmla="*/ 3152284 w 4387409"/>
              <a:gd name="connsiteY10" fmla="*/ 4641872 h 9352636"/>
              <a:gd name="connsiteX11" fmla="*/ 2752351 w 4387409"/>
              <a:gd name="connsiteY11" fmla="*/ 2659127 h 9352636"/>
              <a:gd name="connsiteX12" fmla="*/ 1660007 w 4387409"/>
              <a:gd name="connsiteY12" fmla="*/ 1039259 h 9352636"/>
              <a:gd name="connsiteX13" fmla="*/ 264687 w 4387409"/>
              <a:gd name="connsiteY13" fmla="*/ 48301 h 9352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87409" h="9352636">
                <a:moveTo>
                  <a:pt x="157711" y="0"/>
                </a:moveTo>
                <a:lnTo>
                  <a:pt x="2359448" y="0"/>
                </a:lnTo>
                <a:lnTo>
                  <a:pt x="2533410" y="165857"/>
                </a:lnTo>
                <a:cubicBezTo>
                  <a:pt x="3678911" y="1311358"/>
                  <a:pt x="4387409" y="2893862"/>
                  <a:pt x="4387409" y="4641872"/>
                </a:cubicBezTo>
                <a:cubicBezTo>
                  <a:pt x="4387409" y="6499133"/>
                  <a:pt x="3587581" y="8169553"/>
                  <a:pt x="2313573" y="9327481"/>
                </a:cubicBezTo>
                <a:lnTo>
                  <a:pt x="2284534" y="9352636"/>
                </a:lnTo>
                <a:lnTo>
                  <a:pt x="0" y="9352636"/>
                </a:lnTo>
                <a:lnTo>
                  <a:pt x="40141" y="9336829"/>
                </a:lnTo>
                <a:cubicBezTo>
                  <a:pt x="646711" y="9080294"/>
                  <a:pt x="1191647" y="8712844"/>
                  <a:pt x="1660007" y="8244485"/>
                </a:cubicBezTo>
                <a:cubicBezTo>
                  <a:pt x="2128243" y="7776125"/>
                  <a:pt x="2495816" y="7231189"/>
                  <a:pt x="2752351" y="6624619"/>
                </a:cubicBezTo>
                <a:cubicBezTo>
                  <a:pt x="3017779" y="5997299"/>
                  <a:pt x="3152284" y="5330207"/>
                  <a:pt x="3152284" y="4641872"/>
                </a:cubicBezTo>
                <a:cubicBezTo>
                  <a:pt x="3152284" y="3953537"/>
                  <a:pt x="3017655" y="3286447"/>
                  <a:pt x="2752351" y="2659127"/>
                </a:cubicBezTo>
                <a:cubicBezTo>
                  <a:pt x="2495816" y="2052557"/>
                  <a:pt x="2128366" y="1507619"/>
                  <a:pt x="1660007" y="1039259"/>
                </a:cubicBezTo>
                <a:cubicBezTo>
                  <a:pt x="1250192" y="629554"/>
                  <a:pt x="781749" y="296916"/>
                  <a:pt x="264687" y="48301"/>
                </a:cubicBezTo>
                <a:close/>
              </a:path>
            </a:pathLst>
          </a:custGeom>
          <a:solidFill>
            <a:schemeClr val="accent1">
              <a:alpha val="3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8BD6A6-1D42-E972-B941-F0B554434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990" y="3572406"/>
            <a:ext cx="14274909" cy="1653129"/>
          </a:xfrm>
        </p:spPr>
        <p:txBody>
          <a:bodyPr/>
          <a:lstStyle/>
          <a:p>
            <a:r>
              <a:rPr lang="en-US" dirty="0"/>
              <a:t>Sequence Similarity &amp; Searching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BCCE973-A514-105D-9B0D-04C24EA5C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1990" y="5562703"/>
            <a:ext cx="6597759" cy="1389929"/>
          </a:xfrm>
        </p:spPr>
        <p:txBody>
          <a:bodyPr/>
          <a:lstStyle/>
          <a:p>
            <a:r>
              <a:rPr lang="en-US" dirty="0"/>
              <a:t>BIOCHEM 3BP3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32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9286E-2D19-AD7C-8249-CE51A1127B0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31DEF6-8CA4-663D-7B8E-729E13C9FB7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824B77-96DA-5F42-4897-6668B561EE0C}"/>
              </a:ext>
            </a:extLst>
          </p:cNvPr>
          <p:cNvSpPr txBox="1"/>
          <p:nvPr/>
        </p:nvSpPr>
        <p:spPr>
          <a:xfrm>
            <a:off x="1086843" y="2683222"/>
            <a:ext cx="18144726" cy="68018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 have obtained a DNA sequence via PCR and Sanger sequencing – did I amplify the right sequence?</a:t>
            </a:r>
          </a:p>
          <a:p>
            <a:pPr marL="457200" indent="-457200">
              <a:buFont typeface="+mj-lt"/>
              <a:buAutoNum type="arabicPeriod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 have been sequencing a genome and have predicted Open Reading Frames and I want to know what they encode</a:t>
            </a:r>
          </a:p>
          <a:p>
            <a:pPr marL="457200" indent="-457200">
              <a:buFont typeface="+mj-lt"/>
              <a:buAutoNum type="arabicPeriod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 want to find my gene of interest in a genome sequence</a:t>
            </a:r>
          </a:p>
          <a:p>
            <a:pPr marL="457200" indent="-457200">
              <a:buFont typeface="+mj-lt"/>
              <a:buAutoNum type="arabicPeriod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 want to predict functional domains or motifs for my protein sequence</a:t>
            </a:r>
          </a:p>
          <a:p>
            <a:pPr marL="457200" indent="-457200">
              <a:buFont typeface="+mj-lt"/>
              <a:buAutoNum type="arabicPeriod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 want to know which regulatory binding sites are 5’ of my gene</a:t>
            </a:r>
          </a:p>
          <a:p>
            <a:pPr marL="800100" lvl="1" indent="-342900">
              <a:buFont typeface="Arial"/>
              <a:buChar char="•"/>
            </a:pPr>
            <a:endParaRPr lang="en-US" sz="2000" dirty="0"/>
          </a:p>
          <a:p>
            <a:pPr marL="800100" lvl="1" indent="-342900">
              <a:buFont typeface="Arial"/>
              <a:buChar char="•"/>
            </a:pPr>
            <a:endParaRPr lang="is-IS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DA1597-A5FE-D465-DBBE-966AA75B3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/>
              <a:t>What questions can sequence analysis answer?</a:t>
            </a:r>
            <a:endParaRPr lang="en-US" sz="6000" dirty="0">
              <a:latin typeface="Ralew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5273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42DCC-50C3-8687-A96A-71820DF4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A8C3D-DD9B-1B83-5AE5-BD66ED7B2E5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017248-9DCA-3C3F-DCF6-B954A9C4A8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D8BA08-BE4B-F4F1-1796-927AFE894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Local vs global alignment</a:t>
            </a:r>
          </a:p>
        </p:txBody>
      </p:sp>
      <p:pic>
        <p:nvPicPr>
          <p:cNvPr id="1026" name="Picture 2" descr="Global vs Local Alignment | Download Scientific Diagram">
            <a:extLst>
              <a:ext uri="{FF2B5EF4-FFF2-40B4-BE49-F238E27FC236}">
                <a16:creationId xmlns:a16="http://schemas.microsoft.com/office/drawing/2014/main" id="{1A929E77-C662-7EE3-D100-9BAAB8A97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016" y="2439327"/>
            <a:ext cx="14466379" cy="457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4D8F03-A0A8-356A-FB05-A83FE6FDD4CC}"/>
              </a:ext>
            </a:extLst>
          </p:cNvPr>
          <p:cNvSpPr txBox="1"/>
          <p:nvPr/>
        </p:nvSpPr>
        <p:spPr>
          <a:xfrm>
            <a:off x="1629574" y="7905842"/>
            <a:ext cx="173553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en-CA" sz="28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lang="en-CA" sz="28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alignment algorithm doesn't ask "what's the best way to line up these two sequences from start to finish?" It asks: </a:t>
            </a:r>
            <a:r>
              <a:rPr lang="en-CA" sz="28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"what is the highest-scoring alignment between any substring of sequence A and any substring of sequence B?"</a:t>
            </a:r>
            <a:r>
              <a:rPr lang="en-CA" sz="28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Regions with no meaningful similarity simply don't participate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48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4875-3CDD-1D76-9FD3-54CA76C6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8BC8F-6AB6-1463-13A3-72F5EB27300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81AC2BD-4DB3-8541-62C9-F8978F4517F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0CF7BC2-1E8A-33B7-50B7-5DEFA79C6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Focusing on three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26BDD-2E6E-FC05-0257-30333804381D}"/>
              </a:ext>
            </a:extLst>
          </p:cNvPr>
          <p:cNvSpPr txBox="1"/>
          <p:nvPr/>
        </p:nvSpPr>
        <p:spPr>
          <a:xfrm>
            <a:off x="1444108" y="3613151"/>
            <a:ext cx="933711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Local sequence alignment, e.g. BLAST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331F20-48AA-8ED4-67BB-0A0B63C2A18B}"/>
              </a:ext>
            </a:extLst>
          </p:cNvPr>
          <p:cNvSpPr txBox="1"/>
          <p:nvPr/>
        </p:nvSpPr>
        <p:spPr>
          <a:xfrm>
            <a:off x="12093392" y="3605790"/>
            <a:ext cx="847344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Approximates local alignment at scale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8F42F9C-3B0F-453F-DF6A-F4CB79ED03A8}"/>
              </a:ext>
            </a:extLst>
          </p:cNvPr>
          <p:cNvSpPr/>
          <p:nvPr/>
        </p:nvSpPr>
        <p:spPr>
          <a:xfrm>
            <a:off x="10150284" y="3767374"/>
            <a:ext cx="1261872" cy="3231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F83DFE-341E-41B8-13F3-7F3523AF06FE}"/>
              </a:ext>
            </a:extLst>
          </p:cNvPr>
          <p:cNvSpPr txBox="1"/>
          <p:nvPr/>
        </p:nvSpPr>
        <p:spPr>
          <a:xfrm>
            <a:off x="12093392" y="5945380"/>
            <a:ext cx="7429149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Probabilistic models of ”what a region should look like”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F21E8E14-F7B7-2F45-1274-48172AF295BF}"/>
              </a:ext>
            </a:extLst>
          </p:cNvPr>
          <p:cNvSpPr/>
          <p:nvPr/>
        </p:nvSpPr>
        <p:spPr>
          <a:xfrm>
            <a:off x="10781220" y="5423301"/>
            <a:ext cx="923100" cy="2389934"/>
          </a:xfrm>
          <a:prstGeom prst="rightBrac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F8ED8E-1DCD-6775-1B1E-B7F35A4967E5}"/>
              </a:ext>
            </a:extLst>
          </p:cNvPr>
          <p:cNvSpPr txBox="1"/>
          <p:nvPr/>
        </p:nvSpPr>
        <p:spPr>
          <a:xfrm>
            <a:off x="1444108" y="5483716"/>
            <a:ext cx="9337112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Hidden Markov Models, e.g. </a:t>
            </a:r>
            <a:r>
              <a:rPr lang="en-US" sz="3600" dirty="0" err="1"/>
              <a:t>Pfam</a:t>
            </a:r>
            <a:r>
              <a:rPr lang="en-US" sz="3600" dirty="0"/>
              <a:t>/</a:t>
            </a:r>
            <a:r>
              <a:rPr lang="en-US" sz="3600" dirty="0" err="1"/>
              <a:t>Hmmer</a:t>
            </a:r>
            <a:endParaRPr lang="en-US" sz="3600" dirty="0"/>
          </a:p>
          <a:p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r>
              <a:rPr lang="en-US" sz="3600" dirty="0"/>
              <a:t>Motif detection, e.g. PROSITE &amp; PSSMs</a:t>
            </a:r>
            <a:endParaRPr lang="is-IS" sz="36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F97D76-AB9D-834A-58D2-E87B0268A98C}"/>
              </a:ext>
            </a:extLst>
          </p:cNvPr>
          <p:cNvSpPr/>
          <p:nvPr/>
        </p:nvSpPr>
        <p:spPr>
          <a:xfrm>
            <a:off x="403737" y="3605790"/>
            <a:ext cx="804672" cy="6463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  <a:endParaRPr lang="en-US" b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41F52E-3B09-3DE7-F3EA-DD8DE5714420}"/>
              </a:ext>
            </a:extLst>
          </p:cNvPr>
          <p:cNvSpPr/>
          <p:nvPr/>
        </p:nvSpPr>
        <p:spPr>
          <a:xfrm>
            <a:off x="440076" y="5447140"/>
            <a:ext cx="804672" cy="6463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  <a:endParaRPr lang="en-US" b="1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2C24770-E825-2AE4-98E3-4F893BDFDB0C}"/>
              </a:ext>
            </a:extLst>
          </p:cNvPr>
          <p:cNvSpPr/>
          <p:nvPr/>
        </p:nvSpPr>
        <p:spPr>
          <a:xfrm>
            <a:off x="403737" y="7145709"/>
            <a:ext cx="804672" cy="6463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600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921C-8A47-3D70-EBA7-E986B1745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7CA815-68CC-2708-D82C-FC4BA4E20D8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5973C-D05C-4B0C-18BF-522BED8AA71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8FB556-F65E-5D74-FB3F-9400A9DBB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Learning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B8856-91A2-6394-317B-07EBA71F7675}"/>
              </a:ext>
            </a:extLst>
          </p:cNvPr>
          <p:cNvSpPr txBox="1"/>
          <p:nvPr/>
        </p:nvSpPr>
        <p:spPr>
          <a:xfrm>
            <a:off x="1178488" y="2432054"/>
            <a:ext cx="17806398" cy="618630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i="1" dirty="0"/>
              <a:t>By the end of this lecture, you should be able to:</a:t>
            </a:r>
          </a:p>
          <a:p>
            <a:endParaRPr lang="en-CA" sz="3600" i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3600" dirty="0"/>
              <a:t>Explain why </a:t>
            </a:r>
            <a:r>
              <a:rPr lang="en-CA" sz="3600" b="1" dirty="0"/>
              <a:t>local</a:t>
            </a:r>
            <a:r>
              <a:rPr lang="en-CA" sz="3600" dirty="0"/>
              <a:t> alignment, not global, is the right tool for detecting conserved domains in divergent sequences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3600" dirty="0"/>
              <a:t>Describe BLAST's seed-and-extend strategy and explain why it trades exactness for speed.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3600" dirty="0"/>
              <a:t>Interpret a BLAST bit score and E-value, and know what each does and doesn't tell you.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3600" dirty="0"/>
              <a:t>Define a </a:t>
            </a:r>
            <a:r>
              <a:rPr lang="en-CA" sz="3600" b="1" dirty="0"/>
              <a:t>Hidden Markov Model </a:t>
            </a:r>
            <a:r>
              <a:rPr lang="en-CA" sz="3600" dirty="0"/>
              <a:t>and describe how HMMs represent protein families.</a:t>
            </a:r>
          </a:p>
          <a:p>
            <a:endParaRPr lang="is-IS" sz="3600" dirty="0"/>
          </a:p>
        </p:txBody>
      </p:sp>
    </p:spTree>
    <p:extLst>
      <p:ext uri="{BB962C8B-B14F-4D97-AF65-F5344CB8AC3E}">
        <p14:creationId xmlns:p14="http://schemas.microsoft.com/office/powerpoint/2010/main" val="217620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D98A0-503E-B2D3-B9F6-EE88338F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ACEFEF-BA71-1F43-D11E-0BF3BEA3B4F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AE8D34-8F47-0298-22BB-492E7122A4A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E20D4F-A876-9ABB-95DC-1C94B5F1D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pic>
        <p:nvPicPr>
          <p:cNvPr id="13" name="Picture 12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DD811D0B-17E2-A32A-3045-3B53498C3F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9" b="4349"/>
          <a:stretch>
            <a:fillRect/>
          </a:stretch>
        </p:blipFill>
        <p:spPr>
          <a:xfrm>
            <a:off x="3534087" y="2014820"/>
            <a:ext cx="13250238" cy="813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75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7CBFE-A322-6ADB-1835-B4EA9B00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1E10C-3006-B101-A839-54B4C006A54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34DD6E-1FD0-1C55-58DF-720F5A55C37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ED2E8D-5665-222E-9634-B16F7578F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pic>
        <p:nvPicPr>
          <p:cNvPr id="13" name="Picture 12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689D3D88-5B9C-8187-B94E-7A0DB9B62D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9" b="4349"/>
          <a:stretch>
            <a:fillRect/>
          </a:stretch>
        </p:blipFill>
        <p:spPr>
          <a:xfrm>
            <a:off x="3534087" y="2014820"/>
            <a:ext cx="13250238" cy="81350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1990DB-1245-CB05-1292-0810731DA7B8}"/>
              </a:ext>
            </a:extLst>
          </p:cNvPr>
          <p:cNvSpPr txBox="1"/>
          <p:nvPr/>
        </p:nvSpPr>
        <p:spPr>
          <a:xfrm>
            <a:off x="962464" y="4723428"/>
            <a:ext cx="8053520" cy="526297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Before BLAST: </a:t>
            </a:r>
            <a:r>
              <a:rPr lang="en-US" sz="2800" b="1" dirty="0"/>
              <a:t>Smith-Waterman </a:t>
            </a:r>
          </a:p>
          <a:p>
            <a:endParaRPr lang="en-US" sz="2800" dirty="0"/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dynamic programming alignment algorithms to compare the query against each sequence in the database</a:t>
            </a:r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each comparison is an exhaustive comparison of each nucleotide or amino acid against all others</a:t>
            </a:r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it won’t miss anything, but processing and memory intensive</a:t>
            </a:r>
          </a:p>
        </p:txBody>
      </p:sp>
    </p:spTree>
    <p:extLst>
      <p:ext uri="{BB962C8B-B14F-4D97-AF65-F5344CB8AC3E}">
        <p14:creationId xmlns:p14="http://schemas.microsoft.com/office/powerpoint/2010/main" val="2125070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81CFA-43B4-3892-BDAC-370E470D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2DB7B0-A8D0-2F73-0090-DD2D9F4AB21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B993B2-E588-0328-AB65-8D92AFDA4C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D6D340A-E303-7153-841D-D3EEF2FB5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pic>
        <p:nvPicPr>
          <p:cNvPr id="13" name="Picture 12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CBDC5872-54E6-2DB3-DBD8-45D109ED0C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9" b="4349"/>
          <a:stretch>
            <a:fillRect/>
          </a:stretch>
        </p:blipFill>
        <p:spPr>
          <a:xfrm>
            <a:off x="3534087" y="2014820"/>
            <a:ext cx="13250238" cy="8135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74921D-0A23-0616-CAB6-D1C4A9386A56}"/>
              </a:ext>
            </a:extLst>
          </p:cNvPr>
          <p:cNvSpPr txBox="1"/>
          <p:nvPr/>
        </p:nvSpPr>
        <p:spPr>
          <a:xfrm>
            <a:off x="724720" y="4455974"/>
            <a:ext cx="8620448" cy="56938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BLAST</a:t>
            </a:r>
          </a:p>
          <a:p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novel decrease in the search space</a:t>
            </a:r>
          </a:p>
          <a:p>
            <a:pPr marL="285750" indent="-285750">
              <a:buFont typeface="Arial"/>
              <a:buChar char="•"/>
            </a:pP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creates a “word list” from the query sequence with words of a specific length (</a:t>
            </a:r>
            <a:r>
              <a:rPr lang="en-US" sz="2800" i="1" dirty="0"/>
              <a:t>w</a:t>
            </a:r>
            <a:r>
              <a:rPr lang="en-US" sz="2800" dirty="0"/>
              <a:t>)</a:t>
            </a:r>
          </a:p>
          <a:p>
            <a:pPr marL="285750" indent="-285750">
              <a:buFont typeface="Arial"/>
              <a:buChar char="•"/>
            </a:pP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local alignments only explored where “words” have complete match to the query</a:t>
            </a:r>
          </a:p>
          <a:p>
            <a:pPr marL="285750" indent="-285750">
              <a:buFont typeface="Arial"/>
              <a:buChar char="•"/>
            </a:pPr>
            <a:endParaRPr lang="en-US" sz="2800" i="1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short word matching is very amenable to computing – fast and lower memory needs</a:t>
            </a:r>
          </a:p>
          <a:p>
            <a:pPr marL="285750" indent="-285750">
              <a:buFont typeface="Arial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5452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5A7AD-E218-6900-18B2-87C66527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069BA-A474-0853-F92B-34AB01B7884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C062D0-14DB-D168-217A-05A682B3FE5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FB4876-0735-A658-B046-E81F910B1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884CF-30F2-E8DC-3D7B-4B98BD8D1356}"/>
              </a:ext>
            </a:extLst>
          </p:cNvPr>
          <p:cNvSpPr txBox="1"/>
          <p:nvPr/>
        </p:nvSpPr>
        <p:spPr>
          <a:xfrm>
            <a:off x="724720" y="4455974"/>
            <a:ext cx="8620448" cy="56938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BLAST</a:t>
            </a:r>
          </a:p>
          <a:p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novel decrease in the search space</a:t>
            </a:r>
          </a:p>
          <a:p>
            <a:pPr marL="285750" indent="-285750">
              <a:buFont typeface="Arial"/>
              <a:buChar char="•"/>
            </a:pP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creates a “word list” from the query sequence with words of a specific length (</a:t>
            </a:r>
            <a:r>
              <a:rPr lang="en-US" sz="2800" i="1" dirty="0"/>
              <a:t>w</a:t>
            </a:r>
            <a:r>
              <a:rPr lang="en-US" sz="2800" dirty="0"/>
              <a:t>)</a:t>
            </a:r>
          </a:p>
          <a:p>
            <a:pPr marL="285750" indent="-285750">
              <a:buFont typeface="Arial"/>
              <a:buChar char="•"/>
            </a:pP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local alignments only explored where “words” have complete match to the query</a:t>
            </a:r>
          </a:p>
          <a:p>
            <a:pPr marL="285750" indent="-285750">
              <a:buFont typeface="Arial"/>
              <a:buChar char="•"/>
            </a:pPr>
            <a:endParaRPr lang="en-US" sz="2800" i="1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short word matching is very amenable to computing – fast and lower memory needs</a:t>
            </a:r>
          </a:p>
          <a:p>
            <a:pPr marL="285750" indent="-285750">
              <a:buFont typeface="Arial"/>
              <a:buChar char="•"/>
            </a:pPr>
            <a:endParaRPr lang="en-US" sz="2800" dirty="0"/>
          </a:p>
        </p:txBody>
      </p:sp>
      <p:pic>
        <p:nvPicPr>
          <p:cNvPr id="2" name="Picture 1" descr="blast_f2_FULL.jpg">
            <a:extLst>
              <a:ext uri="{FF2B5EF4-FFF2-40B4-BE49-F238E27FC236}">
                <a16:creationId xmlns:a16="http://schemas.microsoft.com/office/drawing/2014/main" id="{91615880-BD9A-89EB-651C-37575BD23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89"/>
          <a:stretch>
            <a:fillRect/>
          </a:stretch>
        </p:blipFill>
        <p:spPr>
          <a:xfrm>
            <a:off x="9345168" y="2147247"/>
            <a:ext cx="10612747" cy="3760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1F38C5-F342-F7D0-D6E0-FEB36E2A7688}"/>
              </a:ext>
            </a:extLst>
          </p:cNvPr>
          <p:cNvSpPr txBox="1"/>
          <p:nvPr/>
        </p:nvSpPr>
        <p:spPr>
          <a:xfrm>
            <a:off x="11066522" y="8157455"/>
            <a:ext cx="8971416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BLAST defaults (</a:t>
            </a:r>
            <a:r>
              <a:rPr lang="en-US" sz="2800" i="1" dirty="0"/>
              <a:t>w</a:t>
            </a:r>
            <a:r>
              <a:rPr lang="en-US" sz="2800" dirty="0"/>
              <a:t>=11 for DNA, </a:t>
            </a:r>
            <a:r>
              <a:rPr lang="en-US" sz="2800" i="1" dirty="0"/>
              <a:t>w</a:t>
            </a:r>
            <a:r>
              <a:rPr lang="en-US" sz="2800" dirty="0"/>
              <a:t>=3 for protein) are often sufficient – but not always!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19D9A8-786A-B039-8090-BAE1EF8CD635}"/>
              </a:ext>
            </a:extLst>
          </p:cNvPr>
          <p:cNvCxnSpPr>
            <a:cxnSpLocks/>
          </p:cNvCxnSpPr>
          <p:nvPr/>
        </p:nvCxnSpPr>
        <p:spPr>
          <a:xfrm>
            <a:off x="11905488" y="6894576"/>
            <a:ext cx="0" cy="6217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EEBC10-7C9C-B9DB-E970-F991473C4B83}"/>
              </a:ext>
            </a:extLst>
          </p:cNvPr>
          <p:cNvSpPr txBox="1"/>
          <p:nvPr/>
        </p:nvSpPr>
        <p:spPr>
          <a:xfrm>
            <a:off x="12231153" y="6894576"/>
            <a:ext cx="181403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word size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F06D44-23FA-27B4-5473-9F3E43C8D4EE}"/>
              </a:ext>
            </a:extLst>
          </p:cNvPr>
          <p:cNvCxnSpPr>
            <a:cxnSpLocks/>
          </p:cNvCxnSpPr>
          <p:nvPr/>
        </p:nvCxnSpPr>
        <p:spPr>
          <a:xfrm flipV="1">
            <a:off x="14417040" y="6894576"/>
            <a:ext cx="0" cy="6217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579C42-300F-3608-7204-8E2A13022D41}"/>
              </a:ext>
            </a:extLst>
          </p:cNvPr>
          <p:cNvSpPr txBox="1"/>
          <p:nvPr/>
        </p:nvSpPr>
        <p:spPr>
          <a:xfrm>
            <a:off x="14742705" y="6894576"/>
            <a:ext cx="181403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resolution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EE349F-84D2-16B6-4044-2BA23EDEE118}"/>
              </a:ext>
            </a:extLst>
          </p:cNvPr>
          <p:cNvCxnSpPr>
            <a:cxnSpLocks/>
          </p:cNvCxnSpPr>
          <p:nvPr/>
        </p:nvCxnSpPr>
        <p:spPr>
          <a:xfrm flipV="1">
            <a:off x="16845190" y="6894576"/>
            <a:ext cx="0" cy="6217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87995E-8217-054C-FDDA-AB8A0264EE46}"/>
              </a:ext>
            </a:extLst>
          </p:cNvPr>
          <p:cNvSpPr txBox="1"/>
          <p:nvPr/>
        </p:nvSpPr>
        <p:spPr>
          <a:xfrm>
            <a:off x="17170855" y="6894576"/>
            <a:ext cx="181403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runtime</a:t>
            </a:r>
          </a:p>
        </p:txBody>
      </p:sp>
    </p:spTree>
    <p:extLst>
      <p:ext uri="{BB962C8B-B14F-4D97-AF65-F5344CB8AC3E}">
        <p14:creationId xmlns:p14="http://schemas.microsoft.com/office/powerpoint/2010/main" val="37434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4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84439-0DA7-6E99-D1C2-A672BEF8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F7C37B-85AF-D33D-FDFD-958207DA990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1737BF-4788-F69B-0162-C449699A9C9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5B5912-4D79-DCE0-27B2-523307C23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F784FDA-5070-488A-45B5-B2A72EBC4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EB88174-77F7-311F-6A2D-7F5DAD2D0563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last_f2_FULL.jpg">
            <a:extLst>
              <a:ext uri="{FF2B5EF4-FFF2-40B4-BE49-F238E27FC236}">
                <a16:creationId xmlns:a16="http://schemas.microsoft.com/office/drawing/2014/main" id="{D7F503E0-4D62-86A4-ACE4-E92D89A94F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89"/>
          <a:stretch>
            <a:fillRect/>
          </a:stretch>
        </p:blipFill>
        <p:spPr>
          <a:xfrm>
            <a:off x="9345168" y="2147247"/>
            <a:ext cx="10612747" cy="376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32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1717-F8DD-108A-5E66-66A067E3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C555C6A-8888-BBFE-CF2A-12CF0443E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313AC-532C-B26B-5120-4324A80E199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C19AF3-3490-FB04-41D5-B8FEB20F07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FB2716C-8508-40E3-08D0-143237DFC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8AB87B3-11D6-1AD9-2B90-28A78FBEF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B4A4A1-6368-EF27-7DC0-F6D80BEB8DCB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96FE70-AED9-C6B1-61E3-4610E4021C87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FFFA4B-A74E-4AA9-A31F-9FFD50938944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945EAC0-1824-5E85-5268-BFDF6E1EABDC}"/>
              </a:ext>
            </a:extLst>
          </p:cNvPr>
          <p:cNvSpPr txBox="1"/>
          <p:nvPr/>
        </p:nvSpPr>
        <p:spPr>
          <a:xfrm>
            <a:off x="5996080" y="5480237"/>
            <a:ext cx="136600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Extension stops once the score falls a set amount (</a:t>
            </a:r>
            <a:r>
              <a:rPr lang="en-CA" sz="2400" b="0" i="1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CA" sz="24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below the best score seen so far — there's no benefit in dragging a bad region along once the good stretch has clearly ended. This produces a </a:t>
            </a:r>
            <a:r>
              <a:rPr lang="en-CA" sz="24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Segment Pair (HSP)</a:t>
            </a:r>
            <a:r>
              <a:rPr lang="en-CA" sz="24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61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8E052-2AE1-0A97-79D4-F3F1E5CB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DEC21E4-232B-54B4-1CF5-2DA52D190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90B844-0CEB-C542-BB26-3B5666F774E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D6C2BB-569B-ED43-C6F6-004FF5A80F8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4433A1F-AA6F-DF3E-D266-B6650661A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D2A089E-3551-07D2-306B-7F932C76B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690B252-210B-D5AE-5E92-DD7907F81995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436CB3-60C9-D640-BBB4-82300D5364B1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B61845-8229-716A-6C34-545503B26FAF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last_f3_FULL.jpg">
            <a:extLst>
              <a:ext uri="{FF2B5EF4-FFF2-40B4-BE49-F238E27FC236}">
                <a16:creationId xmlns:a16="http://schemas.microsoft.com/office/drawing/2014/main" id="{D649A7B8-6D80-6E81-B8B3-94706EE028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/>
          <a:stretch>
            <a:fillRect/>
          </a:stretch>
        </p:blipFill>
        <p:spPr>
          <a:xfrm>
            <a:off x="9509762" y="2018389"/>
            <a:ext cx="6272780" cy="81767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91A0168-FF76-BCB1-614F-61BE55E8E6C8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1CD694-B159-EBF3-FBCD-A05FD94D929C}"/>
              </a:ext>
            </a:extLst>
          </p:cNvPr>
          <p:cNvCxnSpPr/>
          <p:nvPr/>
        </p:nvCxnSpPr>
        <p:spPr>
          <a:xfrm flipV="1">
            <a:off x="11283696" y="6876288"/>
            <a:ext cx="4937760" cy="2194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D9135C-9244-40C8-61F7-91F2415A44FB}"/>
              </a:ext>
            </a:extLst>
          </p:cNvPr>
          <p:cNvCxnSpPr>
            <a:cxnSpLocks/>
          </p:cNvCxnSpPr>
          <p:nvPr/>
        </p:nvCxnSpPr>
        <p:spPr>
          <a:xfrm flipV="1">
            <a:off x="12917424" y="7095744"/>
            <a:ext cx="3494883" cy="5045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BA7242-A756-3B1D-5A2F-4F84DC195DE6}"/>
              </a:ext>
            </a:extLst>
          </p:cNvPr>
          <p:cNvCxnSpPr>
            <a:cxnSpLocks/>
          </p:cNvCxnSpPr>
          <p:nvPr/>
        </p:nvCxnSpPr>
        <p:spPr>
          <a:xfrm flipV="1">
            <a:off x="14664865" y="7237519"/>
            <a:ext cx="1747442" cy="15712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F6021EB-7B92-7F43-E1BD-4A085BBD4916}"/>
              </a:ext>
            </a:extLst>
          </p:cNvPr>
          <p:cNvSpPr txBox="1"/>
          <p:nvPr/>
        </p:nvSpPr>
        <p:spPr>
          <a:xfrm>
            <a:off x="16659085" y="6517018"/>
            <a:ext cx="33788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Scoring Pair (HSP)</a:t>
            </a:r>
            <a:r>
              <a:rPr lang="en-CA" sz="24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BCE5A-97ED-2941-2ECC-4F31DB3511AC}"/>
              </a:ext>
            </a:extLst>
          </p:cNvPr>
          <p:cNvSpPr/>
          <p:nvPr/>
        </p:nvSpPr>
        <p:spPr>
          <a:xfrm>
            <a:off x="8851392" y="5998464"/>
            <a:ext cx="11028345" cy="40593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16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00796-1F9D-17B6-E3A5-FAF8BB35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44B1FFA-0EA1-5F85-07F4-70F871B34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18BA64-2C4A-9395-0465-7D5C1274314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69FB3C-7152-F8D0-65F4-F29047F0172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DFCDD4D-1C48-149E-0102-274596E71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31C276E-31D4-F299-C28A-14CBFBD70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4CD868A-D4D8-6DB8-6AC4-B3804C658BB3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3C77D8-48FB-30F3-9C94-4F7368450873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27BC9C0-2719-D838-D1C4-B3AB0439B0BB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last_f3_FULL.jpg">
            <a:extLst>
              <a:ext uri="{FF2B5EF4-FFF2-40B4-BE49-F238E27FC236}">
                <a16:creationId xmlns:a16="http://schemas.microsoft.com/office/drawing/2014/main" id="{22A1D0CC-B2D1-791C-4F10-C3CD5D2662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/>
          <a:stretch>
            <a:fillRect/>
          </a:stretch>
        </p:blipFill>
        <p:spPr>
          <a:xfrm>
            <a:off x="9509762" y="2018389"/>
            <a:ext cx="6272780" cy="81767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985DB1-2380-2957-B8FA-338F20D44C59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53E068-0633-178B-AA80-BD69B154C9FC}"/>
              </a:ext>
            </a:extLst>
          </p:cNvPr>
          <p:cNvCxnSpPr/>
          <p:nvPr/>
        </p:nvCxnSpPr>
        <p:spPr>
          <a:xfrm flipV="1">
            <a:off x="11283696" y="6876288"/>
            <a:ext cx="4937760" cy="2194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F7A7AF-AFC3-3839-5878-5CBA3A446ED1}"/>
              </a:ext>
            </a:extLst>
          </p:cNvPr>
          <p:cNvCxnSpPr>
            <a:cxnSpLocks/>
          </p:cNvCxnSpPr>
          <p:nvPr/>
        </p:nvCxnSpPr>
        <p:spPr>
          <a:xfrm flipV="1">
            <a:off x="12917424" y="7095744"/>
            <a:ext cx="3494883" cy="5045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80BE74-E31B-D8FD-6030-5F96C11CBC1C}"/>
              </a:ext>
            </a:extLst>
          </p:cNvPr>
          <p:cNvCxnSpPr>
            <a:cxnSpLocks/>
          </p:cNvCxnSpPr>
          <p:nvPr/>
        </p:nvCxnSpPr>
        <p:spPr>
          <a:xfrm flipV="1">
            <a:off x="14664865" y="7237519"/>
            <a:ext cx="1747442" cy="15712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BFA20A-60ED-1E66-27ED-87CC0491D77C}"/>
              </a:ext>
            </a:extLst>
          </p:cNvPr>
          <p:cNvSpPr txBox="1"/>
          <p:nvPr/>
        </p:nvSpPr>
        <p:spPr>
          <a:xfrm>
            <a:off x="16659085" y="6517018"/>
            <a:ext cx="33788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Scoring Pair (HSP)</a:t>
            </a:r>
            <a:r>
              <a:rPr lang="en-CA" sz="24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876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9124B-E7D7-DFA6-B930-F8E5BFDB6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test&#10;&#10;AI-generated content may be incorrect.">
            <a:extLst>
              <a:ext uri="{FF2B5EF4-FFF2-40B4-BE49-F238E27FC236}">
                <a16:creationId xmlns:a16="http://schemas.microsoft.com/office/drawing/2014/main" id="{17DBDD49-6EE7-A86E-249B-397999A9B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78" y="7743597"/>
            <a:ext cx="3710586" cy="2314234"/>
          </a:xfrm>
          <a:prstGeom prst="rect">
            <a:avLst/>
          </a:prstGeom>
        </p:spPr>
      </p:pic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B780786-1AE0-EBC5-6F26-1DEBBA21D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7CAC0-3323-0D8D-40F8-715AF3E59B0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E67759-3002-B759-F577-4A5DC5A9262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9B49321-CFE9-DA99-F6D0-617DA2D68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89E6BC2-BD48-82E1-7B4C-C5D6936B1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01D069F-4CF6-6AA2-7090-ABBA0D05A7B9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B67D0B-1F01-26D2-CCF9-D217886B05C1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F4D855-A8E7-1C84-F0EA-F4CC7510BE7B}"/>
              </a:ext>
            </a:extLst>
          </p:cNvPr>
          <p:cNvSpPr/>
          <p:nvPr/>
        </p:nvSpPr>
        <p:spPr>
          <a:xfrm>
            <a:off x="1569688" y="7640359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D60564-4745-91C6-7928-03355591D672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3911C9-E366-352A-9C2E-9CC1EE09172E}"/>
              </a:ext>
            </a:extLst>
          </p:cNvPr>
          <p:cNvCxnSpPr>
            <a:cxnSpLocks/>
          </p:cNvCxnSpPr>
          <p:nvPr/>
        </p:nvCxnSpPr>
        <p:spPr>
          <a:xfrm>
            <a:off x="3134852" y="7333790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last_f3_FULL.jpg">
            <a:extLst>
              <a:ext uri="{FF2B5EF4-FFF2-40B4-BE49-F238E27FC236}">
                <a16:creationId xmlns:a16="http://schemas.microsoft.com/office/drawing/2014/main" id="{EE8E4680-21A8-3BEA-4931-BCEB8577B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/>
          <a:stretch>
            <a:fillRect/>
          </a:stretch>
        </p:blipFill>
        <p:spPr>
          <a:xfrm>
            <a:off x="9509762" y="2018389"/>
            <a:ext cx="6272780" cy="81767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9C4B6C1-8AB6-3F8F-8B0E-53DE8551BDFD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4E0B2B-0F87-C135-D0A6-151EB927DE5F}"/>
              </a:ext>
            </a:extLst>
          </p:cNvPr>
          <p:cNvCxnSpPr>
            <a:cxnSpLocks/>
          </p:cNvCxnSpPr>
          <p:nvPr/>
        </p:nvCxnSpPr>
        <p:spPr>
          <a:xfrm flipV="1">
            <a:off x="14664865" y="7237519"/>
            <a:ext cx="1747442" cy="15712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218C78B-9263-9154-8919-CB2A276C22CC}"/>
              </a:ext>
            </a:extLst>
          </p:cNvPr>
          <p:cNvSpPr txBox="1"/>
          <p:nvPr/>
        </p:nvSpPr>
        <p:spPr>
          <a:xfrm>
            <a:off x="16659085" y="6517018"/>
            <a:ext cx="33788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Scoring Pair (HSP)</a:t>
            </a:r>
            <a:r>
              <a:rPr lang="en-CA" sz="24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347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1DC2-31C7-F0D0-436F-800D91A0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test&#10;&#10;AI-generated content may be incorrect.">
            <a:extLst>
              <a:ext uri="{FF2B5EF4-FFF2-40B4-BE49-F238E27FC236}">
                <a16:creationId xmlns:a16="http://schemas.microsoft.com/office/drawing/2014/main" id="{63E04B25-0FDF-0437-5DB0-9212A8824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78" y="7743597"/>
            <a:ext cx="3710586" cy="2314234"/>
          </a:xfrm>
          <a:prstGeom prst="rect">
            <a:avLst/>
          </a:prstGeom>
        </p:spPr>
      </p:pic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E8466D0-8E5E-3D54-BCA8-6159A85EB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215A6-044F-B8FB-04DD-A65E376CB82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4C37E8-E7FE-6439-1ADD-970CC8DAC35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37B267-EF31-B966-8B95-EB3399A27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</a:t>
            </a:r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igh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coring </a:t>
            </a:r>
            <a:r>
              <a:rPr lang="en-US" sz="6000" u="sng" dirty="0">
                <a:latin typeface="Raleway" pitchFamily="2" charset="77"/>
              </a:rPr>
              <a:t>P</a:t>
            </a:r>
            <a:r>
              <a:rPr lang="en-US" sz="6000" dirty="0">
                <a:latin typeface="Raleway" pitchFamily="2" charset="77"/>
              </a:rPr>
              <a:t>air (HSP) 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07FB71D-E5C6-12C0-60B6-46311BEA3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AB47438-CAFC-E029-4A83-0361DF0741F8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FAAD0B-6E66-2300-63E9-0874A26ADF62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4D9363-F2A8-7900-C83B-5FA485AF0EA9}"/>
              </a:ext>
            </a:extLst>
          </p:cNvPr>
          <p:cNvSpPr/>
          <p:nvPr/>
        </p:nvSpPr>
        <p:spPr>
          <a:xfrm>
            <a:off x="1569688" y="7640359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C74D27-56E5-8BD9-8134-6EA14A892E40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55BEBF-FBBB-E1D9-7505-9B943237E8AB}"/>
              </a:ext>
            </a:extLst>
          </p:cNvPr>
          <p:cNvCxnSpPr>
            <a:cxnSpLocks/>
          </p:cNvCxnSpPr>
          <p:nvPr/>
        </p:nvCxnSpPr>
        <p:spPr>
          <a:xfrm>
            <a:off x="3134852" y="7333790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C1A386A-0472-CA0F-32D7-8873B7422E5F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sp.tiff">
            <a:extLst>
              <a:ext uri="{FF2B5EF4-FFF2-40B4-BE49-F238E27FC236}">
                <a16:creationId xmlns:a16="http://schemas.microsoft.com/office/drawing/2014/main" id="{A4B00C6E-4093-E6AB-0788-5454E54944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2075191"/>
            <a:ext cx="10866015" cy="5415367"/>
          </a:xfrm>
          <a:prstGeom prst="rect">
            <a:avLst/>
          </a:prstGeom>
        </p:spPr>
      </p:pic>
      <p:pic>
        <p:nvPicPr>
          <p:cNvPr id="5" name="Picture 4" descr="stats.tiff">
            <a:extLst>
              <a:ext uri="{FF2B5EF4-FFF2-40B4-BE49-F238E27FC236}">
                <a16:creationId xmlns:a16="http://schemas.microsoft.com/office/drawing/2014/main" id="{0C34C3F5-2D18-CA2B-1AF9-99279FC2E3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7490558"/>
            <a:ext cx="10866016" cy="73881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53345DB-1A14-B7DE-A0F2-291CDD093A28}"/>
              </a:ext>
            </a:extLst>
          </p:cNvPr>
          <p:cNvSpPr/>
          <p:nvPr/>
        </p:nvSpPr>
        <p:spPr bwMode="auto">
          <a:xfrm>
            <a:off x="14272632" y="6589392"/>
            <a:ext cx="504056" cy="216024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noFill/>
              <a:effectLst/>
              <a:latin typeface="Times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0424B2-CC60-A9A2-9EBD-37DE048F38A3}"/>
              </a:ext>
            </a:extLst>
          </p:cNvPr>
          <p:cNvSpPr/>
          <p:nvPr/>
        </p:nvSpPr>
        <p:spPr bwMode="auto">
          <a:xfrm>
            <a:off x="8437076" y="4020045"/>
            <a:ext cx="504056" cy="216024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noFill/>
              <a:effectLst/>
              <a:latin typeface="Times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B974C88-9B6C-C817-822C-32AD87C0542F}"/>
              </a:ext>
            </a:extLst>
          </p:cNvPr>
          <p:cNvSpPr/>
          <p:nvPr/>
        </p:nvSpPr>
        <p:spPr bwMode="auto">
          <a:xfrm>
            <a:off x="10129264" y="4882797"/>
            <a:ext cx="504056" cy="216024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noFill/>
              <a:effectLst/>
              <a:latin typeface="Times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562BB-24AF-027C-DC5D-0C9BD16E25D9}"/>
              </a:ext>
            </a:extLst>
          </p:cNvPr>
          <p:cNvSpPr txBox="1"/>
          <p:nvPr/>
        </p:nvSpPr>
        <p:spPr>
          <a:xfrm>
            <a:off x="14272632" y="8914517"/>
            <a:ext cx="3676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219 – (3-1) + 1 gap = 218</a:t>
            </a: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318EB58F-FC3F-7473-1C39-B58B383E6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6688" y="9354809"/>
            <a:ext cx="421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1" dirty="0"/>
              <a:t>3</a:t>
            </a:r>
            <a:r>
              <a:rPr lang="en-US" i="1" baseline="30000" dirty="0"/>
              <a:t>rd</a:t>
            </a:r>
            <a:r>
              <a:rPr lang="en-US" i="1" dirty="0"/>
              <a:t> amino acid is a part of the alignment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C5C9B5-ADAC-682D-0209-2299592FC8ED}"/>
              </a:ext>
            </a:extLst>
          </p:cNvPr>
          <p:cNvCxnSpPr/>
          <p:nvPr/>
        </p:nvCxnSpPr>
        <p:spPr>
          <a:xfrm flipV="1">
            <a:off x="16568928" y="8229375"/>
            <a:ext cx="932688" cy="619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D9D07A0-69E9-2F6E-D42D-5393EE2A6A7E}"/>
              </a:ext>
            </a:extLst>
          </p:cNvPr>
          <p:cNvCxnSpPr>
            <a:cxnSpLocks/>
          </p:cNvCxnSpPr>
          <p:nvPr/>
        </p:nvCxnSpPr>
        <p:spPr>
          <a:xfrm flipH="1" flipV="1">
            <a:off x="16110635" y="8229375"/>
            <a:ext cx="458293" cy="619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9CDCD1D-7A11-96DD-DDDC-840EF215D1C0}"/>
              </a:ext>
            </a:extLst>
          </p:cNvPr>
          <p:cNvCxnSpPr>
            <a:cxnSpLocks/>
          </p:cNvCxnSpPr>
          <p:nvPr/>
        </p:nvCxnSpPr>
        <p:spPr>
          <a:xfrm flipH="1" flipV="1">
            <a:off x="14272632" y="8229375"/>
            <a:ext cx="2296295" cy="619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6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7" grpId="0" animBg="1"/>
      <p:bldP spid="19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4192-69FB-C881-1B5C-071938726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test&#10;&#10;AI-generated content may be incorrect.">
            <a:extLst>
              <a:ext uri="{FF2B5EF4-FFF2-40B4-BE49-F238E27FC236}">
                <a16:creationId xmlns:a16="http://schemas.microsoft.com/office/drawing/2014/main" id="{7B8EF2C4-FFAF-1B9F-258C-2DA658C08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78" y="7743597"/>
            <a:ext cx="3710586" cy="2314234"/>
          </a:xfrm>
          <a:prstGeom prst="rect">
            <a:avLst/>
          </a:prstGeom>
        </p:spPr>
      </p:pic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5634B6E-F9AA-55F1-AC4A-753834EAD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FB1249-A0E8-F46D-461E-45C19F6CD84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8DCE92-AC8A-E9F4-946A-F355F567053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DC98F17-0C1B-1F4B-0BE6-C288AB8C2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</a:t>
            </a:r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igh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coring </a:t>
            </a:r>
            <a:r>
              <a:rPr lang="en-US" sz="6000" u="sng" dirty="0">
                <a:latin typeface="Raleway" pitchFamily="2" charset="77"/>
              </a:rPr>
              <a:t>P</a:t>
            </a:r>
            <a:r>
              <a:rPr lang="en-US" sz="6000" dirty="0">
                <a:latin typeface="Raleway" pitchFamily="2" charset="77"/>
              </a:rPr>
              <a:t>air (HSP) 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0F8E22C-84B8-3889-2578-183ED39CE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952E80E-CE76-D271-FE16-543E40F6C5A4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DAFFFE-FD14-5ABF-A145-ED7A3A2073C7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473CEE-FD14-753C-ABB9-70CF3589B6CA}"/>
              </a:ext>
            </a:extLst>
          </p:cNvPr>
          <p:cNvSpPr/>
          <p:nvPr/>
        </p:nvSpPr>
        <p:spPr>
          <a:xfrm>
            <a:off x="1569688" y="7640359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F621A9A-05D9-E92E-D242-D1B7371F9017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307B39-1E65-9770-77F8-F395587F9C73}"/>
              </a:ext>
            </a:extLst>
          </p:cNvPr>
          <p:cNvCxnSpPr>
            <a:cxnSpLocks/>
          </p:cNvCxnSpPr>
          <p:nvPr/>
        </p:nvCxnSpPr>
        <p:spPr>
          <a:xfrm>
            <a:off x="3134852" y="7333790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73CE982-DAEB-A7FE-BFFB-14D4363A12AF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sp.tiff">
            <a:extLst>
              <a:ext uri="{FF2B5EF4-FFF2-40B4-BE49-F238E27FC236}">
                <a16:creationId xmlns:a16="http://schemas.microsoft.com/office/drawing/2014/main" id="{2240777B-70C7-3D9E-9533-A233255089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2075191"/>
            <a:ext cx="10866015" cy="5415367"/>
          </a:xfrm>
          <a:prstGeom prst="rect">
            <a:avLst/>
          </a:prstGeom>
        </p:spPr>
      </p:pic>
      <p:pic>
        <p:nvPicPr>
          <p:cNvPr id="5" name="Picture 4" descr="stats.tiff">
            <a:extLst>
              <a:ext uri="{FF2B5EF4-FFF2-40B4-BE49-F238E27FC236}">
                <a16:creationId xmlns:a16="http://schemas.microsoft.com/office/drawing/2014/main" id="{4F060DD2-4D47-F30A-BF03-1D0093371A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7490558"/>
            <a:ext cx="10866016" cy="73881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7D0488-C9FF-9B51-AB35-FAD6B0845F47}"/>
              </a:ext>
            </a:extLst>
          </p:cNvPr>
          <p:cNvCxnSpPr>
            <a:cxnSpLocks/>
          </p:cNvCxnSpPr>
          <p:nvPr/>
        </p:nvCxnSpPr>
        <p:spPr>
          <a:xfrm flipH="1" flipV="1">
            <a:off x="16693137" y="5579393"/>
            <a:ext cx="941797" cy="385387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AE1028-E502-B3D5-1373-1D102B519B14}"/>
              </a:ext>
            </a:extLst>
          </p:cNvPr>
          <p:cNvCxnSpPr>
            <a:cxnSpLocks/>
          </p:cNvCxnSpPr>
          <p:nvPr/>
        </p:nvCxnSpPr>
        <p:spPr>
          <a:xfrm flipV="1">
            <a:off x="15648035" y="5579393"/>
            <a:ext cx="0" cy="377541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64EF383-54DC-14A8-5166-669C8C885AFD}"/>
              </a:ext>
            </a:extLst>
          </p:cNvPr>
          <p:cNvCxnSpPr>
            <a:cxnSpLocks/>
          </p:cNvCxnSpPr>
          <p:nvPr/>
        </p:nvCxnSpPr>
        <p:spPr>
          <a:xfrm flipV="1">
            <a:off x="13661136" y="5696712"/>
            <a:ext cx="0" cy="365809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6421E5F-95B8-FA97-1D58-4C2B516B2BEF}"/>
              </a:ext>
            </a:extLst>
          </p:cNvPr>
          <p:cNvSpPr txBox="1"/>
          <p:nvPr/>
        </p:nvSpPr>
        <p:spPr>
          <a:xfrm>
            <a:off x="12559712" y="9596166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Exact matches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968419-C094-9DAA-695A-12820BA70287}"/>
              </a:ext>
            </a:extLst>
          </p:cNvPr>
          <p:cNvSpPr txBox="1"/>
          <p:nvPr/>
        </p:nvSpPr>
        <p:spPr>
          <a:xfrm>
            <a:off x="14967077" y="9433265"/>
            <a:ext cx="2068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Conservative </a:t>
            </a:r>
            <a:br>
              <a:rPr lang="en-US" sz="2400" dirty="0"/>
            </a:br>
            <a:r>
              <a:rPr lang="en-US" sz="2400" dirty="0"/>
              <a:t>change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09A564-1AE7-C028-9A12-4FCA7AFA0BDC}"/>
              </a:ext>
            </a:extLst>
          </p:cNvPr>
          <p:cNvSpPr txBox="1"/>
          <p:nvPr/>
        </p:nvSpPr>
        <p:spPr>
          <a:xfrm>
            <a:off x="17239790" y="9592823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Gaps</a:t>
            </a:r>
          </a:p>
        </p:txBody>
      </p:sp>
    </p:spTree>
    <p:extLst>
      <p:ext uri="{BB962C8B-B14F-4D97-AF65-F5344CB8AC3E}">
        <p14:creationId xmlns:p14="http://schemas.microsoft.com/office/powerpoint/2010/main" val="431396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A41D3-BE58-67AA-DEB7-93E65185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5AB906B-824F-F838-62D7-099AB61F8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186181-0A3B-BD60-3FF3-482B73BCF67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18B6B3C-9AE7-3ADE-6DB5-4D0A42563D8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4B82C0-B25C-D56D-58E8-1281F86C0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</a:t>
            </a:r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igh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coring </a:t>
            </a:r>
            <a:r>
              <a:rPr lang="en-US" sz="6000" u="sng" dirty="0">
                <a:latin typeface="Raleway" pitchFamily="2" charset="77"/>
              </a:rPr>
              <a:t>P</a:t>
            </a:r>
            <a:r>
              <a:rPr lang="en-US" sz="6000" dirty="0">
                <a:latin typeface="Raleway" pitchFamily="2" charset="77"/>
              </a:rPr>
              <a:t>air (HSP) 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C5294B2-CDC5-964C-62AB-E35436143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D528F86-EBBD-AEFC-46EB-7BFD6ECF509D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7BDCF7-D948-F30D-47A0-E0AE388532EE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60AC20-D48E-2625-DF02-FBB05102F734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F1FA6-0ECA-228F-B0AF-32B6049F0D68}"/>
              </a:ext>
            </a:extLst>
          </p:cNvPr>
          <p:cNvCxnSpPr>
            <a:cxnSpLocks/>
          </p:cNvCxnSpPr>
          <p:nvPr/>
        </p:nvCxnSpPr>
        <p:spPr>
          <a:xfrm>
            <a:off x="3134852" y="7333790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9AA5DE6-6A43-4A1F-F8C9-4F58BDB7FCB3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sp.tiff">
            <a:extLst>
              <a:ext uri="{FF2B5EF4-FFF2-40B4-BE49-F238E27FC236}">
                <a16:creationId xmlns:a16="http://schemas.microsoft.com/office/drawing/2014/main" id="{A3CD3123-144A-9991-F7BD-014A8D65E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2075191"/>
            <a:ext cx="10866015" cy="5415367"/>
          </a:xfrm>
          <a:prstGeom prst="rect">
            <a:avLst/>
          </a:prstGeom>
        </p:spPr>
      </p:pic>
      <p:pic>
        <p:nvPicPr>
          <p:cNvPr id="5" name="Picture 4" descr="stats.tiff">
            <a:extLst>
              <a:ext uri="{FF2B5EF4-FFF2-40B4-BE49-F238E27FC236}">
                <a16:creationId xmlns:a16="http://schemas.microsoft.com/office/drawing/2014/main" id="{511A65C5-DABB-6C80-A971-45FB09B9ED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7490558"/>
            <a:ext cx="10866016" cy="73881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F4F83C-6F53-B0D5-8862-A769A8657D54}"/>
              </a:ext>
            </a:extLst>
          </p:cNvPr>
          <p:cNvCxnSpPr>
            <a:cxnSpLocks/>
          </p:cNvCxnSpPr>
          <p:nvPr/>
        </p:nvCxnSpPr>
        <p:spPr>
          <a:xfrm flipH="1" flipV="1">
            <a:off x="16693137" y="5579393"/>
            <a:ext cx="941797" cy="385387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9151519-86DA-F5E0-CF95-5B373B5397A0}"/>
              </a:ext>
            </a:extLst>
          </p:cNvPr>
          <p:cNvCxnSpPr>
            <a:cxnSpLocks/>
          </p:cNvCxnSpPr>
          <p:nvPr/>
        </p:nvCxnSpPr>
        <p:spPr>
          <a:xfrm flipV="1">
            <a:off x="15648035" y="5579393"/>
            <a:ext cx="0" cy="377541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2A8959-B052-73D1-D8D4-77C5B3EB5E42}"/>
              </a:ext>
            </a:extLst>
          </p:cNvPr>
          <p:cNvCxnSpPr>
            <a:cxnSpLocks/>
          </p:cNvCxnSpPr>
          <p:nvPr/>
        </p:nvCxnSpPr>
        <p:spPr>
          <a:xfrm flipV="1">
            <a:off x="13661136" y="5696712"/>
            <a:ext cx="0" cy="365809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03A70D-FD14-7CDA-9772-088AE960EEC1}"/>
              </a:ext>
            </a:extLst>
          </p:cNvPr>
          <p:cNvSpPr txBox="1"/>
          <p:nvPr/>
        </p:nvSpPr>
        <p:spPr>
          <a:xfrm>
            <a:off x="12559712" y="9596166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Exact matches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DBD2CC-1F79-9C1F-572F-8E9BBA72F805}"/>
              </a:ext>
            </a:extLst>
          </p:cNvPr>
          <p:cNvSpPr txBox="1"/>
          <p:nvPr/>
        </p:nvSpPr>
        <p:spPr>
          <a:xfrm>
            <a:off x="14967077" y="9433265"/>
            <a:ext cx="2068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Conservative </a:t>
            </a:r>
            <a:br>
              <a:rPr lang="en-US" sz="2400" dirty="0"/>
            </a:br>
            <a:r>
              <a:rPr lang="en-US" sz="2400" dirty="0"/>
              <a:t>change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157A0C-B29E-2FC5-1E4B-2CB40FF22A4B}"/>
              </a:ext>
            </a:extLst>
          </p:cNvPr>
          <p:cNvSpPr txBox="1"/>
          <p:nvPr/>
        </p:nvSpPr>
        <p:spPr>
          <a:xfrm>
            <a:off x="17239790" y="9592823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Gaps</a:t>
            </a:r>
          </a:p>
        </p:txBody>
      </p:sp>
      <p:pic>
        <p:nvPicPr>
          <p:cNvPr id="2" name="Picture 3" descr="aminoacids.gif                                                 0016A66F Lochinver                      B79ED4A9:">
            <a:extLst>
              <a:ext uri="{FF2B5EF4-FFF2-40B4-BE49-F238E27FC236}">
                <a16:creationId xmlns:a16="http://schemas.microsoft.com/office/drawing/2014/main" id="{85EC2F64-D013-96C9-9795-F349042BF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47" y="2020134"/>
            <a:ext cx="6810126" cy="8120536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ED0CA943-D55C-2326-69C3-48D54971D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30" y="9354809"/>
            <a:ext cx="4316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i="1" dirty="0"/>
              <a:t>conservative = similar </a:t>
            </a:r>
            <a:r>
              <a:rPr lang="en-US" i="1" dirty="0" err="1"/>
              <a:t>physico</a:t>
            </a:r>
            <a:r>
              <a:rPr lang="en-US" i="1" dirty="0"/>
              <a:t>-chemical properties</a:t>
            </a:r>
          </a:p>
        </p:txBody>
      </p:sp>
    </p:spTree>
    <p:extLst>
      <p:ext uri="{BB962C8B-B14F-4D97-AF65-F5344CB8AC3E}">
        <p14:creationId xmlns:p14="http://schemas.microsoft.com/office/powerpoint/2010/main" val="631283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1A532-A311-4335-1ABC-82185CC08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8E50EF2-94A7-1467-549C-EC5829E5B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D496B-24C5-ACC9-0C91-5D563FC57B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9C0694-0459-81DC-111F-958F28DA31C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11174D7-384A-7E74-19BF-38FE4EB00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</a:t>
            </a:r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igh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coring </a:t>
            </a:r>
            <a:r>
              <a:rPr lang="en-US" sz="6000" u="sng" dirty="0">
                <a:latin typeface="Raleway" pitchFamily="2" charset="77"/>
              </a:rPr>
              <a:t>P</a:t>
            </a:r>
            <a:r>
              <a:rPr lang="en-US" sz="6000" dirty="0">
                <a:latin typeface="Raleway" pitchFamily="2" charset="77"/>
              </a:rPr>
              <a:t>air (HSP) 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B2F7A39-B114-DC91-C17D-07827D0AB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2F560DF-78D9-5FB5-7C17-B1ECC6025932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2E24F4-CE45-7CEB-1345-FBB33964C69B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9C55CD-1D29-D0CD-3C52-0FF43D554807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5A040B-D1F3-49DD-9A66-824FA8039F46}"/>
              </a:ext>
            </a:extLst>
          </p:cNvPr>
          <p:cNvCxnSpPr>
            <a:cxnSpLocks/>
          </p:cNvCxnSpPr>
          <p:nvPr/>
        </p:nvCxnSpPr>
        <p:spPr>
          <a:xfrm>
            <a:off x="3134852" y="7333790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479-4DF9-1D93-3084-1000084AE390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sp.tiff">
            <a:extLst>
              <a:ext uri="{FF2B5EF4-FFF2-40B4-BE49-F238E27FC236}">
                <a16:creationId xmlns:a16="http://schemas.microsoft.com/office/drawing/2014/main" id="{81C15323-D7DE-70C2-BA88-61B2BC5413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2075191"/>
            <a:ext cx="10866015" cy="5415367"/>
          </a:xfrm>
          <a:prstGeom prst="rect">
            <a:avLst/>
          </a:prstGeom>
        </p:spPr>
      </p:pic>
      <p:pic>
        <p:nvPicPr>
          <p:cNvPr id="5" name="Picture 4" descr="stats.tiff">
            <a:extLst>
              <a:ext uri="{FF2B5EF4-FFF2-40B4-BE49-F238E27FC236}">
                <a16:creationId xmlns:a16="http://schemas.microsoft.com/office/drawing/2014/main" id="{A9A4C4B0-0643-4911-CE4D-96A2A24E9B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7490558"/>
            <a:ext cx="10866016" cy="73881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70A634C-94EE-6820-4C15-AC3EDE9B3DD7}"/>
              </a:ext>
            </a:extLst>
          </p:cNvPr>
          <p:cNvCxnSpPr>
            <a:cxnSpLocks/>
          </p:cNvCxnSpPr>
          <p:nvPr/>
        </p:nvCxnSpPr>
        <p:spPr>
          <a:xfrm flipH="1" flipV="1">
            <a:off x="17562919" y="8238519"/>
            <a:ext cx="875657" cy="11947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8C84F9-CFBA-9144-C63A-8E507727F4EE}"/>
              </a:ext>
            </a:extLst>
          </p:cNvPr>
          <p:cNvCxnSpPr>
            <a:cxnSpLocks/>
          </p:cNvCxnSpPr>
          <p:nvPr/>
        </p:nvCxnSpPr>
        <p:spPr>
          <a:xfrm flipV="1">
            <a:off x="15648035" y="8229375"/>
            <a:ext cx="0" cy="112543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65FAD23-0BC5-0854-2EE3-8A6C5A8C2310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2355195" y="8229375"/>
            <a:ext cx="1305941" cy="9650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3404ECC-C90D-DFA3-F2B6-9194DBE351C4}"/>
              </a:ext>
            </a:extLst>
          </p:cNvPr>
          <p:cNvSpPr txBox="1"/>
          <p:nvPr/>
        </p:nvSpPr>
        <p:spPr>
          <a:xfrm>
            <a:off x="11253771" y="9194411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Exact matches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00F0CD-2C66-5FDE-FB39-87109B253624}"/>
              </a:ext>
            </a:extLst>
          </p:cNvPr>
          <p:cNvSpPr txBox="1"/>
          <p:nvPr/>
        </p:nvSpPr>
        <p:spPr>
          <a:xfrm>
            <a:off x="14758761" y="9433265"/>
            <a:ext cx="413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Exact matches + conservative changes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97EA58-36F6-8CE2-2C33-9DA8E7250C70}"/>
              </a:ext>
            </a:extLst>
          </p:cNvPr>
          <p:cNvSpPr txBox="1"/>
          <p:nvPr/>
        </p:nvSpPr>
        <p:spPr>
          <a:xfrm>
            <a:off x="18429621" y="9539475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Gaps</a:t>
            </a:r>
          </a:p>
        </p:txBody>
      </p:sp>
      <p:pic>
        <p:nvPicPr>
          <p:cNvPr id="2" name="Picture 3" descr="aminoacids.gif                                                 0016A66F Lochinver                      B79ED4A9:">
            <a:extLst>
              <a:ext uri="{FF2B5EF4-FFF2-40B4-BE49-F238E27FC236}">
                <a16:creationId xmlns:a16="http://schemas.microsoft.com/office/drawing/2014/main" id="{8A6CFEA7-7545-94B0-D46C-E7D9A24D2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47" y="2020134"/>
            <a:ext cx="6810126" cy="8120536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1280DDF4-BD6B-6ECD-C996-83F12A712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30" y="9354809"/>
            <a:ext cx="4316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i="1" dirty="0"/>
              <a:t>conservative = similar </a:t>
            </a:r>
            <a:r>
              <a:rPr lang="en-US" i="1" dirty="0" err="1"/>
              <a:t>physico</a:t>
            </a:r>
            <a:r>
              <a:rPr lang="en-US" i="1" dirty="0"/>
              <a:t>-chemical properties</a:t>
            </a:r>
          </a:p>
        </p:txBody>
      </p:sp>
    </p:spTree>
    <p:extLst>
      <p:ext uri="{BB962C8B-B14F-4D97-AF65-F5344CB8AC3E}">
        <p14:creationId xmlns:p14="http://schemas.microsoft.com/office/powerpoint/2010/main" val="3913202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307B-1C10-8AD0-8878-E91B869B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test&#10;&#10;AI-generated content may be incorrect.">
            <a:extLst>
              <a:ext uri="{FF2B5EF4-FFF2-40B4-BE49-F238E27FC236}">
                <a16:creationId xmlns:a16="http://schemas.microsoft.com/office/drawing/2014/main" id="{86F5C070-473F-66CC-BC3E-3A4BA00C1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78" y="7743597"/>
            <a:ext cx="3710586" cy="2314234"/>
          </a:xfrm>
          <a:prstGeom prst="rect">
            <a:avLst/>
          </a:prstGeom>
        </p:spPr>
      </p:pic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A37DA04-BC23-1B13-1AEE-CDFE6C533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009B5C-68DB-043F-FA1B-E4C051E6AF1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F4CFFA-DC45-41C3-38C4-FEDF938D117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D8DBDD-451C-E177-4151-96ED239EC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</a:t>
            </a:r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igh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coring </a:t>
            </a:r>
            <a:r>
              <a:rPr lang="en-US" sz="6000" u="sng" dirty="0">
                <a:latin typeface="Raleway" pitchFamily="2" charset="77"/>
              </a:rPr>
              <a:t>P</a:t>
            </a:r>
            <a:r>
              <a:rPr lang="en-US" sz="6000" dirty="0">
                <a:latin typeface="Raleway" pitchFamily="2" charset="77"/>
              </a:rPr>
              <a:t>air (HSP) 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28A0296-89E1-9100-54FE-D2AD08C0C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A8C685-3C83-E270-7DCC-0B8EB7B91F9D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03DCA7-2DEF-1F19-867B-8A7BE70FA2D0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C4346-4951-01FA-5203-F1BA17AE76C8}"/>
              </a:ext>
            </a:extLst>
          </p:cNvPr>
          <p:cNvSpPr/>
          <p:nvPr/>
        </p:nvSpPr>
        <p:spPr>
          <a:xfrm>
            <a:off x="1569688" y="7640359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4832C1-DCEF-EC92-E311-4FA1BD2BBC0E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EC51D6-C345-06EA-CFCC-4506F3AC92A6}"/>
              </a:ext>
            </a:extLst>
          </p:cNvPr>
          <p:cNvCxnSpPr>
            <a:cxnSpLocks/>
          </p:cNvCxnSpPr>
          <p:nvPr/>
        </p:nvCxnSpPr>
        <p:spPr>
          <a:xfrm>
            <a:off x="3134852" y="7333790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CD1193E-2EE8-648D-E13D-FD85D0C8F208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sp.tiff">
            <a:extLst>
              <a:ext uri="{FF2B5EF4-FFF2-40B4-BE49-F238E27FC236}">
                <a16:creationId xmlns:a16="http://schemas.microsoft.com/office/drawing/2014/main" id="{F4227083-A620-00BF-1C0F-0A2527736F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2075191"/>
            <a:ext cx="10866015" cy="5415367"/>
          </a:xfrm>
          <a:prstGeom prst="rect">
            <a:avLst/>
          </a:prstGeom>
        </p:spPr>
      </p:pic>
      <p:pic>
        <p:nvPicPr>
          <p:cNvPr id="5" name="Picture 4" descr="stats.tiff">
            <a:extLst>
              <a:ext uri="{FF2B5EF4-FFF2-40B4-BE49-F238E27FC236}">
                <a16:creationId xmlns:a16="http://schemas.microsoft.com/office/drawing/2014/main" id="{B164BB95-5596-9F2B-0BE6-B154DBED99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7490558"/>
            <a:ext cx="10866016" cy="738817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D86B375-3F95-7006-D839-DD0A79E0F431}"/>
              </a:ext>
            </a:extLst>
          </p:cNvPr>
          <p:cNvCxnSpPr>
            <a:cxnSpLocks/>
          </p:cNvCxnSpPr>
          <p:nvPr/>
        </p:nvCxnSpPr>
        <p:spPr>
          <a:xfrm flipV="1">
            <a:off x="6562846" y="7956394"/>
            <a:ext cx="898658" cy="44859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Box 5">
            <a:extLst>
              <a:ext uri="{FF2B5EF4-FFF2-40B4-BE49-F238E27FC236}">
                <a16:creationId xmlns:a16="http://schemas.microsoft.com/office/drawing/2014/main" id="{5F619681-C3BA-3A22-EF0F-17646511A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076" y="8368145"/>
            <a:ext cx="1495986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dirty="0"/>
              <a:t>The bit score gives an indication of how good the alignment is; a bit is a measure of information content; </a:t>
            </a:r>
            <a:r>
              <a:rPr lang="en-US" sz="2400" b="1" dirty="0"/>
              <a:t>the higher the score, the better the alignment</a:t>
            </a:r>
            <a:r>
              <a:rPr lang="en-US" sz="2400" dirty="0"/>
              <a:t>. Bit score uses identity, positives, and gaps (i.e. all data).</a:t>
            </a:r>
          </a:p>
          <a:p>
            <a:endParaRPr lang="en-US" sz="2400" b="1" dirty="0"/>
          </a:p>
          <a:p>
            <a:r>
              <a:rPr lang="en-US" sz="2400" dirty="0"/>
              <a:t>Bit score is independent of query sequence length and database size (i.e. normalized) allowing comparison among different searches or databases.</a:t>
            </a:r>
          </a:p>
        </p:txBody>
      </p:sp>
    </p:spTree>
    <p:extLst>
      <p:ext uri="{BB962C8B-B14F-4D97-AF65-F5344CB8AC3E}">
        <p14:creationId xmlns:p14="http://schemas.microsoft.com/office/powerpoint/2010/main" val="3739710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67C91-3343-FA12-8175-3D18849F4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test&#10;&#10;AI-generated content may be incorrect.">
            <a:extLst>
              <a:ext uri="{FF2B5EF4-FFF2-40B4-BE49-F238E27FC236}">
                <a16:creationId xmlns:a16="http://schemas.microsoft.com/office/drawing/2014/main" id="{9D27AB8F-7B13-2821-4676-29FEDB6C7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78" y="7743597"/>
            <a:ext cx="3710586" cy="2314234"/>
          </a:xfrm>
          <a:prstGeom prst="rect">
            <a:avLst/>
          </a:prstGeom>
        </p:spPr>
      </p:pic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CAF0D59-CDFC-CB69-1CCF-2034F271D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5A4895-8892-9023-C627-5D7E1007975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A36D9B-9D8F-4AEC-1D2B-B360872AEC4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5C5919-6EE3-7E50-6E45-F2658116B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</a:t>
            </a:r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igh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coring </a:t>
            </a:r>
            <a:r>
              <a:rPr lang="en-US" sz="6000" u="sng" dirty="0">
                <a:latin typeface="Raleway" pitchFamily="2" charset="77"/>
              </a:rPr>
              <a:t>P</a:t>
            </a:r>
            <a:r>
              <a:rPr lang="en-US" sz="6000" dirty="0">
                <a:latin typeface="Raleway" pitchFamily="2" charset="77"/>
              </a:rPr>
              <a:t>air (HSP) 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44446B2-D780-0619-B609-23FCAD0FE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5494660-8C3C-73FE-D378-E97C3375BE65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B9DB18-C52A-4D7A-8B1D-7003DB46BA00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3F8E96-ED36-2F5C-263A-BA53E17842E2}"/>
              </a:ext>
            </a:extLst>
          </p:cNvPr>
          <p:cNvSpPr/>
          <p:nvPr/>
        </p:nvSpPr>
        <p:spPr>
          <a:xfrm>
            <a:off x="1569688" y="7640359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ED51B0-BD2B-5786-E6AB-828E8ADEC02A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6F78EA-B2C1-2764-A01C-F3AB3493AC2B}"/>
              </a:ext>
            </a:extLst>
          </p:cNvPr>
          <p:cNvCxnSpPr>
            <a:cxnSpLocks/>
          </p:cNvCxnSpPr>
          <p:nvPr/>
        </p:nvCxnSpPr>
        <p:spPr>
          <a:xfrm>
            <a:off x="3134852" y="7333790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0BBAEEC-A888-979E-0D4B-4115A48E9F97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sp.tiff">
            <a:extLst>
              <a:ext uri="{FF2B5EF4-FFF2-40B4-BE49-F238E27FC236}">
                <a16:creationId xmlns:a16="http://schemas.microsoft.com/office/drawing/2014/main" id="{7CF38112-C98F-BC09-E9C8-A062667CCC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2075191"/>
            <a:ext cx="10866015" cy="5415367"/>
          </a:xfrm>
          <a:prstGeom prst="rect">
            <a:avLst/>
          </a:prstGeom>
        </p:spPr>
      </p:pic>
      <p:pic>
        <p:nvPicPr>
          <p:cNvPr id="5" name="Picture 4" descr="stats.tiff">
            <a:extLst>
              <a:ext uri="{FF2B5EF4-FFF2-40B4-BE49-F238E27FC236}">
                <a16:creationId xmlns:a16="http://schemas.microsoft.com/office/drawing/2014/main" id="{6EC40FE5-634A-62D4-1F14-3813AA2599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7490558"/>
            <a:ext cx="10866016" cy="738817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52E8C5-DF9A-B51F-EE4F-AA671FEC9449}"/>
              </a:ext>
            </a:extLst>
          </p:cNvPr>
          <p:cNvCxnSpPr>
            <a:cxnSpLocks/>
          </p:cNvCxnSpPr>
          <p:nvPr/>
        </p:nvCxnSpPr>
        <p:spPr>
          <a:xfrm flipV="1">
            <a:off x="6071616" y="7758770"/>
            <a:ext cx="3096438" cy="50689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Box 5">
            <a:extLst>
              <a:ext uri="{FF2B5EF4-FFF2-40B4-BE49-F238E27FC236}">
                <a16:creationId xmlns:a16="http://schemas.microsoft.com/office/drawing/2014/main" id="{BF757A65-D8E1-D489-3C33-514B86E62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076" y="8274929"/>
            <a:ext cx="1495986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dirty="0"/>
              <a:t>The expectation value (e-value) estimates the </a:t>
            </a:r>
            <a:r>
              <a:rPr lang="en-US" sz="2400" b="1" dirty="0"/>
              <a:t>likelihood that a given sequence match is purely by chance</a:t>
            </a:r>
            <a:r>
              <a:rPr lang="en-US" sz="2400" dirty="0"/>
              <a:t>. The lower the expectation value, the less likely the database match is a result of random chance.</a:t>
            </a:r>
          </a:p>
          <a:p>
            <a:endParaRPr lang="en-US" sz="2400" dirty="0"/>
          </a:p>
          <a:p>
            <a:r>
              <a:rPr lang="en-US" sz="2400" dirty="0"/>
              <a:t>E-value is a function of database size – how good is the database’s sample of “sequence space” to determine random matches?</a:t>
            </a:r>
          </a:p>
        </p:txBody>
      </p:sp>
    </p:spTree>
    <p:extLst>
      <p:ext uri="{BB962C8B-B14F-4D97-AF65-F5344CB8AC3E}">
        <p14:creationId xmlns:p14="http://schemas.microsoft.com/office/powerpoint/2010/main" val="3140985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5067A-453F-F764-53FE-1DA444FF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test&#10;&#10;AI-generated content may be incorrect.">
            <a:extLst>
              <a:ext uri="{FF2B5EF4-FFF2-40B4-BE49-F238E27FC236}">
                <a16:creationId xmlns:a16="http://schemas.microsoft.com/office/drawing/2014/main" id="{BB721024-4837-FFF1-BC30-F7EBAF77D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78" y="7743597"/>
            <a:ext cx="3710586" cy="2314234"/>
          </a:xfrm>
          <a:prstGeom prst="rect">
            <a:avLst/>
          </a:prstGeom>
        </p:spPr>
      </p:pic>
      <p:pic>
        <p:nvPicPr>
          <p:cNvPr id="26" name="Picture 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D629F35-AC46-025A-0496-C9AFACEDE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156" y="4923285"/>
            <a:ext cx="3633920" cy="231423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7CAED-ED3C-3185-4B2A-84009A1B38A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13F099-1430-B823-9E85-8A334604CA7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46B1602-D130-1D98-B42F-A40DB2DF9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</a:t>
            </a:r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igh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coring </a:t>
            </a:r>
            <a:r>
              <a:rPr lang="en-US" sz="6000" u="sng" dirty="0">
                <a:latin typeface="Raleway" pitchFamily="2" charset="77"/>
              </a:rPr>
              <a:t>P</a:t>
            </a:r>
            <a:r>
              <a:rPr lang="en-US" sz="6000" dirty="0">
                <a:latin typeface="Raleway" pitchFamily="2" charset="77"/>
              </a:rPr>
              <a:t>air (HSP) </a:t>
            </a:r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888E330-49C4-15FE-F2F8-35C01B805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264" y="2258462"/>
            <a:ext cx="3471815" cy="2209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FCE376E-6F6D-64F8-9A73-8478D1098E3E}"/>
              </a:ext>
            </a:extLst>
          </p:cNvPr>
          <p:cNvSpPr/>
          <p:nvPr/>
        </p:nvSpPr>
        <p:spPr>
          <a:xfrm>
            <a:off x="1569688" y="2185310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1544E8-9C9C-68F8-56C7-C732F9B40D6A}"/>
              </a:ext>
            </a:extLst>
          </p:cNvPr>
          <p:cNvSpPr/>
          <p:nvPr/>
        </p:nvSpPr>
        <p:spPr>
          <a:xfrm>
            <a:off x="1569688" y="4916318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3C9C04-1B29-60A8-5230-9E3C6ECD431E}"/>
              </a:ext>
            </a:extLst>
          </p:cNvPr>
          <p:cNvSpPr/>
          <p:nvPr/>
        </p:nvSpPr>
        <p:spPr>
          <a:xfrm>
            <a:off x="1569688" y="7640359"/>
            <a:ext cx="3130328" cy="2417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404C66-DA6B-309B-69F2-9BF69BC93A3B}"/>
              </a:ext>
            </a:extLst>
          </p:cNvPr>
          <p:cNvCxnSpPr>
            <a:cxnSpLocks/>
          </p:cNvCxnSpPr>
          <p:nvPr/>
        </p:nvCxnSpPr>
        <p:spPr>
          <a:xfrm>
            <a:off x="3134852" y="4602782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3E8D50-5DE2-908E-37B2-DA67FFA65C22}"/>
              </a:ext>
            </a:extLst>
          </p:cNvPr>
          <p:cNvCxnSpPr>
            <a:cxnSpLocks/>
          </p:cNvCxnSpPr>
          <p:nvPr/>
        </p:nvCxnSpPr>
        <p:spPr>
          <a:xfrm>
            <a:off x="3134852" y="7333790"/>
            <a:ext cx="0" cy="3135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721A879-8505-C490-A227-5241766DEC8B}"/>
              </a:ext>
            </a:extLst>
          </p:cNvPr>
          <p:cNvSpPr/>
          <p:nvPr/>
        </p:nvSpPr>
        <p:spPr>
          <a:xfrm>
            <a:off x="9034272" y="5696712"/>
            <a:ext cx="1005840" cy="630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sp.tiff">
            <a:extLst>
              <a:ext uri="{FF2B5EF4-FFF2-40B4-BE49-F238E27FC236}">
                <a16:creationId xmlns:a16="http://schemas.microsoft.com/office/drawing/2014/main" id="{B864C6CE-319E-73B6-54DE-BD671757D4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2075191"/>
            <a:ext cx="10866015" cy="5415367"/>
          </a:xfrm>
          <a:prstGeom prst="rect">
            <a:avLst/>
          </a:prstGeom>
        </p:spPr>
      </p:pic>
      <p:pic>
        <p:nvPicPr>
          <p:cNvPr id="5" name="Picture 4" descr="stats.tiff">
            <a:extLst>
              <a:ext uri="{FF2B5EF4-FFF2-40B4-BE49-F238E27FC236}">
                <a16:creationId xmlns:a16="http://schemas.microsoft.com/office/drawing/2014/main" id="{BFB682D0-D4E4-3F3E-182A-9C2A65B036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91" y="7490558"/>
            <a:ext cx="10866016" cy="738817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37FC44-0F40-EF54-448F-63A01D49C864}"/>
              </a:ext>
            </a:extLst>
          </p:cNvPr>
          <p:cNvCxnSpPr>
            <a:cxnSpLocks/>
          </p:cNvCxnSpPr>
          <p:nvPr/>
        </p:nvCxnSpPr>
        <p:spPr>
          <a:xfrm flipV="1">
            <a:off x="6071616" y="7758770"/>
            <a:ext cx="3096438" cy="50689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Box 5">
            <a:extLst>
              <a:ext uri="{FF2B5EF4-FFF2-40B4-BE49-F238E27FC236}">
                <a16:creationId xmlns:a16="http://schemas.microsoft.com/office/drawing/2014/main" id="{5B3E156C-3A07-9001-B267-92FF4D1DA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076" y="8274929"/>
            <a:ext cx="1495986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dirty="0"/>
              <a:t>As a database grows, the same search will produce an altered expectation value. Different sized databases will produce different expectation values for the same HSPs.</a:t>
            </a:r>
          </a:p>
          <a:p>
            <a:endParaRPr lang="en-US" sz="2400" dirty="0"/>
          </a:p>
          <a:p>
            <a:r>
              <a:rPr lang="en-US" sz="2400" dirty="0"/>
              <a:t>There is no “best” expectation value but some generalizations are used: e</a:t>
            </a:r>
            <a:r>
              <a:rPr lang="en-US" sz="2400" baseline="30000" dirty="0"/>
              <a:t>-10</a:t>
            </a:r>
            <a:r>
              <a:rPr lang="en-US" sz="2400" dirty="0"/>
              <a:t> or smaller is worth examining; 0.01 or larger is noise.</a:t>
            </a:r>
          </a:p>
        </p:txBody>
      </p:sp>
    </p:spTree>
    <p:extLst>
      <p:ext uri="{BB962C8B-B14F-4D97-AF65-F5344CB8AC3E}">
        <p14:creationId xmlns:p14="http://schemas.microsoft.com/office/powerpoint/2010/main" val="1908377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A3A8B-5BCC-B747-5C17-D5F94CAF9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399A43-5ED7-1E5C-ACB5-4ACFC58163E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D142CC-EEDB-A086-CB00-3A01C27ACBC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9DAC6ED-3617-7521-8B03-0BA10B538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How does BLAST use physio-chemical properties?</a:t>
            </a:r>
          </a:p>
        </p:txBody>
      </p:sp>
      <p:pic>
        <p:nvPicPr>
          <p:cNvPr id="2" name="Picture 3" descr="aminoacids.gif                                                 0016A66F Lochinver                      B79ED4A9:">
            <a:extLst>
              <a:ext uri="{FF2B5EF4-FFF2-40B4-BE49-F238E27FC236}">
                <a16:creationId xmlns:a16="http://schemas.microsoft.com/office/drawing/2014/main" id="{11FD2B49-BC8C-9AE7-1F7A-6D5FF254E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47" y="2020134"/>
            <a:ext cx="6810126" cy="8120536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98446A43-C231-071A-A131-0D735916E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30" y="9354809"/>
            <a:ext cx="4316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i="1" dirty="0"/>
              <a:t>conservative = similar </a:t>
            </a:r>
            <a:r>
              <a:rPr lang="en-US" i="1" dirty="0" err="1"/>
              <a:t>physico</a:t>
            </a:r>
            <a:r>
              <a:rPr lang="en-US" i="1" dirty="0"/>
              <a:t>-chemical properties</a:t>
            </a:r>
          </a:p>
        </p:txBody>
      </p:sp>
      <p:pic>
        <p:nvPicPr>
          <p:cNvPr id="12" name="Picture 11" descr="BLOSUM62.gif">
            <a:extLst>
              <a:ext uri="{FF2B5EF4-FFF2-40B4-BE49-F238E27FC236}">
                <a16:creationId xmlns:a16="http://schemas.microsoft.com/office/drawing/2014/main" id="{46B9C5CF-BE72-662A-5DF2-3BE09336B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078" y="2251033"/>
            <a:ext cx="7964416" cy="4393880"/>
          </a:xfrm>
          <a:prstGeom prst="rect">
            <a:avLst/>
          </a:prstGeom>
        </p:spPr>
      </p:pic>
      <p:sp>
        <p:nvSpPr>
          <p:cNvPr id="14" name="Text Box 5">
            <a:extLst>
              <a:ext uri="{FF2B5EF4-FFF2-40B4-BE49-F238E27FC236}">
                <a16:creationId xmlns:a16="http://schemas.microsoft.com/office/drawing/2014/main" id="{5FFB8CD0-7AD6-A2CD-110F-33CA2D16E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4924" y="6923741"/>
            <a:ext cx="1185975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BLOSUM62 matrix (</a:t>
            </a:r>
            <a:r>
              <a:rPr lang="en-US" sz="2400" dirty="0" err="1"/>
              <a:t>BLOcks</a:t>
            </a:r>
            <a:r>
              <a:rPr lang="en-US" sz="2400" dirty="0"/>
              <a:t> </a:t>
            </a:r>
            <a:r>
              <a:rPr lang="en-US" sz="2400" dirty="0" err="1"/>
              <a:t>SUbstitution</a:t>
            </a:r>
            <a:r>
              <a:rPr lang="en-US" sz="2400" dirty="0"/>
              <a:t> Matrix) reflects the relative rate of substitution among amino acids observed in conserved regions (no more than 62% similarity) of known protein sequences.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BLOSUM62 is the BLAST default. Since is it based on conserved regions with 62% similarity</a:t>
            </a:r>
            <a:r>
              <a:rPr lang="en-US" sz="2400" b="1" dirty="0"/>
              <a:t> or less</a:t>
            </a:r>
            <a:r>
              <a:rPr lang="en-US" sz="2400" dirty="0"/>
              <a:t> it is among the best for detecting most weak protein similarities.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Other BLOSUM or PAM matrices exist for detection of more or less divergent proteins.</a:t>
            </a:r>
          </a:p>
        </p:txBody>
      </p:sp>
    </p:spTree>
    <p:extLst>
      <p:ext uri="{BB962C8B-B14F-4D97-AF65-F5344CB8AC3E}">
        <p14:creationId xmlns:p14="http://schemas.microsoft.com/office/powerpoint/2010/main" val="118311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4CAFF-359C-9EB3-5957-46B505056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6A2300-765E-ECD4-39C9-E75E2E9EC12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EE6C4-34FF-D853-A948-54372BE027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3B58FCE-B4DA-C674-3A6F-A96AE11BD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BLAST Programs</a:t>
            </a:r>
          </a:p>
        </p:txBody>
      </p:sp>
      <p:pic>
        <p:nvPicPr>
          <p:cNvPr id="4" name="Picture 3" descr="Reading_Frames4.gif">
            <a:extLst>
              <a:ext uri="{FF2B5EF4-FFF2-40B4-BE49-F238E27FC236}">
                <a16:creationId xmlns:a16="http://schemas.microsoft.com/office/drawing/2014/main" id="{B7D78651-8B6B-3AB9-EB40-4D2C14B89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5"/>
          <a:stretch>
            <a:fillRect/>
          </a:stretch>
        </p:blipFill>
        <p:spPr>
          <a:xfrm>
            <a:off x="3513798" y="5964855"/>
            <a:ext cx="13656576" cy="425196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7918432-4F27-7560-102D-FEE1C22E5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932856"/>
              </p:ext>
            </p:extLst>
          </p:nvPr>
        </p:nvGraphicFramePr>
        <p:xfrm>
          <a:off x="1521776" y="2416983"/>
          <a:ext cx="17274860" cy="356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4732">
                  <a:extLst>
                    <a:ext uri="{9D8B030D-6E8A-4147-A177-3AD203B41FA5}">
                      <a16:colId xmlns:a16="http://schemas.microsoft.com/office/drawing/2014/main" val="331428319"/>
                    </a:ext>
                  </a:extLst>
                </a:gridCol>
                <a:gridCol w="5065776">
                  <a:extLst>
                    <a:ext uri="{9D8B030D-6E8A-4147-A177-3AD203B41FA5}">
                      <a16:colId xmlns:a16="http://schemas.microsoft.com/office/drawing/2014/main" val="4011324342"/>
                    </a:ext>
                  </a:extLst>
                </a:gridCol>
                <a:gridCol w="3822192">
                  <a:extLst>
                    <a:ext uri="{9D8B030D-6E8A-4147-A177-3AD203B41FA5}">
                      <a16:colId xmlns:a16="http://schemas.microsoft.com/office/drawing/2014/main" val="421189807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330355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Program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Query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Database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Use Care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96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BLASTN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Nucleotide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Nucleotide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matching DNA/RNA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30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BLASTP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protein with similar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443168"/>
                  </a:ext>
                </a:extLst>
              </a:tr>
              <a:tr h="569041">
                <a:tc>
                  <a:txBody>
                    <a:bodyPr/>
                    <a:lstStyle/>
                    <a:p>
                      <a:r>
                        <a:rPr lang="en-US" dirty="0"/>
                        <a:t>BLASTX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Nucleotide (6-frame translated)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 coding region in DNA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75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471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94D15-DCF8-C4D2-6A3A-EDBBA7C81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999220-AEB9-07CB-D6CB-CD74F762839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232927-16FD-BE14-9AC0-B03FE6EE0DD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B5E4B29-B850-C17D-BBFE-80B08C4A2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BLAST Programs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1C69C8-7F0C-CBD2-3279-9AA7DD949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36193"/>
              </p:ext>
            </p:extLst>
          </p:nvPr>
        </p:nvGraphicFramePr>
        <p:xfrm>
          <a:off x="1521776" y="2416983"/>
          <a:ext cx="17274860" cy="557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4732">
                  <a:extLst>
                    <a:ext uri="{9D8B030D-6E8A-4147-A177-3AD203B41FA5}">
                      <a16:colId xmlns:a16="http://schemas.microsoft.com/office/drawing/2014/main" val="331428319"/>
                    </a:ext>
                  </a:extLst>
                </a:gridCol>
                <a:gridCol w="5065776">
                  <a:extLst>
                    <a:ext uri="{9D8B030D-6E8A-4147-A177-3AD203B41FA5}">
                      <a16:colId xmlns:a16="http://schemas.microsoft.com/office/drawing/2014/main" val="4011324342"/>
                    </a:ext>
                  </a:extLst>
                </a:gridCol>
                <a:gridCol w="3822192">
                  <a:extLst>
                    <a:ext uri="{9D8B030D-6E8A-4147-A177-3AD203B41FA5}">
                      <a16:colId xmlns:a16="http://schemas.microsoft.com/office/drawing/2014/main" val="421189807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330355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Program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Query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Database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Use Care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96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BLASTN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Nucleotide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Nucleotide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matching DNA/RNA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30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BLASTP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protein with similar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443168"/>
                  </a:ext>
                </a:extLst>
              </a:tr>
              <a:tr h="569041">
                <a:tc>
                  <a:txBody>
                    <a:bodyPr/>
                    <a:lstStyle/>
                    <a:p>
                      <a:r>
                        <a:rPr lang="en-US" dirty="0"/>
                        <a:t>BLASTX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Nucleotide (6-frame translated)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 coding region in DNA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756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TBLASTN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Nucleotide (6-frame translation)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3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 protein-coding gene in unannotated genomic DNA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046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TBLASTX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5238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Nucleotide (6-frame translated)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5238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Nucleotide (6-frame translated)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3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coding potential between two DNA sequences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024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685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25609-D910-FCB3-BBA5-5D9B91AF5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986DE-7FEF-08FF-42D5-FA44723DEF6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7FDEB4-9A9B-3095-3757-9DE86F538D0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6B71C2-4E37-36F4-F0B3-3235E1DC8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Importantly: BLAST is not Functional Biology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C0B572-4686-F2A7-F1D0-083E76338579}"/>
              </a:ext>
            </a:extLst>
          </p:cNvPr>
          <p:cNvSpPr txBox="1"/>
          <p:nvPr/>
        </p:nvSpPr>
        <p:spPr>
          <a:xfrm>
            <a:off x="966086" y="2312008"/>
            <a:ext cx="18386240" cy="114185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s-IS" sz="3200" dirty="0"/>
              <a:t>A local alignment (HSP) found by BLAST may have little to do with protein function</a:t>
            </a:r>
          </a:p>
          <a:p>
            <a:pPr marL="342900" indent="-342900">
              <a:buFont typeface="Arial"/>
              <a:buChar char="•"/>
            </a:pPr>
            <a:endParaRPr lang="is-IS" sz="3200" dirty="0"/>
          </a:p>
          <a:p>
            <a:pPr marL="342900" indent="-342900">
              <a:buFont typeface="Arial"/>
              <a:buChar char="•"/>
            </a:pPr>
            <a:r>
              <a:rPr lang="is-IS" sz="3200" dirty="0"/>
              <a:t>BLAST knows about nucleotides, amino acids, and gaps but does not understand functional domains; it will not even detect functional domain similarity if it is outside of BLOSUM62 range</a:t>
            </a:r>
          </a:p>
          <a:p>
            <a:pPr marL="342900" indent="-342900">
              <a:buFont typeface="Arial"/>
              <a:buChar char="•"/>
            </a:pPr>
            <a:endParaRPr lang="is-IS" sz="3200" dirty="0"/>
          </a:p>
          <a:p>
            <a:pPr marL="342900" indent="-342900">
              <a:buFont typeface="Arial"/>
              <a:buChar char="•"/>
            </a:pPr>
            <a:r>
              <a:rPr lang="is-IS" sz="3200" dirty="0"/>
              <a:t>Multi-domain proteins can give mis-leading BLAST results: </a:t>
            </a:r>
          </a:p>
          <a:p>
            <a:pPr marL="342900" indent="-342900">
              <a:buFont typeface="Arial"/>
              <a:buChar char="•"/>
            </a:pPr>
            <a:endParaRPr lang="is-IS" sz="3200" dirty="0"/>
          </a:p>
          <a:p>
            <a:pPr marL="800100" lvl="1" indent="-342900">
              <a:buFont typeface="Arial"/>
              <a:buChar char="•"/>
            </a:pPr>
            <a:r>
              <a:rPr lang="is-IS" sz="3200" dirty="0"/>
              <a:t>an </a:t>
            </a:r>
            <a:r>
              <a:rPr lang="en-US" sz="3200" dirty="0"/>
              <a:t>ANT(3'')-AAC(6’) fusion protein will have BLAST hits to three types of proteins:</a:t>
            </a:r>
          </a:p>
          <a:p>
            <a:pPr marL="1257300" lvl="2" indent="-342900">
              <a:buFont typeface="Arial"/>
              <a:buChar char="•"/>
            </a:pPr>
            <a:r>
              <a:rPr lang="en-US" sz="3200" dirty="0"/>
              <a:t>other ANT(3'’)-AAC(6’) proteins</a:t>
            </a:r>
          </a:p>
          <a:p>
            <a:pPr marL="1257300" lvl="2" indent="-342900">
              <a:buFont typeface="Arial"/>
              <a:buChar char="•"/>
            </a:pPr>
            <a:r>
              <a:rPr lang="en-US" sz="3200" dirty="0"/>
              <a:t>ANT(3’’) proteins</a:t>
            </a:r>
          </a:p>
          <a:p>
            <a:pPr marL="1257300" lvl="2" indent="-342900">
              <a:buFont typeface="Arial"/>
              <a:buChar char="•"/>
            </a:pPr>
            <a:r>
              <a:rPr lang="en-US" sz="3200" dirty="0"/>
              <a:t>AAC(6’) proteins</a:t>
            </a:r>
          </a:p>
          <a:p>
            <a:pPr marL="1257300" lvl="2" indent="-342900">
              <a:buFont typeface="Arial"/>
              <a:buChar char="•"/>
            </a:pPr>
            <a:endParaRPr lang="en-US" sz="3200" dirty="0"/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If the AAC(6’) domain is poorly conserved, the query ANT(3'')-AAC(6’) fusion protein will only have good HSPs to:</a:t>
            </a:r>
          </a:p>
          <a:p>
            <a:pPr marL="1257300" lvl="2" indent="-342900">
              <a:buFont typeface="Arial"/>
              <a:buChar char="•"/>
            </a:pPr>
            <a:r>
              <a:rPr lang="en-US" sz="3200" dirty="0"/>
              <a:t>ANT(3’’) proteins</a:t>
            </a:r>
          </a:p>
          <a:p>
            <a:pPr marL="1257300" lvl="2" indent="-342900">
              <a:buFont typeface="Arial"/>
              <a:buChar char="•"/>
            </a:pPr>
            <a:endParaRPr lang="en-US" sz="3200" dirty="0"/>
          </a:p>
          <a:p>
            <a:pPr lvl="1"/>
            <a:endParaRPr lang="en-US" sz="3200" dirty="0"/>
          </a:p>
          <a:p>
            <a:pPr marL="800100" lvl="1" indent="-342900">
              <a:buFont typeface="Arial"/>
              <a:buChar char="•"/>
            </a:pPr>
            <a:endParaRPr lang="en-US" sz="3200" dirty="0"/>
          </a:p>
          <a:p>
            <a:pPr marL="800100" lvl="1" indent="-342900">
              <a:buFont typeface="Arial"/>
              <a:buChar char="•"/>
            </a:pPr>
            <a:endParaRPr lang="en-US" sz="3200" dirty="0"/>
          </a:p>
          <a:p>
            <a:pPr marL="800100" lvl="1" indent="-342900">
              <a:buFont typeface="Arial"/>
              <a:buChar char="•"/>
            </a:pPr>
            <a:endParaRPr lang="en-US" sz="3200" dirty="0"/>
          </a:p>
          <a:p>
            <a:pPr lvl="1"/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is-IS" sz="3200" dirty="0"/>
          </a:p>
        </p:txBody>
      </p:sp>
    </p:spTree>
    <p:extLst>
      <p:ext uri="{BB962C8B-B14F-4D97-AF65-F5344CB8AC3E}">
        <p14:creationId xmlns:p14="http://schemas.microsoft.com/office/powerpoint/2010/main" val="2109182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88D5B-C80B-DAC1-EC2B-1BA823D7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C65A8-77F7-60A0-04BA-A699AD9A93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E267CB-952F-95CA-B52F-024CDEFED28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3" name="Picture 12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1711BB04-F9FE-0469-DCA1-BDC29003C1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9" b="4349"/>
          <a:stretch>
            <a:fillRect/>
          </a:stretch>
        </p:blipFill>
        <p:spPr>
          <a:xfrm>
            <a:off x="3534087" y="2014820"/>
            <a:ext cx="13250238" cy="813502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4001A04-E796-A14B-525C-5EC9A7D2C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B</a:t>
            </a:r>
            <a:r>
              <a:rPr lang="en-US" sz="6000" dirty="0">
                <a:latin typeface="Raleway" pitchFamily="2" charset="77"/>
              </a:rPr>
              <a:t>asic </a:t>
            </a:r>
            <a:r>
              <a:rPr lang="en-US" sz="6000" u="sng" dirty="0">
                <a:latin typeface="Raleway" pitchFamily="2" charset="77"/>
              </a:rPr>
              <a:t>L</a:t>
            </a:r>
            <a:r>
              <a:rPr lang="en-US" sz="6000" dirty="0">
                <a:latin typeface="Raleway" pitchFamily="2" charset="77"/>
              </a:rPr>
              <a:t>ocal </a:t>
            </a:r>
            <a:r>
              <a:rPr lang="en-US" sz="6000" u="sng" dirty="0">
                <a:latin typeface="Raleway" pitchFamily="2" charset="77"/>
              </a:rPr>
              <a:t>A</a:t>
            </a:r>
            <a:r>
              <a:rPr lang="en-US" sz="6000" dirty="0">
                <a:latin typeface="Raleway" pitchFamily="2" charset="77"/>
              </a:rPr>
              <a:t>lignment </a:t>
            </a:r>
            <a:r>
              <a:rPr lang="en-US" sz="6000" u="sng" dirty="0">
                <a:latin typeface="Raleway" pitchFamily="2" charset="77"/>
              </a:rPr>
              <a:t>S</a:t>
            </a:r>
            <a:r>
              <a:rPr lang="en-US" sz="6000" dirty="0">
                <a:latin typeface="Raleway" pitchFamily="2" charset="77"/>
              </a:rPr>
              <a:t>earch </a:t>
            </a:r>
            <a:r>
              <a:rPr lang="en-US" sz="6000" u="sng" dirty="0">
                <a:latin typeface="Raleway" pitchFamily="2" charset="77"/>
              </a:rPr>
              <a:t>T</a:t>
            </a:r>
            <a:r>
              <a:rPr lang="en-US" sz="6000" dirty="0">
                <a:latin typeface="Raleway" pitchFamily="2" charset="77"/>
              </a:rPr>
              <a:t>ool (BLAST)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56829-FBC6-1722-529E-123077360709}"/>
              </a:ext>
            </a:extLst>
          </p:cNvPr>
          <p:cNvSpPr txBox="1"/>
          <p:nvPr/>
        </p:nvSpPr>
        <p:spPr>
          <a:xfrm>
            <a:off x="-201168" y="6168137"/>
            <a:ext cx="9512938" cy="6494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2"/>
            <a:r>
              <a:rPr lang="en-CA" sz="3200" dirty="0"/>
              <a:t>What if, instead, we want to capture </a:t>
            </a:r>
            <a:r>
              <a:rPr lang="en-CA" sz="3200" b="1" dirty="0"/>
              <a:t>what an entire protein family has in common</a:t>
            </a:r>
            <a:r>
              <a:rPr lang="en-CA" sz="3200" i="1" dirty="0"/>
              <a:t>,</a:t>
            </a:r>
            <a:r>
              <a:rPr lang="en-CA" sz="3200" dirty="0"/>
              <a:t> including the fact that some positions are highly conserved, some tolerate several substitutions, and some vary so much they might as well be random?</a:t>
            </a:r>
            <a:endParaRPr lang="en-US" sz="4800" dirty="0"/>
          </a:p>
          <a:p>
            <a:pPr lvl="1"/>
            <a:endParaRPr lang="en-US" sz="3200" dirty="0"/>
          </a:p>
          <a:p>
            <a:pPr marL="800100" lvl="1" indent="-342900">
              <a:buFont typeface="Arial"/>
              <a:buChar char="•"/>
            </a:pPr>
            <a:endParaRPr lang="en-US" sz="3200" dirty="0"/>
          </a:p>
          <a:p>
            <a:pPr marL="800100" lvl="1" indent="-342900">
              <a:buFont typeface="Arial"/>
              <a:buChar char="•"/>
            </a:pPr>
            <a:endParaRPr lang="en-US" sz="3200" dirty="0"/>
          </a:p>
          <a:p>
            <a:pPr marL="800100" lvl="1" indent="-342900">
              <a:buFont typeface="Arial"/>
              <a:buChar char="•"/>
            </a:pPr>
            <a:endParaRPr lang="en-US" sz="3200" dirty="0"/>
          </a:p>
          <a:p>
            <a:pPr lvl="1"/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is-IS" sz="3200" dirty="0"/>
          </a:p>
        </p:txBody>
      </p:sp>
    </p:spTree>
    <p:extLst>
      <p:ext uri="{BB962C8B-B14F-4D97-AF65-F5344CB8AC3E}">
        <p14:creationId xmlns:p14="http://schemas.microsoft.com/office/powerpoint/2010/main" val="3818608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1F5C7-6E82-79CE-EA0E-200F98099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605026-C77D-E1F7-DBF6-DE891F31BE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6BA83A-74C4-6FA9-401B-E87486002A7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AA39F8E-B012-EBC6-F505-9CF4ADADD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idden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arkov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odels (HMMs)</a:t>
            </a:r>
          </a:p>
        </p:txBody>
      </p:sp>
      <p:pic>
        <p:nvPicPr>
          <p:cNvPr id="13" name="Picture 12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29C6BBCC-24F3-4CA5-956A-AC263A50D4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9" b="4349"/>
          <a:stretch>
            <a:fillRect/>
          </a:stretch>
        </p:blipFill>
        <p:spPr>
          <a:xfrm>
            <a:off x="3534087" y="2014820"/>
            <a:ext cx="13250238" cy="8135020"/>
          </a:xfrm>
          <a:prstGeom prst="rect">
            <a:avLst/>
          </a:prstGeom>
        </p:spPr>
      </p:pic>
      <p:pic>
        <p:nvPicPr>
          <p:cNvPr id="3" name="Picture 2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3590F52F-200A-F1A9-EE22-803D4C7D4A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16" b="5360"/>
          <a:stretch>
            <a:fillRect/>
          </a:stretch>
        </p:blipFill>
        <p:spPr>
          <a:xfrm>
            <a:off x="3534086" y="2014820"/>
            <a:ext cx="13554961" cy="8135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3EBDF4-F238-8508-028F-53FDC767FFFE}"/>
              </a:ext>
            </a:extLst>
          </p:cNvPr>
          <p:cNvSpPr txBox="1"/>
          <p:nvPr/>
        </p:nvSpPr>
        <p:spPr>
          <a:xfrm>
            <a:off x="516636" y="8218670"/>
            <a:ext cx="101772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That calls for a </a:t>
            </a:r>
            <a:r>
              <a:rPr lang="en-CA" sz="3200" b="1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probabilistic model 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 the family, not a single reference sequence.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864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981E7-8D80-8050-C7EE-36E0A9115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C0CFC-40DC-74A2-7BFD-F544343BB42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325EB2-BB1D-D9CD-1F5B-146D7B0956A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BE204F-1F51-E3D2-3FCB-BB3CF705B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idden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arkov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odels (HMMs)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CB7DAB-3A1D-866C-C17D-9C64A9737F1D}"/>
              </a:ext>
            </a:extLst>
          </p:cNvPr>
          <p:cNvSpPr txBox="1"/>
          <p:nvPr/>
        </p:nvSpPr>
        <p:spPr>
          <a:xfrm>
            <a:off x="1246092" y="2504024"/>
            <a:ext cx="17826228" cy="696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Markov model 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describes a system that moves between a finite set of 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where the probability of the next state depends only on the current one. </a:t>
            </a: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a 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Markov model, we don't directly observe the states. We only observe a sequence of symbols (here, nucleotides or amino acids) that each state </a:t>
            </a:r>
            <a:r>
              <a:rPr lang="en-CA" sz="3200" b="0" i="1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emits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according to its own emission probability distribution. </a:t>
            </a: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task is to infer the hidden path of states that most plausibly explains the observed sequence.</a:t>
            </a:r>
          </a:p>
          <a:p>
            <a:pPr algn="l">
              <a:spcAft>
                <a:spcPts val="1200"/>
              </a:spcAft>
              <a:buNone/>
            </a:pPr>
            <a:endParaRPr lang="en-CA" sz="3200" b="0" i="0" dirty="0">
              <a:solidFill>
                <a:srgbClr val="2024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HMM is fully specified by:</a:t>
            </a: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set of hidden states.</a:t>
            </a:r>
            <a:endParaRPr lang="en-CA" sz="3200" b="1" i="0" dirty="0">
              <a:solidFill>
                <a:srgbClr val="2024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 probabilities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between states.</a:t>
            </a: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Emission probabilities 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each state, the probability of emitting each possible symbol.</a:t>
            </a: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Initial (start) state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1978518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9E88-F945-3658-8DA3-D71E2D0F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43E2F-A49B-38B4-8AEF-C405591D2D7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10A97B2-9E6B-F75B-2790-E3CD8717663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493FFD-33F5-97E1-3AB0-DDF9DA835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8F455C07-436B-1758-7655-284303703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BF0278-1DA0-DB9C-025C-1174F34F5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013" y="3081976"/>
            <a:ext cx="4086248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sz="2800" b="1" dirty="0">
                <a:solidFill>
                  <a:schemeClr val="tx1"/>
                </a:solidFill>
              </a:rPr>
              <a:t>Five species have slightly different DNA binding sites for a regulatory protein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836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57D44-1D09-7803-6D3D-1A96A7E7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3853C1-F96E-998F-858B-34F9A5A770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848FB2-4A84-903F-47D4-9823E0C5C0B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7600F32-AE81-AA8C-A530-7669335A3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22BB0F44-305E-FFA7-1B57-2725C7060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F83557F4-9BF3-170E-168B-1EA4FAC94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774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 .8</a:t>
            </a:r>
          </a:p>
          <a:p>
            <a:r>
              <a:rPr lang="en-US" sz="4000">
                <a:latin typeface="Courier New" charset="0"/>
              </a:rPr>
              <a:t>C</a:t>
            </a:r>
          </a:p>
          <a:p>
            <a:r>
              <a:rPr lang="en-US" sz="4000">
                <a:latin typeface="Courier New" charset="0"/>
              </a:rPr>
              <a:t>G</a:t>
            </a:r>
          </a:p>
          <a:p>
            <a:r>
              <a:rPr lang="en-US" sz="4000">
                <a:latin typeface="Courier New" charset="0"/>
              </a:rPr>
              <a:t>T .2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BB9937FC-73E7-EEBF-A105-E57861C51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47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</a:t>
            </a:r>
          </a:p>
          <a:p>
            <a:r>
              <a:rPr lang="en-US" sz="4000">
                <a:latin typeface="Courier New" charset="0"/>
              </a:rPr>
              <a:t>C .8</a:t>
            </a:r>
          </a:p>
          <a:p>
            <a:r>
              <a:rPr lang="en-US" sz="4000">
                <a:latin typeface="Courier New" charset="0"/>
              </a:rPr>
              <a:t>G .2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3BF2E186-EEF0-22F0-A0DF-AD943C4C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20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 .2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72F3B6E0-4FEC-6BAF-0A74-01E3A367D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665" y="7542028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.8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E22DEC1A-5F25-3B05-990B-F45F22C45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4338" y="7605017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</a:t>
            </a:r>
          </a:p>
          <a:p>
            <a:r>
              <a:rPr lang="en-US" sz="4000">
                <a:latin typeface="Courier New" charset="0"/>
              </a:rPr>
              <a:t>C .8</a:t>
            </a:r>
          </a:p>
          <a:p>
            <a:r>
              <a:rPr lang="en-US" sz="4000">
                <a:latin typeface="Courier New" charset="0"/>
              </a:rPr>
              <a:t>G .2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74525C8F-66DB-02D4-8D72-311C61520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156" y="3178039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.2</a:t>
            </a:r>
          </a:p>
          <a:p>
            <a:r>
              <a:rPr lang="en-US" sz="4000" dirty="0">
                <a:latin typeface="Courier New" charset="0"/>
              </a:rPr>
              <a:t>C .4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04CA5E1F-0F65-2A0E-7158-5A7C3743E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04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81FB35E6-88F3-9DD0-9AB2-AAE19776C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984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1.0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865E79A7-C6AF-D38E-F095-4985C4430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54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 dirty="0"/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6EF9CC04-C27A-75A0-05C3-1481D3FD3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109" y="7945819"/>
            <a:ext cx="11275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9F7214D2-55D7-0E24-2D6A-D9823EC425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3482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79425440-D29F-DEAA-E0E3-D32E4D067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727" y="7954612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721267E5-5CDD-B758-D16F-C5F9D1E16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74057" y="8838270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B20F1CCF-3F8F-A4A1-2714-D829D8026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000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FF26A3E3-6D65-B4F6-92CD-8883DEA5D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948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012EA144-340D-AA9E-87FF-109DAA404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986" y="8006663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DB7A68E8-9BF3-405E-CE5E-B389DC32F8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698" y="5813108"/>
            <a:ext cx="832300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DD91C0A0-7153-E2EA-FE68-8BD7AF33F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622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.6</a:t>
            </a: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C9464C2D-5D8A-54B5-0B28-89A31F6996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07291" y="5910748"/>
            <a:ext cx="624225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46A7C924-F333-AEF6-BD44-7D4B99DDD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577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.6</a:t>
            </a:r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8525BD17-DD34-23AC-A8CE-8AB4051356F5}"/>
              </a:ext>
            </a:extLst>
          </p:cNvPr>
          <p:cNvSpPr>
            <a:spLocks/>
          </p:cNvSpPr>
          <p:nvPr/>
        </p:nvSpPr>
        <p:spPr bwMode="auto">
          <a:xfrm>
            <a:off x="7961518" y="2147769"/>
            <a:ext cx="1621251" cy="2167448"/>
          </a:xfrm>
          <a:custGeom>
            <a:avLst/>
            <a:gdLst>
              <a:gd name="T0" fmla="*/ 253 w 374"/>
              <a:gd name="T1" fmla="*/ 500 h 500"/>
              <a:gd name="T2" fmla="*/ 27 w 374"/>
              <a:gd name="T3" fmla="*/ 430 h 500"/>
              <a:gd name="T4" fmla="*/ 9 w 374"/>
              <a:gd name="T5" fmla="*/ 378 h 500"/>
              <a:gd name="T6" fmla="*/ 0 w 374"/>
              <a:gd name="T7" fmla="*/ 352 h 500"/>
              <a:gd name="T8" fmla="*/ 9 w 374"/>
              <a:gd name="T9" fmla="*/ 196 h 500"/>
              <a:gd name="T10" fmla="*/ 70 w 374"/>
              <a:gd name="T11" fmla="*/ 100 h 500"/>
              <a:gd name="T12" fmla="*/ 200 w 374"/>
              <a:gd name="T13" fmla="*/ 4 h 500"/>
              <a:gd name="T14" fmla="*/ 287 w 374"/>
              <a:gd name="T15" fmla="*/ 13 h 500"/>
              <a:gd name="T16" fmla="*/ 348 w 374"/>
              <a:gd name="T17" fmla="*/ 74 h 500"/>
              <a:gd name="T18" fmla="*/ 374 w 374"/>
              <a:gd name="T19" fmla="*/ 117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4" h="500">
                <a:moveTo>
                  <a:pt x="253" y="500"/>
                </a:moveTo>
                <a:cubicBezTo>
                  <a:pt x="181" y="480"/>
                  <a:pt x="89" y="473"/>
                  <a:pt x="27" y="430"/>
                </a:cubicBezTo>
                <a:cubicBezTo>
                  <a:pt x="21" y="412"/>
                  <a:pt x="15" y="395"/>
                  <a:pt x="9" y="378"/>
                </a:cubicBezTo>
                <a:cubicBezTo>
                  <a:pt x="6" y="369"/>
                  <a:pt x="0" y="352"/>
                  <a:pt x="0" y="352"/>
                </a:cubicBezTo>
                <a:cubicBezTo>
                  <a:pt x="3" y="300"/>
                  <a:pt x="3" y="247"/>
                  <a:pt x="9" y="196"/>
                </a:cubicBezTo>
                <a:cubicBezTo>
                  <a:pt x="12" y="163"/>
                  <a:pt x="61" y="110"/>
                  <a:pt x="70" y="100"/>
                </a:cubicBezTo>
                <a:cubicBezTo>
                  <a:pt x="114" y="46"/>
                  <a:pt x="131" y="18"/>
                  <a:pt x="200" y="4"/>
                </a:cubicBezTo>
                <a:cubicBezTo>
                  <a:pt x="229" y="7"/>
                  <a:pt x="260" y="0"/>
                  <a:pt x="287" y="13"/>
                </a:cubicBezTo>
                <a:cubicBezTo>
                  <a:pt x="312" y="25"/>
                  <a:pt x="348" y="74"/>
                  <a:pt x="348" y="74"/>
                </a:cubicBezTo>
                <a:cubicBezTo>
                  <a:pt x="359" y="107"/>
                  <a:pt x="350" y="93"/>
                  <a:pt x="374" y="11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22FD46B4-3613-3BFA-06CB-7A176EE19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66" y="2182920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86B25AF9-1102-32F6-6EBF-1BF69F0AE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30" y="7556742"/>
            <a:ext cx="1647261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 1</a:t>
            </a:r>
          </a:p>
          <a:p>
            <a:r>
              <a:rPr lang="en-US" sz="4000">
                <a:latin typeface="Courier New" charset="0"/>
              </a:rPr>
              <a:t>C </a:t>
            </a:r>
          </a:p>
          <a:p>
            <a:r>
              <a:rPr lang="en-US" sz="4000">
                <a:latin typeface="Courier New" charset="0"/>
              </a:rPr>
              <a:t>G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BA1C9014-3223-B090-8E79-38AE19CF8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4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76AADEE6-859E-EB7F-E1DA-C1B42D519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223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54FBF3FF-0D0E-CEDF-8059-C436F49C4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8436" y="5880888"/>
            <a:ext cx="4086248" cy="6480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sz="2800" b="1" dirty="0">
                <a:solidFill>
                  <a:srgbClr val="C00000"/>
                </a:solidFill>
              </a:rPr>
              <a:t>state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C174B821-0078-5432-5250-9D9E10946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448" y="5880888"/>
            <a:ext cx="4086248" cy="6480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sz="2800" b="1" dirty="0">
                <a:solidFill>
                  <a:srgbClr val="C00000"/>
                </a:solidFill>
              </a:rPr>
              <a:t>state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6" name="Line 18">
            <a:extLst>
              <a:ext uri="{FF2B5EF4-FFF2-40B4-BE49-F238E27FC236}">
                <a16:creationId xmlns:a16="http://schemas.microsoft.com/office/drawing/2014/main" id="{6F3FF82D-5DE3-9979-50CC-9D4E07CFF0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7991" y="6528960"/>
            <a:ext cx="6697" cy="946561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37" name="Line 18">
            <a:extLst>
              <a:ext uri="{FF2B5EF4-FFF2-40B4-BE49-F238E27FC236}">
                <a16:creationId xmlns:a16="http://schemas.microsoft.com/office/drawing/2014/main" id="{5C10BEAD-3EB0-992A-EB97-CED3B0DD5E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64572" y="6575513"/>
            <a:ext cx="6697" cy="946561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020871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53D2-8F1C-539D-A7B0-F0E393586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50B67-8B44-84DA-A2FD-1C1BCD3EE24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D30274-56A2-1F0A-B754-C9B20EF46F8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AA59DF-1B61-DB91-6B95-A71F045B3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7A891663-CBBD-ECC4-809B-939C527D2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92C9F367-2062-AE54-539B-4E53B05B2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774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 .8</a:t>
            </a:r>
          </a:p>
          <a:p>
            <a:r>
              <a:rPr lang="en-US" sz="4000">
                <a:latin typeface="Courier New" charset="0"/>
              </a:rPr>
              <a:t>C</a:t>
            </a:r>
          </a:p>
          <a:p>
            <a:r>
              <a:rPr lang="en-US" sz="4000">
                <a:latin typeface="Courier New" charset="0"/>
              </a:rPr>
              <a:t>G</a:t>
            </a:r>
          </a:p>
          <a:p>
            <a:r>
              <a:rPr lang="en-US" sz="4000">
                <a:latin typeface="Courier New" charset="0"/>
              </a:rPr>
              <a:t>T .2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FBDE3EBA-82E0-A10C-AB16-871F14661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47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</a:t>
            </a:r>
          </a:p>
          <a:p>
            <a:r>
              <a:rPr lang="en-US" sz="4000">
                <a:latin typeface="Courier New" charset="0"/>
              </a:rPr>
              <a:t>C .8</a:t>
            </a:r>
          </a:p>
          <a:p>
            <a:r>
              <a:rPr lang="en-US" sz="4000">
                <a:latin typeface="Courier New" charset="0"/>
              </a:rPr>
              <a:t>G .2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D6CF56BC-DE73-4E2F-F2D9-6023266FA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20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 .2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998CF8EA-B554-A831-E473-48C9A555F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665" y="7542028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.8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CF7EBF11-E680-4EC2-8497-D8C02D671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4338" y="7605017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</a:t>
            </a:r>
          </a:p>
          <a:p>
            <a:r>
              <a:rPr lang="en-US" sz="4000">
                <a:latin typeface="Courier New" charset="0"/>
              </a:rPr>
              <a:t>C .8</a:t>
            </a:r>
          </a:p>
          <a:p>
            <a:r>
              <a:rPr lang="en-US" sz="4000">
                <a:latin typeface="Courier New" charset="0"/>
              </a:rPr>
              <a:t>G .2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1C7A2DEF-28C2-78A4-CE85-EFF96FD48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156" y="3178039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.2</a:t>
            </a:r>
          </a:p>
          <a:p>
            <a:r>
              <a:rPr lang="en-US" sz="4000" dirty="0">
                <a:latin typeface="Courier New" charset="0"/>
              </a:rPr>
              <a:t>C .4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5621EBE7-6F6A-A370-0F05-5C2A57FD5C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04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6620C641-CD49-A289-09F7-E6E5D8B72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984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1.0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379C33F0-8F45-728D-22C3-A7D27BA04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54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 dirty="0"/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CD4C855C-E725-F956-55BE-E27CE5814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109" y="7945819"/>
            <a:ext cx="11275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A780E901-9322-8CB6-59F6-97B267413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3482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C5665EF2-EA01-1CFA-0FDC-CB150DE1B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727" y="7954612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F611D47E-4E4D-04B9-2034-B838D39F9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74057" y="8838270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31746958-F71C-7614-325E-9D890D0D1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000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E222AC0E-E8FF-0E22-53C7-4DA2E665D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948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0A5C9255-E750-C79D-2083-0287082AD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986" y="8006663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0DF5D014-D762-A57C-FE36-9D36DB3A26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698" y="5813108"/>
            <a:ext cx="832300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D0D2333E-0F8C-DAF7-B94C-D411B5BEB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622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.6</a:t>
            </a: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54E93C9F-313E-08D7-DD38-0948C8171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07291" y="5910748"/>
            <a:ext cx="624225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12113378-C967-81FD-3A0C-AE7860508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577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.6</a:t>
            </a:r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F7A7B0E9-64F8-C036-47DD-3E7B0D4688F1}"/>
              </a:ext>
            </a:extLst>
          </p:cNvPr>
          <p:cNvSpPr>
            <a:spLocks/>
          </p:cNvSpPr>
          <p:nvPr/>
        </p:nvSpPr>
        <p:spPr bwMode="auto">
          <a:xfrm>
            <a:off x="7961518" y="2147769"/>
            <a:ext cx="1621251" cy="2167448"/>
          </a:xfrm>
          <a:custGeom>
            <a:avLst/>
            <a:gdLst>
              <a:gd name="T0" fmla="*/ 253 w 374"/>
              <a:gd name="T1" fmla="*/ 500 h 500"/>
              <a:gd name="T2" fmla="*/ 27 w 374"/>
              <a:gd name="T3" fmla="*/ 430 h 500"/>
              <a:gd name="T4" fmla="*/ 9 w 374"/>
              <a:gd name="T5" fmla="*/ 378 h 500"/>
              <a:gd name="T6" fmla="*/ 0 w 374"/>
              <a:gd name="T7" fmla="*/ 352 h 500"/>
              <a:gd name="T8" fmla="*/ 9 w 374"/>
              <a:gd name="T9" fmla="*/ 196 h 500"/>
              <a:gd name="T10" fmla="*/ 70 w 374"/>
              <a:gd name="T11" fmla="*/ 100 h 500"/>
              <a:gd name="T12" fmla="*/ 200 w 374"/>
              <a:gd name="T13" fmla="*/ 4 h 500"/>
              <a:gd name="T14" fmla="*/ 287 w 374"/>
              <a:gd name="T15" fmla="*/ 13 h 500"/>
              <a:gd name="T16" fmla="*/ 348 w 374"/>
              <a:gd name="T17" fmla="*/ 74 h 500"/>
              <a:gd name="T18" fmla="*/ 374 w 374"/>
              <a:gd name="T19" fmla="*/ 117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4" h="500">
                <a:moveTo>
                  <a:pt x="253" y="500"/>
                </a:moveTo>
                <a:cubicBezTo>
                  <a:pt x="181" y="480"/>
                  <a:pt x="89" y="473"/>
                  <a:pt x="27" y="430"/>
                </a:cubicBezTo>
                <a:cubicBezTo>
                  <a:pt x="21" y="412"/>
                  <a:pt x="15" y="395"/>
                  <a:pt x="9" y="378"/>
                </a:cubicBezTo>
                <a:cubicBezTo>
                  <a:pt x="6" y="369"/>
                  <a:pt x="0" y="352"/>
                  <a:pt x="0" y="352"/>
                </a:cubicBezTo>
                <a:cubicBezTo>
                  <a:pt x="3" y="300"/>
                  <a:pt x="3" y="247"/>
                  <a:pt x="9" y="196"/>
                </a:cubicBezTo>
                <a:cubicBezTo>
                  <a:pt x="12" y="163"/>
                  <a:pt x="61" y="110"/>
                  <a:pt x="70" y="100"/>
                </a:cubicBezTo>
                <a:cubicBezTo>
                  <a:pt x="114" y="46"/>
                  <a:pt x="131" y="18"/>
                  <a:pt x="200" y="4"/>
                </a:cubicBezTo>
                <a:cubicBezTo>
                  <a:pt x="229" y="7"/>
                  <a:pt x="260" y="0"/>
                  <a:pt x="287" y="13"/>
                </a:cubicBezTo>
                <a:cubicBezTo>
                  <a:pt x="312" y="25"/>
                  <a:pt x="348" y="74"/>
                  <a:pt x="348" y="74"/>
                </a:cubicBezTo>
                <a:cubicBezTo>
                  <a:pt x="359" y="107"/>
                  <a:pt x="350" y="93"/>
                  <a:pt x="374" y="11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5BAFB319-1A4D-0DC2-05FB-358CE6A23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66" y="2182920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6E291507-9651-3ED0-6F9D-FDA322C3C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30" y="7556742"/>
            <a:ext cx="1647261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 1</a:t>
            </a:r>
          </a:p>
          <a:p>
            <a:r>
              <a:rPr lang="en-US" sz="4000">
                <a:latin typeface="Courier New" charset="0"/>
              </a:rPr>
              <a:t>C </a:t>
            </a:r>
          </a:p>
          <a:p>
            <a:r>
              <a:rPr lang="en-US" sz="4000">
                <a:latin typeface="Courier New" charset="0"/>
              </a:rPr>
              <a:t>G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57A92FE1-3EB9-174B-861C-A9E13C0BB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4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BFA04F80-CD51-8DFA-306D-0752BCEF3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223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57240C60-8CA6-202A-667D-76D67AA08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8436" y="5880888"/>
            <a:ext cx="4086248" cy="6480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sz="2800" b="1" dirty="0">
                <a:solidFill>
                  <a:srgbClr val="C00000"/>
                </a:solidFill>
              </a:rPr>
              <a:t>emission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E91DAE25-CA73-0EF9-B896-668F50514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806" y="5880888"/>
            <a:ext cx="4086248" cy="6480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sz="2800" b="1" dirty="0">
                <a:solidFill>
                  <a:srgbClr val="C00000"/>
                </a:solidFill>
              </a:rPr>
              <a:t>transition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6" name="Line 18">
            <a:extLst>
              <a:ext uri="{FF2B5EF4-FFF2-40B4-BE49-F238E27FC236}">
                <a16:creationId xmlns:a16="http://schemas.microsoft.com/office/drawing/2014/main" id="{5568ECC0-9196-8A40-AEC3-C635196A2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4687" y="6528960"/>
            <a:ext cx="241455" cy="1076057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37" name="Line 18">
            <a:extLst>
              <a:ext uri="{FF2B5EF4-FFF2-40B4-BE49-F238E27FC236}">
                <a16:creationId xmlns:a16="http://schemas.microsoft.com/office/drawing/2014/main" id="{371EF3A5-AAD8-A53F-4F50-6318914389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1121" y="6541370"/>
            <a:ext cx="31895" cy="1404449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37869121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06F8A-AB11-0F51-2F80-B3E900E1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880C24-45DA-BFE1-6A73-A2E325558CD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3E5B82-E0C0-09C5-9AAF-AD7ED1BD03C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EAB4B9-0AF9-A2C9-C316-CA9E0F798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4E441076-9A3F-D700-62CE-D718525C2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urier New" charset="0"/>
              </a:rPr>
              <a:t>A</a:t>
            </a:r>
            <a:r>
              <a:rPr lang="en-US" sz="3600" dirty="0">
                <a:latin typeface="Courier New" charset="0"/>
              </a:rPr>
              <a:t>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533ED695-2FC0-E4B9-1B0D-6791E1B32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774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48B84AF8-81E3-31B2-8F1A-C74697129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47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</a:t>
            </a:r>
          </a:p>
          <a:p>
            <a:r>
              <a:rPr lang="en-US" sz="4000">
                <a:latin typeface="Courier New" charset="0"/>
              </a:rPr>
              <a:t>C .8</a:t>
            </a:r>
          </a:p>
          <a:p>
            <a:r>
              <a:rPr lang="en-US" sz="4000">
                <a:latin typeface="Courier New" charset="0"/>
              </a:rPr>
              <a:t>G .2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AE81A510-4BB7-8C7F-E439-D0EF5E7E6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20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 .2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A19CD674-0DA8-1573-2980-C5747E313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665" y="7542028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.8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D04BE59F-B355-5441-B22B-FAFF2E08E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4338" y="7605017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</a:t>
            </a:r>
          </a:p>
          <a:p>
            <a:r>
              <a:rPr lang="en-US" sz="4000">
                <a:latin typeface="Courier New" charset="0"/>
              </a:rPr>
              <a:t>C .8</a:t>
            </a:r>
          </a:p>
          <a:p>
            <a:r>
              <a:rPr lang="en-US" sz="4000">
                <a:latin typeface="Courier New" charset="0"/>
              </a:rPr>
              <a:t>G .2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5563F44F-EC9C-38CD-5A61-C4801EFE6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156" y="3178039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.2</a:t>
            </a:r>
          </a:p>
          <a:p>
            <a:r>
              <a:rPr lang="en-US" sz="4000" dirty="0">
                <a:latin typeface="Courier New" charset="0"/>
              </a:rPr>
              <a:t>C .4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ABAA5E46-568F-C11E-5111-BA5012087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04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01FC2BE2-115A-5CB9-9DF6-56EF1BF48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984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1.0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C1BFC12D-CD39-3E54-0162-84441B72B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54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 dirty="0"/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3744C9BA-D8A7-E547-5DA7-D5763BEB6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109" y="7945819"/>
            <a:ext cx="11275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C9537F16-1064-9A94-7F79-F1AC3847E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3482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F0CB604D-6831-E962-3E99-4D0049981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727" y="7954612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069D2C47-947B-26A8-AFC3-D8CC5C837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74057" y="8838270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70CF8372-D64C-1FE8-B4F2-12F7DFA3D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000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C08DF8FA-BC1B-75F6-A239-A9E46BDECD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948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30AEFD72-4B69-06EF-65BB-6CAE339C8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986" y="8006663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1F9E38DA-A0EF-62D0-83C8-C30D552851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698" y="5813108"/>
            <a:ext cx="832300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CF3D07C7-5054-4C4A-2DF2-933BDDFE4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622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.6</a:t>
            </a: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56EB9899-0386-F340-5955-D696D6170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07291" y="5910748"/>
            <a:ext cx="624225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C95520E3-50D3-8B96-51E5-AA927F7D1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577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.6</a:t>
            </a:r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00A043FA-5FF8-EC6A-1E71-B85A46B2A93C}"/>
              </a:ext>
            </a:extLst>
          </p:cNvPr>
          <p:cNvSpPr>
            <a:spLocks/>
          </p:cNvSpPr>
          <p:nvPr/>
        </p:nvSpPr>
        <p:spPr bwMode="auto">
          <a:xfrm>
            <a:off x="7961518" y="2147769"/>
            <a:ext cx="1621251" cy="2167448"/>
          </a:xfrm>
          <a:custGeom>
            <a:avLst/>
            <a:gdLst>
              <a:gd name="T0" fmla="*/ 253 w 374"/>
              <a:gd name="T1" fmla="*/ 500 h 500"/>
              <a:gd name="T2" fmla="*/ 27 w 374"/>
              <a:gd name="T3" fmla="*/ 430 h 500"/>
              <a:gd name="T4" fmla="*/ 9 w 374"/>
              <a:gd name="T5" fmla="*/ 378 h 500"/>
              <a:gd name="T6" fmla="*/ 0 w 374"/>
              <a:gd name="T7" fmla="*/ 352 h 500"/>
              <a:gd name="T8" fmla="*/ 9 w 374"/>
              <a:gd name="T9" fmla="*/ 196 h 500"/>
              <a:gd name="T10" fmla="*/ 70 w 374"/>
              <a:gd name="T11" fmla="*/ 100 h 500"/>
              <a:gd name="T12" fmla="*/ 200 w 374"/>
              <a:gd name="T13" fmla="*/ 4 h 500"/>
              <a:gd name="T14" fmla="*/ 287 w 374"/>
              <a:gd name="T15" fmla="*/ 13 h 500"/>
              <a:gd name="T16" fmla="*/ 348 w 374"/>
              <a:gd name="T17" fmla="*/ 74 h 500"/>
              <a:gd name="T18" fmla="*/ 374 w 374"/>
              <a:gd name="T19" fmla="*/ 117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4" h="500">
                <a:moveTo>
                  <a:pt x="253" y="500"/>
                </a:moveTo>
                <a:cubicBezTo>
                  <a:pt x="181" y="480"/>
                  <a:pt x="89" y="473"/>
                  <a:pt x="27" y="430"/>
                </a:cubicBezTo>
                <a:cubicBezTo>
                  <a:pt x="21" y="412"/>
                  <a:pt x="15" y="395"/>
                  <a:pt x="9" y="378"/>
                </a:cubicBezTo>
                <a:cubicBezTo>
                  <a:pt x="6" y="369"/>
                  <a:pt x="0" y="352"/>
                  <a:pt x="0" y="352"/>
                </a:cubicBezTo>
                <a:cubicBezTo>
                  <a:pt x="3" y="300"/>
                  <a:pt x="3" y="247"/>
                  <a:pt x="9" y="196"/>
                </a:cubicBezTo>
                <a:cubicBezTo>
                  <a:pt x="12" y="163"/>
                  <a:pt x="61" y="110"/>
                  <a:pt x="70" y="100"/>
                </a:cubicBezTo>
                <a:cubicBezTo>
                  <a:pt x="114" y="46"/>
                  <a:pt x="131" y="18"/>
                  <a:pt x="200" y="4"/>
                </a:cubicBezTo>
                <a:cubicBezTo>
                  <a:pt x="229" y="7"/>
                  <a:pt x="260" y="0"/>
                  <a:pt x="287" y="13"/>
                </a:cubicBezTo>
                <a:cubicBezTo>
                  <a:pt x="312" y="25"/>
                  <a:pt x="348" y="74"/>
                  <a:pt x="348" y="74"/>
                </a:cubicBezTo>
                <a:cubicBezTo>
                  <a:pt x="359" y="107"/>
                  <a:pt x="350" y="93"/>
                  <a:pt x="374" y="11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20F7D9DD-F9A6-F8F6-E29E-CEF077F18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66" y="2182920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A8763442-6632-9A24-C54B-336F568AD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30" y="7556742"/>
            <a:ext cx="1647261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 1</a:t>
            </a:r>
          </a:p>
          <a:p>
            <a:r>
              <a:rPr lang="en-US" sz="4000">
                <a:latin typeface="Courier New" charset="0"/>
              </a:rPr>
              <a:t>C </a:t>
            </a:r>
          </a:p>
          <a:p>
            <a:r>
              <a:rPr lang="en-US" sz="4000">
                <a:latin typeface="Courier New" charset="0"/>
              </a:rPr>
              <a:t>G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4A267E20-1E83-9A99-BE02-33249FEA0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4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429D9F2A-DD14-D3B8-DDEF-51FC47569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223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1646951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D1AAF-3D33-8C12-C6ED-60C8A2EF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83121-D602-BAD6-2BBD-0B24AC75ED5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12459A-0780-DEAC-0505-7C2B84CE07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7386BA-1205-886B-322D-BB7F4C400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99B1E314-9DF8-CCB6-7A36-70E0E2881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charset="0"/>
              </a:rPr>
              <a:t>A</a:t>
            </a:r>
            <a:r>
              <a:rPr lang="en-US" sz="3600" b="1" dirty="0">
                <a:solidFill>
                  <a:srgbClr val="C00000"/>
                </a:solidFill>
                <a:latin typeface="Courier New" charset="0"/>
              </a:rPr>
              <a:t>C</a:t>
            </a:r>
            <a:r>
              <a:rPr lang="en-US" sz="3600" dirty="0">
                <a:latin typeface="Courier New" charset="0"/>
              </a:rPr>
              <a:t>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829F52FF-67AE-8714-50E0-801812710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774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7B773327-58FA-9286-F492-D25151AA6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47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C .8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25242BB8-939B-7F9F-2D4F-9D47C06AC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20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 .2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27698C9F-E59F-684A-F9A1-9F93D30E7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665" y="7542028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.8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B69C2FCF-B67E-DCA1-46CC-21541C8FE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4338" y="7605017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</a:t>
            </a:r>
          </a:p>
          <a:p>
            <a:r>
              <a:rPr lang="en-US" sz="4000">
                <a:latin typeface="Courier New" charset="0"/>
              </a:rPr>
              <a:t>C .8</a:t>
            </a:r>
          </a:p>
          <a:p>
            <a:r>
              <a:rPr lang="en-US" sz="4000">
                <a:latin typeface="Courier New" charset="0"/>
              </a:rPr>
              <a:t>G .2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3A4B647C-48EC-10E7-2E1D-7F43A4AED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156" y="3178039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.2</a:t>
            </a:r>
          </a:p>
          <a:p>
            <a:r>
              <a:rPr lang="en-US" sz="4000" dirty="0">
                <a:latin typeface="Courier New" charset="0"/>
              </a:rPr>
              <a:t>C .4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B02997F1-CF3B-E4CE-DFAD-1988EE31FA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04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5CE9D0C3-E830-0C4E-BE10-6583DF587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984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62248D14-408D-2D0F-DD14-580161E9E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54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 dirty="0"/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B62FAE80-1551-6C0B-0C5F-D86E643B2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109" y="7945819"/>
            <a:ext cx="11275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E1DBB60D-C545-4A3D-7ECD-08DB6A78A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3482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07388325-9E5B-AAED-16CC-B1855C935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727" y="7954612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09B2A357-97CE-6A27-ECC5-2276A1769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74057" y="8838270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D5ECE766-FCF0-C2D8-4B84-7848DAFEF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000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DDA2AB25-DF9E-A99F-9E5A-AFCF0CB81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948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C50E98D9-8FD5-D6F3-6A49-1388EC2E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986" y="8006663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3E59EF55-C7CB-FC94-4ADE-524162578B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698" y="5813108"/>
            <a:ext cx="832300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6A8B4BC9-2A1D-03A6-6364-3B93BA1EB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622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.6</a:t>
            </a: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54275F0D-CB64-03C2-732C-00124FE792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07291" y="5910748"/>
            <a:ext cx="624225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CBC57249-7D24-67E2-9D11-BF8B7CA3B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577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.6</a:t>
            </a:r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01AF24B0-8E2D-3673-2F81-38945E84DA0F}"/>
              </a:ext>
            </a:extLst>
          </p:cNvPr>
          <p:cNvSpPr>
            <a:spLocks/>
          </p:cNvSpPr>
          <p:nvPr/>
        </p:nvSpPr>
        <p:spPr bwMode="auto">
          <a:xfrm>
            <a:off x="7961518" y="2147769"/>
            <a:ext cx="1621251" cy="2167448"/>
          </a:xfrm>
          <a:custGeom>
            <a:avLst/>
            <a:gdLst>
              <a:gd name="T0" fmla="*/ 253 w 374"/>
              <a:gd name="T1" fmla="*/ 500 h 500"/>
              <a:gd name="T2" fmla="*/ 27 w 374"/>
              <a:gd name="T3" fmla="*/ 430 h 500"/>
              <a:gd name="T4" fmla="*/ 9 w 374"/>
              <a:gd name="T5" fmla="*/ 378 h 500"/>
              <a:gd name="T6" fmla="*/ 0 w 374"/>
              <a:gd name="T7" fmla="*/ 352 h 500"/>
              <a:gd name="T8" fmla="*/ 9 w 374"/>
              <a:gd name="T9" fmla="*/ 196 h 500"/>
              <a:gd name="T10" fmla="*/ 70 w 374"/>
              <a:gd name="T11" fmla="*/ 100 h 500"/>
              <a:gd name="T12" fmla="*/ 200 w 374"/>
              <a:gd name="T13" fmla="*/ 4 h 500"/>
              <a:gd name="T14" fmla="*/ 287 w 374"/>
              <a:gd name="T15" fmla="*/ 13 h 500"/>
              <a:gd name="T16" fmla="*/ 348 w 374"/>
              <a:gd name="T17" fmla="*/ 74 h 500"/>
              <a:gd name="T18" fmla="*/ 374 w 374"/>
              <a:gd name="T19" fmla="*/ 117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4" h="500">
                <a:moveTo>
                  <a:pt x="253" y="500"/>
                </a:moveTo>
                <a:cubicBezTo>
                  <a:pt x="181" y="480"/>
                  <a:pt x="89" y="473"/>
                  <a:pt x="27" y="430"/>
                </a:cubicBezTo>
                <a:cubicBezTo>
                  <a:pt x="21" y="412"/>
                  <a:pt x="15" y="395"/>
                  <a:pt x="9" y="378"/>
                </a:cubicBezTo>
                <a:cubicBezTo>
                  <a:pt x="6" y="369"/>
                  <a:pt x="0" y="352"/>
                  <a:pt x="0" y="352"/>
                </a:cubicBezTo>
                <a:cubicBezTo>
                  <a:pt x="3" y="300"/>
                  <a:pt x="3" y="247"/>
                  <a:pt x="9" y="196"/>
                </a:cubicBezTo>
                <a:cubicBezTo>
                  <a:pt x="12" y="163"/>
                  <a:pt x="61" y="110"/>
                  <a:pt x="70" y="100"/>
                </a:cubicBezTo>
                <a:cubicBezTo>
                  <a:pt x="114" y="46"/>
                  <a:pt x="131" y="18"/>
                  <a:pt x="200" y="4"/>
                </a:cubicBezTo>
                <a:cubicBezTo>
                  <a:pt x="229" y="7"/>
                  <a:pt x="260" y="0"/>
                  <a:pt x="287" y="13"/>
                </a:cubicBezTo>
                <a:cubicBezTo>
                  <a:pt x="312" y="25"/>
                  <a:pt x="348" y="74"/>
                  <a:pt x="348" y="74"/>
                </a:cubicBezTo>
                <a:cubicBezTo>
                  <a:pt x="359" y="107"/>
                  <a:pt x="350" y="93"/>
                  <a:pt x="374" y="11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2B33C6DA-5985-582A-AB47-E7E61AF15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66" y="2182920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E3965E15-5357-9AE1-6B8B-949A0D984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30" y="7556742"/>
            <a:ext cx="1647261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 1</a:t>
            </a:r>
          </a:p>
          <a:p>
            <a:r>
              <a:rPr lang="en-US" sz="4000">
                <a:latin typeface="Courier New" charset="0"/>
              </a:rPr>
              <a:t>C </a:t>
            </a:r>
          </a:p>
          <a:p>
            <a:r>
              <a:rPr lang="en-US" sz="4000">
                <a:latin typeface="Courier New" charset="0"/>
              </a:rPr>
              <a:t>G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55BF97B7-1847-366A-5735-7EE9B2B54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4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5FBCDFD3-9502-510D-ADBF-5A15178C0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223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832042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E72A-EFA7-B3F9-8787-F70BB173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D3FF7-0A75-7CF0-44C2-2284F273C54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C21A62-97F8-A5D2-A416-2C2B9325ED3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8A2587-6817-DD5D-8EA6-51773CC5A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811BCC9D-7589-8EB9-7033-C3D94FFCC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charset="0"/>
              </a:rPr>
              <a:t>AC</a:t>
            </a:r>
            <a:r>
              <a:rPr lang="en-US" sz="3600" b="1" dirty="0">
                <a:solidFill>
                  <a:srgbClr val="C00000"/>
                </a:solidFill>
                <a:latin typeface="Courier New" charset="0"/>
              </a:rPr>
              <a:t>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403B5848-E13F-48EF-6659-AE69B1C0C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774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13DF89E0-FA7F-E12B-7F15-4265E6A3C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47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C .8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A8018EE0-E99A-9500-AD33-3A3DC2919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20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 .2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4B6B4A63-719B-1461-8FDE-7229FA4FD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665" y="7542028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.8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80A5A844-8DCA-AE34-9B21-85D832769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4338" y="7605017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</a:t>
            </a:r>
          </a:p>
          <a:p>
            <a:r>
              <a:rPr lang="en-US" sz="4000">
                <a:latin typeface="Courier New" charset="0"/>
              </a:rPr>
              <a:t>C .8</a:t>
            </a:r>
          </a:p>
          <a:p>
            <a:r>
              <a:rPr lang="en-US" sz="4000">
                <a:latin typeface="Courier New" charset="0"/>
              </a:rPr>
              <a:t>G .2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5A618B10-E245-AAE2-55EF-78EE6C9D1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156" y="3178039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.2</a:t>
            </a:r>
          </a:p>
          <a:p>
            <a:r>
              <a:rPr lang="en-US" sz="4000" dirty="0">
                <a:latin typeface="Courier New" charset="0"/>
              </a:rPr>
              <a:t>C .4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D8737E3A-986E-E42C-741A-990F29CA6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04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39BFD204-3028-FBFE-5DA3-629F3CEB8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984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B8FD892F-7FB7-AB67-A5B0-1A2568562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54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 dirty="0"/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4FD0607E-E0C5-3D40-090F-E978AF2E9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109" y="7945819"/>
            <a:ext cx="11275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9A2632F5-9C3C-5178-B28A-CAA6459C4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3482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77CB4BB7-E214-B7CA-38D1-86F21394E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727" y="7954612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A1DE7E1A-4031-2FAE-B47F-FDB622EAD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74057" y="8838270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C4DC5795-66E9-186D-F051-981ED179F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000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D149A1C6-6807-D7AB-9F89-52691CDD0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948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819B0D6F-1153-C1EC-3BF0-F7830F908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986" y="8006663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0508FCFE-1CC0-A435-1DBA-7578E9CA54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698" y="5813108"/>
            <a:ext cx="832300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E2145BDF-451D-7B7D-89CF-5A89D989C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622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.6</a:t>
            </a: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14A35AE2-4FBF-29C3-9549-2AFEABA81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07291" y="5910748"/>
            <a:ext cx="624225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90313640-AA4E-1606-B1B8-9141E226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577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.6</a:t>
            </a:r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B793F92F-8EB4-7064-5083-7016D127678F}"/>
              </a:ext>
            </a:extLst>
          </p:cNvPr>
          <p:cNvSpPr>
            <a:spLocks/>
          </p:cNvSpPr>
          <p:nvPr/>
        </p:nvSpPr>
        <p:spPr bwMode="auto">
          <a:xfrm>
            <a:off x="7961518" y="2147769"/>
            <a:ext cx="1621251" cy="2167448"/>
          </a:xfrm>
          <a:custGeom>
            <a:avLst/>
            <a:gdLst>
              <a:gd name="T0" fmla="*/ 253 w 374"/>
              <a:gd name="T1" fmla="*/ 500 h 500"/>
              <a:gd name="T2" fmla="*/ 27 w 374"/>
              <a:gd name="T3" fmla="*/ 430 h 500"/>
              <a:gd name="T4" fmla="*/ 9 w 374"/>
              <a:gd name="T5" fmla="*/ 378 h 500"/>
              <a:gd name="T6" fmla="*/ 0 w 374"/>
              <a:gd name="T7" fmla="*/ 352 h 500"/>
              <a:gd name="T8" fmla="*/ 9 w 374"/>
              <a:gd name="T9" fmla="*/ 196 h 500"/>
              <a:gd name="T10" fmla="*/ 70 w 374"/>
              <a:gd name="T11" fmla="*/ 100 h 500"/>
              <a:gd name="T12" fmla="*/ 200 w 374"/>
              <a:gd name="T13" fmla="*/ 4 h 500"/>
              <a:gd name="T14" fmla="*/ 287 w 374"/>
              <a:gd name="T15" fmla="*/ 13 h 500"/>
              <a:gd name="T16" fmla="*/ 348 w 374"/>
              <a:gd name="T17" fmla="*/ 74 h 500"/>
              <a:gd name="T18" fmla="*/ 374 w 374"/>
              <a:gd name="T19" fmla="*/ 117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4" h="500">
                <a:moveTo>
                  <a:pt x="253" y="500"/>
                </a:moveTo>
                <a:cubicBezTo>
                  <a:pt x="181" y="480"/>
                  <a:pt x="89" y="473"/>
                  <a:pt x="27" y="430"/>
                </a:cubicBezTo>
                <a:cubicBezTo>
                  <a:pt x="21" y="412"/>
                  <a:pt x="15" y="395"/>
                  <a:pt x="9" y="378"/>
                </a:cubicBezTo>
                <a:cubicBezTo>
                  <a:pt x="6" y="369"/>
                  <a:pt x="0" y="352"/>
                  <a:pt x="0" y="352"/>
                </a:cubicBezTo>
                <a:cubicBezTo>
                  <a:pt x="3" y="300"/>
                  <a:pt x="3" y="247"/>
                  <a:pt x="9" y="196"/>
                </a:cubicBezTo>
                <a:cubicBezTo>
                  <a:pt x="12" y="163"/>
                  <a:pt x="61" y="110"/>
                  <a:pt x="70" y="100"/>
                </a:cubicBezTo>
                <a:cubicBezTo>
                  <a:pt x="114" y="46"/>
                  <a:pt x="131" y="18"/>
                  <a:pt x="200" y="4"/>
                </a:cubicBezTo>
                <a:cubicBezTo>
                  <a:pt x="229" y="7"/>
                  <a:pt x="260" y="0"/>
                  <a:pt x="287" y="13"/>
                </a:cubicBezTo>
                <a:cubicBezTo>
                  <a:pt x="312" y="25"/>
                  <a:pt x="348" y="74"/>
                  <a:pt x="348" y="74"/>
                </a:cubicBezTo>
                <a:cubicBezTo>
                  <a:pt x="359" y="107"/>
                  <a:pt x="350" y="93"/>
                  <a:pt x="374" y="11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1E880DC1-C90E-F2AB-FBD5-33FF977D2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66" y="2182920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69D7B6C5-6254-67F5-966D-E2732DBB5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30" y="7556742"/>
            <a:ext cx="1647261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 1</a:t>
            </a:r>
          </a:p>
          <a:p>
            <a:r>
              <a:rPr lang="en-US" sz="4000">
                <a:latin typeface="Courier New" charset="0"/>
              </a:rPr>
              <a:t>C </a:t>
            </a:r>
          </a:p>
          <a:p>
            <a:r>
              <a:rPr lang="en-US" sz="4000">
                <a:latin typeface="Courier New" charset="0"/>
              </a:rPr>
              <a:t>G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C32F8CD-E53F-6417-5B60-210197567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4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62D44B24-75BE-C42B-E054-FE3A3F679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223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3087109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D8420-5719-612F-67B9-698153D5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C9AF70-5492-CF0A-3DB5-B201A2ADECE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988E84-305B-1E1B-507A-9E42A62A90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4C2F54E-E2D4-ACCB-19C6-85A5E8FCA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8C8532BB-2ECD-C9ED-18FB-E4432862D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b="1" dirty="0">
                <a:solidFill>
                  <a:srgbClr val="C00000"/>
                </a:solidFill>
                <a:latin typeface="Courier New" charset="0"/>
              </a:rPr>
              <a:t>A</a:t>
            </a:r>
            <a:r>
              <a:rPr lang="en-US" sz="3600" dirty="0">
                <a:latin typeface="Courier New" charset="0"/>
              </a:rPr>
              <a:t>TG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A9019AB4-B943-8526-4DDB-859D5E2FA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774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8A309743-E6A2-A97B-20DC-6876BCB38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47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C .8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D9135376-2CFD-57E7-BE0A-8A8743DBA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20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 .2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C5FC65D2-F0C8-C71A-BA56-807EBFCC0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665" y="7542028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.8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0E75E11A-B60C-64E9-21AF-C1E42E3A9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4338" y="7605017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A</a:t>
            </a:r>
          </a:p>
          <a:p>
            <a:r>
              <a:rPr lang="en-US" sz="4000">
                <a:latin typeface="Courier New" charset="0"/>
              </a:rPr>
              <a:t>C .8</a:t>
            </a:r>
          </a:p>
          <a:p>
            <a:r>
              <a:rPr lang="en-US" sz="4000">
                <a:latin typeface="Courier New" charset="0"/>
              </a:rPr>
              <a:t>G .2</a:t>
            </a:r>
          </a:p>
          <a:p>
            <a:r>
              <a:rPr lang="en-US" sz="4000">
                <a:latin typeface="Courier New" charset="0"/>
              </a:rPr>
              <a:t>T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781D97AB-6635-FFE9-A6D7-9A6139ACA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156" y="3178039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.2</a:t>
            </a:r>
          </a:p>
          <a:p>
            <a:r>
              <a:rPr lang="en-US" sz="4000" dirty="0">
                <a:latin typeface="Courier New" charset="0"/>
              </a:rPr>
              <a:t>C .4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26801E55-3DD4-6948-0870-358759FB5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04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FC6D7CE1-6C4B-9257-5CC5-88D2E2D5E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984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86E84B7A-96F0-CF9F-DBBD-09D69A5B1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54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 dirty="0"/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3462C500-6609-38D0-D3D8-96D67B95D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109" y="7945819"/>
            <a:ext cx="11275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293F7FA1-FE24-5118-7BBF-4720AB2E02F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3482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BBB94FB2-DE80-F80C-98B3-B1892AE78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727" y="7954612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.4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DBE80E75-F83C-9971-B5F7-EA530C02C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74057" y="8838270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EF5C9C95-2D37-99E9-5D7A-2E871A964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000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AC0E5552-BF4B-6CDE-D96A-B70E6A1B5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948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282B6CF4-D01C-D24D-10F2-E00D61064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986" y="8006663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02383ABF-34C7-43C3-A998-4313FAAA05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698" y="5813108"/>
            <a:ext cx="832300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1AED1E67-E36A-2C3D-4DB1-108189D17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622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.6</a:t>
            </a: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CF30484A-3CD5-287B-FFCB-F553E920A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07291" y="5910748"/>
            <a:ext cx="624225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DC2E9D36-4035-A5BD-79B5-34C26DF52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577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.6</a:t>
            </a:r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2974F0DB-3A52-7F59-F5B0-956E2BAA685F}"/>
              </a:ext>
            </a:extLst>
          </p:cNvPr>
          <p:cNvSpPr>
            <a:spLocks/>
          </p:cNvSpPr>
          <p:nvPr/>
        </p:nvSpPr>
        <p:spPr bwMode="auto">
          <a:xfrm>
            <a:off x="7961518" y="2147769"/>
            <a:ext cx="1621251" cy="2167448"/>
          </a:xfrm>
          <a:custGeom>
            <a:avLst/>
            <a:gdLst>
              <a:gd name="T0" fmla="*/ 253 w 374"/>
              <a:gd name="T1" fmla="*/ 500 h 500"/>
              <a:gd name="T2" fmla="*/ 27 w 374"/>
              <a:gd name="T3" fmla="*/ 430 h 500"/>
              <a:gd name="T4" fmla="*/ 9 w 374"/>
              <a:gd name="T5" fmla="*/ 378 h 500"/>
              <a:gd name="T6" fmla="*/ 0 w 374"/>
              <a:gd name="T7" fmla="*/ 352 h 500"/>
              <a:gd name="T8" fmla="*/ 9 w 374"/>
              <a:gd name="T9" fmla="*/ 196 h 500"/>
              <a:gd name="T10" fmla="*/ 70 w 374"/>
              <a:gd name="T11" fmla="*/ 100 h 500"/>
              <a:gd name="T12" fmla="*/ 200 w 374"/>
              <a:gd name="T13" fmla="*/ 4 h 500"/>
              <a:gd name="T14" fmla="*/ 287 w 374"/>
              <a:gd name="T15" fmla="*/ 13 h 500"/>
              <a:gd name="T16" fmla="*/ 348 w 374"/>
              <a:gd name="T17" fmla="*/ 74 h 500"/>
              <a:gd name="T18" fmla="*/ 374 w 374"/>
              <a:gd name="T19" fmla="*/ 117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4" h="500">
                <a:moveTo>
                  <a:pt x="253" y="500"/>
                </a:moveTo>
                <a:cubicBezTo>
                  <a:pt x="181" y="480"/>
                  <a:pt x="89" y="473"/>
                  <a:pt x="27" y="430"/>
                </a:cubicBezTo>
                <a:cubicBezTo>
                  <a:pt x="21" y="412"/>
                  <a:pt x="15" y="395"/>
                  <a:pt x="9" y="378"/>
                </a:cubicBezTo>
                <a:cubicBezTo>
                  <a:pt x="6" y="369"/>
                  <a:pt x="0" y="352"/>
                  <a:pt x="0" y="352"/>
                </a:cubicBezTo>
                <a:cubicBezTo>
                  <a:pt x="3" y="300"/>
                  <a:pt x="3" y="247"/>
                  <a:pt x="9" y="196"/>
                </a:cubicBezTo>
                <a:cubicBezTo>
                  <a:pt x="12" y="163"/>
                  <a:pt x="61" y="110"/>
                  <a:pt x="70" y="100"/>
                </a:cubicBezTo>
                <a:cubicBezTo>
                  <a:pt x="114" y="46"/>
                  <a:pt x="131" y="18"/>
                  <a:pt x="200" y="4"/>
                </a:cubicBezTo>
                <a:cubicBezTo>
                  <a:pt x="229" y="7"/>
                  <a:pt x="260" y="0"/>
                  <a:pt x="287" y="13"/>
                </a:cubicBezTo>
                <a:cubicBezTo>
                  <a:pt x="312" y="25"/>
                  <a:pt x="348" y="74"/>
                  <a:pt x="348" y="74"/>
                </a:cubicBezTo>
                <a:cubicBezTo>
                  <a:pt x="359" y="107"/>
                  <a:pt x="350" y="93"/>
                  <a:pt x="374" y="11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8FAACD0D-6F32-E6C7-E709-68D633CB2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66" y="2182920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C1C309BA-A035-C90A-514D-8E8CEDB02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30" y="7556742"/>
            <a:ext cx="1647261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1</a:t>
            </a:r>
          </a:p>
          <a:p>
            <a:r>
              <a:rPr lang="en-US" sz="4000" dirty="0">
                <a:latin typeface="Courier New" charset="0"/>
              </a:rPr>
              <a:t>C 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3443186F-CA6F-E865-3760-22CCADA20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4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CF36345F-77BB-09ED-417C-39F358C21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223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2197728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A8AAA-A538-0D78-E19F-FFFFA594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28CC36-A833-9212-7156-246C70E1D6C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5AC53B-B143-32AB-6025-0A44A13BD2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3D16627-563E-9DCB-EC55-DAD26B8E8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2A290CE8-43FC-3D3E-E225-D0821DBDE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</a:t>
            </a:r>
            <a:r>
              <a:rPr lang="en-US" sz="3600" b="1" dirty="0">
                <a:solidFill>
                  <a:srgbClr val="C00000"/>
                </a:solidFill>
                <a:latin typeface="Courier New" charset="0"/>
              </a:rPr>
              <a:t>T</a:t>
            </a:r>
            <a:r>
              <a:rPr lang="en-US" sz="3600" dirty="0">
                <a:latin typeface="Courier New" charset="0"/>
              </a:rPr>
              <a:t>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82B3913E-1A17-EF4C-B110-B1A6E8E1F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774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D04BE623-C359-A5BF-C668-FEBF6F29F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47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C .8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56CB4903-5719-B5B2-DA33-B7E0BC9A4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20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 .2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820DF6E6-EC4F-55F0-7648-8619C12FF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665" y="7542028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T .8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3FF9E9C7-BD42-3B76-9C3F-CE4C3DDAE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4338" y="7605017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 .8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B1293A3D-5D91-99FD-FF3E-B2DD6F95A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156" y="3178039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.2</a:t>
            </a:r>
          </a:p>
          <a:p>
            <a:r>
              <a:rPr lang="en-US" sz="4000" dirty="0">
                <a:latin typeface="Courier New" charset="0"/>
              </a:rPr>
              <a:t>C .4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0FAC7C26-CD82-A530-D597-636147017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04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A9D4BE3B-B22B-EB65-BCCC-3DB17B309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984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7ED2FD80-0234-775F-8347-79BAA5E7C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54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 dirty="0"/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54C6A5F8-AFAA-2A3C-388C-04E34B6DF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109" y="7945819"/>
            <a:ext cx="11275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EDF891B2-E044-B362-1D15-B44F401B91E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3482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5E8B8E49-4D51-6219-B9DB-B716C3D8B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727" y="7954612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.4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89F9A271-8AFD-7FEE-41FF-34EADDADA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74057" y="8838270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88037555-641D-13A6-5B84-71C51AF42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000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53A6DAF6-01A9-6268-516B-E579B45A8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948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514D19F4-A7AB-47F7-9367-5C30EFE86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986" y="8006663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1.0</a:t>
            </a: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5194538A-B4B6-54B9-83E8-7C034C05EA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698" y="5813108"/>
            <a:ext cx="832300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77320B3D-D6B8-B9CA-B9C9-1E864E6A4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622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.6</a:t>
            </a: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3873E26B-9310-7789-CEF9-5498184AE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07291" y="5910748"/>
            <a:ext cx="624225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ED403F59-C745-1055-FD4D-44542C0AA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577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.6</a:t>
            </a:r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E2701E8D-7719-8A2E-CF95-21A7B8DE0794}"/>
              </a:ext>
            </a:extLst>
          </p:cNvPr>
          <p:cNvSpPr>
            <a:spLocks/>
          </p:cNvSpPr>
          <p:nvPr/>
        </p:nvSpPr>
        <p:spPr bwMode="auto">
          <a:xfrm>
            <a:off x="7961518" y="2147769"/>
            <a:ext cx="1621251" cy="2167448"/>
          </a:xfrm>
          <a:custGeom>
            <a:avLst/>
            <a:gdLst>
              <a:gd name="T0" fmla="*/ 253 w 374"/>
              <a:gd name="T1" fmla="*/ 500 h 500"/>
              <a:gd name="T2" fmla="*/ 27 w 374"/>
              <a:gd name="T3" fmla="*/ 430 h 500"/>
              <a:gd name="T4" fmla="*/ 9 w 374"/>
              <a:gd name="T5" fmla="*/ 378 h 500"/>
              <a:gd name="T6" fmla="*/ 0 w 374"/>
              <a:gd name="T7" fmla="*/ 352 h 500"/>
              <a:gd name="T8" fmla="*/ 9 w 374"/>
              <a:gd name="T9" fmla="*/ 196 h 500"/>
              <a:gd name="T10" fmla="*/ 70 w 374"/>
              <a:gd name="T11" fmla="*/ 100 h 500"/>
              <a:gd name="T12" fmla="*/ 200 w 374"/>
              <a:gd name="T13" fmla="*/ 4 h 500"/>
              <a:gd name="T14" fmla="*/ 287 w 374"/>
              <a:gd name="T15" fmla="*/ 13 h 500"/>
              <a:gd name="T16" fmla="*/ 348 w 374"/>
              <a:gd name="T17" fmla="*/ 74 h 500"/>
              <a:gd name="T18" fmla="*/ 374 w 374"/>
              <a:gd name="T19" fmla="*/ 117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4" h="500">
                <a:moveTo>
                  <a:pt x="253" y="500"/>
                </a:moveTo>
                <a:cubicBezTo>
                  <a:pt x="181" y="480"/>
                  <a:pt x="89" y="473"/>
                  <a:pt x="27" y="430"/>
                </a:cubicBezTo>
                <a:cubicBezTo>
                  <a:pt x="21" y="412"/>
                  <a:pt x="15" y="395"/>
                  <a:pt x="9" y="378"/>
                </a:cubicBezTo>
                <a:cubicBezTo>
                  <a:pt x="6" y="369"/>
                  <a:pt x="0" y="352"/>
                  <a:pt x="0" y="352"/>
                </a:cubicBezTo>
                <a:cubicBezTo>
                  <a:pt x="3" y="300"/>
                  <a:pt x="3" y="247"/>
                  <a:pt x="9" y="196"/>
                </a:cubicBezTo>
                <a:cubicBezTo>
                  <a:pt x="12" y="163"/>
                  <a:pt x="61" y="110"/>
                  <a:pt x="70" y="100"/>
                </a:cubicBezTo>
                <a:cubicBezTo>
                  <a:pt x="114" y="46"/>
                  <a:pt x="131" y="18"/>
                  <a:pt x="200" y="4"/>
                </a:cubicBezTo>
                <a:cubicBezTo>
                  <a:pt x="229" y="7"/>
                  <a:pt x="260" y="0"/>
                  <a:pt x="287" y="13"/>
                </a:cubicBezTo>
                <a:cubicBezTo>
                  <a:pt x="312" y="25"/>
                  <a:pt x="348" y="74"/>
                  <a:pt x="348" y="74"/>
                </a:cubicBezTo>
                <a:cubicBezTo>
                  <a:pt x="359" y="107"/>
                  <a:pt x="350" y="93"/>
                  <a:pt x="374" y="11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25A1DBA4-E839-2B22-F996-C75F02C81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66" y="2182920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1785D5ED-AF64-259D-3701-407993F5E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30" y="7556742"/>
            <a:ext cx="1647261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1</a:t>
            </a:r>
          </a:p>
          <a:p>
            <a:r>
              <a:rPr lang="en-US" sz="4000" dirty="0">
                <a:latin typeface="Courier New" charset="0"/>
              </a:rPr>
              <a:t>C 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04FF649B-BB98-C983-46BD-6C587844E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4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70BCB687-E552-1E33-B8F7-3F677D6F1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223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1322998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27BCF-A627-AD4F-B2F5-DB63058CA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9716C5-9427-8716-D73C-14662E85181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384529-81D1-34B7-9742-24F9A1BB8A6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E89B313-AB55-6959-B0FD-3DBA633DD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594F3E2D-B027-F8CA-644C-16FA665E8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</a:t>
            </a:r>
            <a:r>
              <a:rPr lang="en-US" sz="3600" b="1" dirty="0">
                <a:solidFill>
                  <a:srgbClr val="C00000"/>
                </a:solidFill>
                <a:latin typeface="Courier New" charset="0"/>
              </a:rPr>
              <a:t>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8546914A-9734-1053-3255-8B0973FE8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774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4A64CCBC-D49D-5FE9-82FD-3CC359BCB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47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C .8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42CF29EA-BF4D-C8CA-94ED-496219C46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20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 .2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62247827-A1ED-8E89-0E16-29ECFFAE2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665" y="7542028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T .8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D1DC40C6-0FB4-5928-00DA-09EECD0F1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4338" y="7605017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 .8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947328A7-7224-3539-EB87-CCD0726FE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156" y="3178039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.2</a:t>
            </a:r>
          </a:p>
          <a:p>
            <a:r>
              <a:rPr lang="en-US" sz="4000" dirty="0">
                <a:latin typeface="Courier New" charset="0"/>
              </a:rPr>
              <a:t>C .4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E944113A-D7F9-5F73-A8FA-1558E2531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04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D955AE2D-E756-4AE6-63C2-2F6E66CD9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984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8C3AFC09-3FA1-3A6B-9904-2FFAE4E96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54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 dirty="0"/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05A8FABF-0661-E529-8E08-840A04AFD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109" y="7945819"/>
            <a:ext cx="11275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300F407D-AA82-8596-D0A3-431AC0016D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3482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7C541F7B-936E-B5E7-6942-045A33724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727" y="7954612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.4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92F3F3C8-FA5E-3D96-F5D1-11D761B29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74057" y="8838270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57BA0866-FE9A-97D2-DCBF-08370A0FE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000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809ABC46-A399-7AF0-FA9B-B9F2D95CF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948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0A51FE13-35EC-0779-6FC5-4A762FFA5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986" y="8006663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080BDB64-B9F1-50B2-DBCA-880282A487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698" y="5813108"/>
            <a:ext cx="832300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20D98340-44A3-4400-C47C-8D41D59A2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622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.6</a:t>
            </a: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A7110D2B-2A8B-A34D-70C2-DC774880A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07291" y="5910748"/>
            <a:ext cx="624225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0A8513BF-297A-A1C9-C12C-BB6DBE358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577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>
                <a:latin typeface="Courier New" charset="0"/>
              </a:rPr>
              <a:t>.6</a:t>
            </a:r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E3F55701-9EB2-7867-C0B7-F35706DAF49A}"/>
              </a:ext>
            </a:extLst>
          </p:cNvPr>
          <p:cNvSpPr>
            <a:spLocks/>
          </p:cNvSpPr>
          <p:nvPr/>
        </p:nvSpPr>
        <p:spPr bwMode="auto">
          <a:xfrm>
            <a:off x="7961518" y="2147769"/>
            <a:ext cx="1621251" cy="2167448"/>
          </a:xfrm>
          <a:custGeom>
            <a:avLst/>
            <a:gdLst>
              <a:gd name="T0" fmla="*/ 253 w 374"/>
              <a:gd name="T1" fmla="*/ 500 h 500"/>
              <a:gd name="T2" fmla="*/ 27 w 374"/>
              <a:gd name="T3" fmla="*/ 430 h 500"/>
              <a:gd name="T4" fmla="*/ 9 w 374"/>
              <a:gd name="T5" fmla="*/ 378 h 500"/>
              <a:gd name="T6" fmla="*/ 0 w 374"/>
              <a:gd name="T7" fmla="*/ 352 h 500"/>
              <a:gd name="T8" fmla="*/ 9 w 374"/>
              <a:gd name="T9" fmla="*/ 196 h 500"/>
              <a:gd name="T10" fmla="*/ 70 w 374"/>
              <a:gd name="T11" fmla="*/ 100 h 500"/>
              <a:gd name="T12" fmla="*/ 200 w 374"/>
              <a:gd name="T13" fmla="*/ 4 h 500"/>
              <a:gd name="T14" fmla="*/ 287 w 374"/>
              <a:gd name="T15" fmla="*/ 13 h 500"/>
              <a:gd name="T16" fmla="*/ 348 w 374"/>
              <a:gd name="T17" fmla="*/ 74 h 500"/>
              <a:gd name="T18" fmla="*/ 374 w 374"/>
              <a:gd name="T19" fmla="*/ 117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4" h="500">
                <a:moveTo>
                  <a:pt x="253" y="500"/>
                </a:moveTo>
                <a:cubicBezTo>
                  <a:pt x="181" y="480"/>
                  <a:pt x="89" y="473"/>
                  <a:pt x="27" y="430"/>
                </a:cubicBezTo>
                <a:cubicBezTo>
                  <a:pt x="21" y="412"/>
                  <a:pt x="15" y="395"/>
                  <a:pt x="9" y="378"/>
                </a:cubicBezTo>
                <a:cubicBezTo>
                  <a:pt x="6" y="369"/>
                  <a:pt x="0" y="352"/>
                  <a:pt x="0" y="352"/>
                </a:cubicBezTo>
                <a:cubicBezTo>
                  <a:pt x="3" y="300"/>
                  <a:pt x="3" y="247"/>
                  <a:pt x="9" y="196"/>
                </a:cubicBezTo>
                <a:cubicBezTo>
                  <a:pt x="12" y="163"/>
                  <a:pt x="61" y="110"/>
                  <a:pt x="70" y="100"/>
                </a:cubicBezTo>
                <a:cubicBezTo>
                  <a:pt x="114" y="46"/>
                  <a:pt x="131" y="18"/>
                  <a:pt x="200" y="4"/>
                </a:cubicBezTo>
                <a:cubicBezTo>
                  <a:pt x="229" y="7"/>
                  <a:pt x="260" y="0"/>
                  <a:pt x="287" y="13"/>
                </a:cubicBezTo>
                <a:cubicBezTo>
                  <a:pt x="312" y="25"/>
                  <a:pt x="348" y="74"/>
                  <a:pt x="348" y="74"/>
                </a:cubicBezTo>
                <a:cubicBezTo>
                  <a:pt x="359" y="107"/>
                  <a:pt x="350" y="93"/>
                  <a:pt x="374" y="11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D2602127-1CF6-3452-FF6A-D140D0DF0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66" y="2182920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239A56F3-E5B3-5787-5092-58A405573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30" y="7556742"/>
            <a:ext cx="1647261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1</a:t>
            </a:r>
          </a:p>
          <a:p>
            <a:r>
              <a:rPr lang="en-US" sz="4000" dirty="0">
                <a:latin typeface="Courier New" charset="0"/>
              </a:rPr>
              <a:t>C 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99B487E9-E3B8-06FF-FD9C-2EF4103CF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4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FD39FF04-1D27-F406-31C2-810474E1C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223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" name="Text Box 27">
            <a:extLst>
              <a:ext uri="{FF2B5EF4-FFF2-40B4-BE49-F238E27FC236}">
                <a16:creationId xmlns:a16="http://schemas.microsoft.com/office/drawing/2014/main" id="{7F978721-1419-95B4-0B52-F67381C28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306" y="3303197"/>
            <a:ext cx="48930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P(ACAATG)=0.0328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87587020-C036-AB6E-03D5-49166B4E6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1172" y="6767677"/>
            <a:ext cx="46939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dirty="0"/>
              <a:t>Multiple the probabilities!</a:t>
            </a:r>
          </a:p>
        </p:txBody>
      </p:sp>
    </p:spTree>
    <p:extLst>
      <p:ext uri="{BB962C8B-B14F-4D97-AF65-F5344CB8AC3E}">
        <p14:creationId xmlns:p14="http://schemas.microsoft.com/office/powerpoint/2010/main" val="111023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490C8-D388-F401-FB97-43158AC66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F0F912-BED6-66C9-913F-230B1F997CF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461379-3DD7-A737-C50A-4BEA84D577B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6C4EF0-6532-5967-5771-D89AD70B5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A simple DNA HMM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20362E1F-DF9C-5F44-3FF0-B21158DE4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74" y="2003167"/>
            <a:ext cx="4267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ATG</a:t>
            </a:r>
          </a:p>
          <a:p>
            <a:r>
              <a:rPr lang="en-US" sz="3600" dirty="0">
                <a:latin typeface="Courier New" charset="0"/>
              </a:rPr>
              <a:t>TCA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ACT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C--</a:t>
            </a:r>
            <a:r>
              <a:rPr lang="en-US" sz="3600" dirty="0">
                <a:latin typeface="Courier New" charset="0"/>
              </a:rPr>
              <a:t>AGC</a:t>
            </a:r>
          </a:p>
          <a:p>
            <a:r>
              <a:rPr lang="en-US" sz="3600" dirty="0">
                <a:latin typeface="Courier New" charset="0"/>
              </a:rPr>
              <a:t>AGA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---</a:t>
            </a:r>
            <a:r>
              <a:rPr lang="en-US" sz="3600" dirty="0">
                <a:latin typeface="Courier New" charset="0"/>
              </a:rPr>
              <a:t>ATC</a:t>
            </a:r>
          </a:p>
          <a:p>
            <a:r>
              <a:rPr lang="en-US" sz="3600" dirty="0">
                <a:latin typeface="Courier New" charset="0"/>
              </a:rPr>
              <a:t>ACC</a:t>
            </a:r>
            <a:r>
              <a:rPr lang="en-US" sz="3600" dirty="0">
                <a:solidFill>
                  <a:srgbClr val="FF00FF"/>
                </a:solidFill>
                <a:latin typeface="Courier New" charset="0"/>
              </a:rPr>
              <a:t>G--</a:t>
            </a:r>
            <a:r>
              <a:rPr lang="en-US" sz="3600" dirty="0">
                <a:latin typeface="Courier New" charset="0"/>
              </a:rPr>
              <a:t>ATC</a:t>
            </a:r>
            <a:endParaRPr lang="en-US" sz="4000" dirty="0">
              <a:latin typeface="Courier New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02C81CE0-E4AD-69FA-F558-72056240D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774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.8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40B35813-E407-D3B8-F097-64F2BDE0B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447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C .8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BFDC7C5F-6D0F-14EE-9AB2-3BAD82823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120" y="7572756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.8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C .2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CFC60046-7BAC-D5BD-A4B3-9125B723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665" y="7542028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</a:t>
            </a:r>
          </a:p>
          <a:p>
            <a:r>
              <a:rPr lang="en-US" sz="4000" dirty="0">
                <a:latin typeface="Courier New" charset="0"/>
              </a:rPr>
              <a:t>G .2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T .8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F4924D45-A3EA-CD3C-8AA0-93A348C54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4338" y="7605017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</a:t>
            </a:r>
          </a:p>
          <a:p>
            <a:r>
              <a:rPr lang="en-US" sz="4000" dirty="0">
                <a:latin typeface="Courier New" charset="0"/>
              </a:rPr>
              <a:t>C .8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16E04D02-31EB-F8BF-149B-588F0F081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156" y="3178039"/>
            <a:ext cx="2020062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A .2</a:t>
            </a:r>
          </a:p>
          <a:p>
            <a:r>
              <a:rPr lang="en-US" sz="4000" dirty="0">
                <a:latin typeface="Courier New" charset="0"/>
              </a:rPr>
              <a:t>C .4</a:t>
            </a:r>
          </a:p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G .2</a:t>
            </a:r>
          </a:p>
          <a:p>
            <a:r>
              <a:rPr lang="en-US" sz="4000" dirty="0">
                <a:latin typeface="Courier New" charset="0"/>
              </a:rPr>
              <a:t>T .2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E43A04FE-4A8F-4D3E-A738-4D1490515F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904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737D0F24-F503-FA2A-050D-277FEAA1A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984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1E5B8AF6-E5EB-0439-2909-24B324EE9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054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 dirty="0"/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70EA461D-392A-51C9-1D9B-4378B7CB0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109" y="7945819"/>
            <a:ext cx="112751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3D967970-D12D-0F17-54F5-11F866733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3482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6AE274B4-D001-B40E-610A-4223C4F06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3727" y="7954612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83E2A83A-A537-75C6-505C-E0F4381CB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74057" y="8838270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BE489EED-D880-8013-09C3-2E76851AA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000" y="7995672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27520DC7-9CC8-BE02-4A14-FB1BB1564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9481" y="8893134"/>
            <a:ext cx="1040375" cy="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C271CA3B-121A-5FA6-A393-F9E6D951E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986" y="8006663"/>
            <a:ext cx="16212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1.0</a:t>
            </a: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D183EB88-5C08-73F8-1B37-535A4D40D6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9698" y="5813108"/>
            <a:ext cx="832300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199E0861-5FCA-82EE-56C1-CF0F068A7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622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Courier New" charset="0"/>
              </a:rPr>
              <a:t>.</a:t>
            </a:r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6</a:t>
            </a: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55ACF51E-3137-7421-91CF-62A18F5F0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07291" y="5910748"/>
            <a:ext cx="624225" cy="1456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83068928-256D-3D16-3E5A-9F45E6B6A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577" y="6007299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.6</a:t>
            </a:r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246B97C8-520B-6E6A-5FF0-090D1FBAC540}"/>
              </a:ext>
            </a:extLst>
          </p:cNvPr>
          <p:cNvSpPr>
            <a:spLocks/>
          </p:cNvSpPr>
          <p:nvPr/>
        </p:nvSpPr>
        <p:spPr bwMode="auto">
          <a:xfrm>
            <a:off x="7961518" y="2147769"/>
            <a:ext cx="1621251" cy="2167448"/>
          </a:xfrm>
          <a:custGeom>
            <a:avLst/>
            <a:gdLst>
              <a:gd name="T0" fmla="*/ 253 w 374"/>
              <a:gd name="T1" fmla="*/ 500 h 500"/>
              <a:gd name="T2" fmla="*/ 27 w 374"/>
              <a:gd name="T3" fmla="*/ 430 h 500"/>
              <a:gd name="T4" fmla="*/ 9 w 374"/>
              <a:gd name="T5" fmla="*/ 378 h 500"/>
              <a:gd name="T6" fmla="*/ 0 w 374"/>
              <a:gd name="T7" fmla="*/ 352 h 500"/>
              <a:gd name="T8" fmla="*/ 9 w 374"/>
              <a:gd name="T9" fmla="*/ 196 h 500"/>
              <a:gd name="T10" fmla="*/ 70 w 374"/>
              <a:gd name="T11" fmla="*/ 100 h 500"/>
              <a:gd name="T12" fmla="*/ 200 w 374"/>
              <a:gd name="T13" fmla="*/ 4 h 500"/>
              <a:gd name="T14" fmla="*/ 287 w 374"/>
              <a:gd name="T15" fmla="*/ 13 h 500"/>
              <a:gd name="T16" fmla="*/ 348 w 374"/>
              <a:gd name="T17" fmla="*/ 74 h 500"/>
              <a:gd name="T18" fmla="*/ 374 w 374"/>
              <a:gd name="T19" fmla="*/ 117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4" h="500">
                <a:moveTo>
                  <a:pt x="253" y="500"/>
                </a:moveTo>
                <a:cubicBezTo>
                  <a:pt x="181" y="480"/>
                  <a:pt x="89" y="473"/>
                  <a:pt x="27" y="430"/>
                </a:cubicBezTo>
                <a:cubicBezTo>
                  <a:pt x="21" y="412"/>
                  <a:pt x="15" y="395"/>
                  <a:pt x="9" y="378"/>
                </a:cubicBezTo>
                <a:cubicBezTo>
                  <a:pt x="6" y="369"/>
                  <a:pt x="0" y="352"/>
                  <a:pt x="0" y="352"/>
                </a:cubicBezTo>
                <a:cubicBezTo>
                  <a:pt x="3" y="300"/>
                  <a:pt x="3" y="247"/>
                  <a:pt x="9" y="196"/>
                </a:cubicBezTo>
                <a:cubicBezTo>
                  <a:pt x="12" y="163"/>
                  <a:pt x="61" y="110"/>
                  <a:pt x="70" y="100"/>
                </a:cubicBezTo>
                <a:cubicBezTo>
                  <a:pt x="114" y="46"/>
                  <a:pt x="131" y="18"/>
                  <a:pt x="200" y="4"/>
                </a:cubicBezTo>
                <a:cubicBezTo>
                  <a:pt x="229" y="7"/>
                  <a:pt x="260" y="0"/>
                  <a:pt x="287" y="13"/>
                </a:cubicBezTo>
                <a:cubicBezTo>
                  <a:pt x="312" y="25"/>
                  <a:pt x="348" y="74"/>
                  <a:pt x="348" y="74"/>
                </a:cubicBezTo>
                <a:cubicBezTo>
                  <a:pt x="359" y="107"/>
                  <a:pt x="350" y="93"/>
                  <a:pt x="374" y="11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7C92DCE2-FDFD-7C0E-243F-E2D9C59FD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66" y="2182920"/>
            <a:ext cx="1248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dirty="0">
                <a:latin typeface="Courier New" charset="0"/>
              </a:rPr>
              <a:t>.4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625BAC02-1C1E-4FCB-B329-A6A2C7627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30" y="7556742"/>
            <a:ext cx="1647261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ourier New" charset="0"/>
              </a:rPr>
              <a:t>A 1</a:t>
            </a:r>
          </a:p>
          <a:p>
            <a:r>
              <a:rPr lang="en-US" sz="4000" dirty="0">
                <a:latin typeface="Courier New" charset="0"/>
              </a:rPr>
              <a:t>C </a:t>
            </a:r>
          </a:p>
          <a:p>
            <a:r>
              <a:rPr lang="en-US" sz="4000" dirty="0">
                <a:latin typeface="Courier New" charset="0"/>
              </a:rPr>
              <a:t>G</a:t>
            </a:r>
          </a:p>
          <a:p>
            <a:r>
              <a:rPr lang="en-US" sz="4000" dirty="0">
                <a:latin typeface="Courier New" charset="0"/>
              </a:rPr>
              <a:t>T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42EAFEFF-6B42-37B1-7C90-FDAB6899B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4" y="5887584"/>
            <a:ext cx="2544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charset="0"/>
              </a:rPr>
              <a:t>state</a:t>
            </a:r>
          </a:p>
        </p:txBody>
      </p:sp>
      <p:sp>
        <p:nvSpPr>
          <p:cNvPr id="3" name="Text Box 27">
            <a:extLst>
              <a:ext uri="{FF2B5EF4-FFF2-40B4-BE49-F238E27FC236}">
                <a16:creationId xmlns:a16="http://schemas.microsoft.com/office/drawing/2014/main" id="{840BC559-036F-49E8-F367-232A7F526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306" y="3303197"/>
            <a:ext cx="48930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000" dirty="0"/>
              <a:t>P(ACAATG)=0.0328</a:t>
            </a: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EDAF666B-60CE-521D-1E28-4A12AF8A4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31593" y="4073145"/>
            <a:ext cx="497802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P(ACCGATC)=0.006</a:t>
            </a:r>
          </a:p>
        </p:txBody>
      </p:sp>
      <p:sp>
        <p:nvSpPr>
          <p:cNvPr id="34" name="Line 18">
            <a:extLst>
              <a:ext uri="{FF2B5EF4-FFF2-40B4-BE49-F238E27FC236}">
                <a16:creationId xmlns:a16="http://schemas.microsoft.com/office/drawing/2014/main" id="{4025889C-4EF1-B0A7-E177-DF106A093F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8836" y="4456461"/>
            <a:ext cx="675068" cy="24102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35" name="Text Box 27">
            <a:extLst>
              <a:ext uri="{FF2B5EF4-FFF2-40B4-BE49-F238E27FC236}">
                <a16:creationId xmlns:a16="http://schemas.microsoft.com/office/drawing/2014/main" id="{AC1B0612-A738-2B86-9D67-C2D9C3F25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1172" y="6767677"/>
            <a:ext cx="46939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dirty="0"/>
              <a:t>Multiple the probabilities!</a:t>
            </a:r>
          </a:p>
        </p:txBody>
      </p:sp>
    </p:spTree>
    <p:extLst>
      <p:ext uri="{BB962C8B-B14F-4D97-AF65-F5344CB8AC3E}">
        <p14:creationId xmlns:p14="http://schemas.microsoft.com/office/powerpoint/2010/main" val="3540298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C771-2405-5C14-F951-C90730A4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51C01-EDD3-ACBA-E3E5-57734C301F4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9CFFD8-0BE6-372C-CB5F-12F348CE8A3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C23ADB0-1278-8834-0B6B-2ED4044DE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idden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arkov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odels (HMMs)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14DAE9-84EE-11B3-CD5E-07F042837280}"/>
              </a:ext>
            </a:extLst>
          </p:cNvPr>
          <p:cNvSpPr txBox="1"/>
          <p:nvPr/>
        </p:nvSpPr>
        <p:spPr>
          <a:xfrm>
            <a:off x="1246092" y="2504024"/>
            <a:ext cx="17826228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Markov model 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describes a system that moves between a finite set of 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where the probability of the next state depends only on the current one. </a:t>
            </a: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a 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Markov model, we don't directly observe the states. We only observe a sequence of symbols (here, nucleotides or amino acids) that each state </a:t>
            </a:r>
            <a:r>
              <a:rPr lang="en-CA" sz="3200" b="0" i="1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emits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according to its own emission probability distribution. </a:t>
            </a: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task is to infer the hidden path of states that most plausibly explains the observed sequence.</a:t>
            </a:r>
          </a:p>
        </p:txBody>
      </p:sp>
      <p:pic>
        <p:nvPicPr>
          <p:cNvPr id="4" name="Picture 3" descr="A black stick on a white background&#10;&#10;AI-generated content may be incorrect.">
            <a:extLst>
              <a:ext uri="{FF2B5EF4-FFF2-40B4-BE49-F238E27FC236}">
                <a16:creationId xmlns:a16="http://schemas.microsoft.com/office/drawing/2014/main" id="{ADBC4CAE-0021-C72A-D21F-53ECC53E2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092" y="6843176"/>
            <a:ext cx="5566252" cy="1587592"/>
          </a:xfrm>
          <a:prstGeom prst="rect">
            <a:avLst/>
          </a:prstGeom>
        </p:spPr>
      </p:pic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956E2AEE-0719-D38B-D5C1-BBC14D3A2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366" y="6101334"/>
            <a:ext cx="9138698" cy="395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74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F465-FBAF-C335-7997-47D875714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53DAFB-6B18-99F3-910A-5DB597FC72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4C0FC6-99CE-B89B-9F75-C5EEE8CCBB9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B5F8B3-0A3D-2F49-978F-7A3C75842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idden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arkov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odels (HMMs)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F95B0-30C8-842D-23AC-742B54A677F9}"/>
              </a:ext>
            </a:extLst>
          </p:cNvPr>
          <p:cNvSpPr txBox="1"/>
          <p:nvPr/>
        </p:nvSpPr>
        <p:spPr>
          <a:xfrm>
            <a:off x="1246092" y="2504024"/>
            <a:ext cx="17826228" cy="696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Markov model 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describes a system that moves between a finite set of 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where the probability of the next state depends only on the current one. </a:t>
            </a: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a 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Markov model, we don't directly observe the states. We only observe a sequence of symbols (here, nucleotides or amino acids) that each state </a:t>
            </a:r>
            <a:r>
              <a:rPr lang="en-CA" sz="3200" b="0" i="1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emits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according to its own emission probability distribution. </a:t>
            </a: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task is to infer the hidden path of states that most plausibly explains the observed sequence.</a:t>
            </a:r>
          </a:p>
          <a:p>
            <a:pPr algn="l">
              <a:spcAft>
                <a:spcPts val="1200"/>
              </a:spcAft>
              <a:buNone/>
            </a:pPr>
            <a:endParaRPr lang="en-CA" sz="3200" b="0" i="0" dirty="0">
              <a:solidFill>
                <a:srgbClr val="2024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HMM is fully specified by:</a:t>
            </a: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set of hidden states.</a:t>
            </a:r>
            <a:endParaRPr lang="en-CA" sz="3200" b="1" i="0" dirty="0">
              <a:solidFill>
                <a:srgbClr val="2024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 probabilities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between states.</a:t>
            </a: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Emission probabilities 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each state, the probability of emitting each possible symbol.</a:t>
            </a: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Initial (start) state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319856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3BD27-8559-9DD6-21B7-D58DB0CA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8CBB98-96D1-12DD-4019-6F1E9D1CB44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334B28-5293-9017-85A2-166CCCCBA2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6AF6FBC-D002-E255-DFAF-394DB930F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idden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arkov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odels (HMMs)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E61E5-4D94-9275-5693-9089202DACC2}"/>
              </a:ext>
            </a:extLst>
          </p:cNvPr>
          <p:cNvSpPr txBox="1"/>
          <p:nvPr/>
        </p:nvSpPr>
        <p:spPr>
          <a:xfrm>
            <a:off x="1246092" y="2504024"/>
            <a:ext cx="17826228" cy="696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Markov model 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describes a system that moves between a finite set of 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where the probability of the next state depends only on the current one. </a:t>
            </a: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a </a:t>
            </a: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Markov model, we don't directly observe the states. We only observe a sequence of symbols (here, nucleotides or amino acids) that each state </a:t>
            </a:r>
            <a:r>
              <a:rPr lang="en-CA" sz="3200" b="0" i="1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emits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according to its own emission probability distribution. </a:t>
            </a: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task is to infer the hidden path of states that most plausibly explains the observed sequence.</a:t>
            </a:r>
          </a:p>
          <a:p>
            <a:pPr algn="l">
              <a:spcAft>
                <a:spcPts val="1200"/>
              </a:spcAft>
              <a:buNone/>
            </a:pPr>
            <a:endParaRPr lang="en-CA" sz="3200" b="0" i="0" dirty="0">
              <a:solidFill>
                <a:srgbClr val="2024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1200"/>
              </a:spcAft>
              <a:buNone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HMM is fully specified by:</a:t>
            </a: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set of hidden states.</a:t>
            </a:r>
            <a:endParaRPr lang="en-CA" sz="3200" b="1" i="0" dirty="0">
              <a:solidFill>
                <a:srgbClr val="2024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 probabilities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between states.</a:t>
            </a: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1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Emission probabilities </a:t>
            </a: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each state</a:t>
            </a:r>
          </a:p>
          <a:p>
            <a:pPr marL="514350" indent="-514350" algn="l">
              <a:spcAft>
                <a:spcPts val="450"/>
              </a:spcAft>
              <a:buFont typeface="+mj-lt"/>
              <a:buAutoNum type="arabicPeriod"/>
            </a:pPr>
            <a:r>
              <a:rPr lang="en-CA" sz="3200" b="0" i="0" dirty="0">
                <a:solidFill>
                  <a:srgbClr val="2024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Initial (start) state probabilities.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6815141F-EAD3-B885-61D7-7CBE464AB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206" y="5762756"/>
            <a:ext cx="9348204" cy="403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76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EDB5-65B1-D724-E02C-F200F267C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5E536-D7C6-6FD6-74F0-A4F26E9FBA8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40B5C2-CC02-6FAE-C01C-26C898D817C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3C113E-CDC2-C4F7-6776-7444989B5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 err="1">
                <a:latin typeface="Raleway" pitchFamily="2" charset="77"/>
              </a:rPr>
              <a:t>Pfam</a:t>
            </a:r>
            <a:r>
              <a:rPr lang="en-US" sz="6000" dirty="0">
                <a:latin typeface="Raleway" pitchFamily="2" charset="77"/>
              </a:rPr>
              <a:t> Iron Hydrogenase HMM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F73A92-21D6-3F7A-98EA-E0D55632E0FA}"/>
              </a:ext>
            </a:extLst>
          </p:cNvPr>
          <p:cNvSpPr txBox="1"/>
          <p:nvPr/>
        </p:nvSpPr>
        <p:spPr>
          <a:xfrm>
            <a:off x="711008" y="2049506"/>
            <a:ext cx="21962192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D9QTQ6_ACEAZ/525-580       MDV--KAKRAEALYQTD---KA-NTI--RKSHENPQIIKLYE---D----YL-GE-P-L-----SSDSHHLLHTSYQER</a:t>
            </a:r>
          </a:p>
          <a:p>
            <a:r>
              <a:rPr lang="en-US" dirty="0">
                <a:latin typeface="Courier New"/>
                <a:cs typeface="Courier New"/>
              </a:rPr>
              <a:t>E3DPJ1_HALPG/515-570       NEK--KEKRGSGLSNID---DS-SKI--RKSHENPQIIKLYE---E----FL-GE-P-L-----GGESHHLLHTKYKAR</a:t>
            </a:r>
          </a:p>
          <a:p>
            <a:r>
              <a:rPr lang="en-US" dirty="0">
                <a:latin typeface="Courier New"/>
                <a:cs typeface="Courier New"/>
              </a:rPr>
              <a:t>E4RJ60_HALHG/516-571       YEK--KVKRGVGLSGID---DK-SAV--RKSHKNPQVIKLYK---E----FL-GK-P-L-----SGESHHLLHTTYKSR</a:t>
            </a:r>
          </a:p>
          <a:p>
            <a:r>
              <a:rPr lang="en-US" dirty="0">
                <a:latin typeface="Courier New"/>
                <a:cs typeface="Courier New"/>
              </a:rPr>
              <a:t>Q0AVN1_SYNWW/44-102        DDY--IAKRAAGLYTLD---ES-MAI--RKSHENPEVIQIYQ---D----FL--S-P-GKLECVSPKAHHLLHTKYGQ-</a:t>
            </a:r>
          </a:p>
          <a:p>
            <a:r>
              <a:rPr lang="en-US" dirty="0">
                <a:latin typeface="Courier New"/>
                <a:cs typeface="Courier New"/>
              </a:rPr>
              <a:t>D7CNL1_SYNLT/44-102        DDY--IAKRAQGLYTLD---EK-MTI--RKSHENPEIIQLYK---D----FL--S-P-GEVKPMSEKAHHLLHTRYGQ-</a:t>
            </a:r>
          </a:p>
          <a:p>
            <a:r>
              <a:rPr lang="en-US" dirty="0">
                <a:latin typeface="Courier New"/>
                <a:cs typeface="Courier New"/>
              </a:rPr>
              <a:t>L0KCP1_HALHC/517-572       KEI--KAKRGQGLYNID---QS-DKI--RKSHENPEIKKLYE---D----FL-GA-P-L-----SEKAHHLLHTNYQKR</a:t>
            </a:r>
          </a:p>
          <a:p>
            <a:r>
              <a:rPr lang="en-US" dirty="0">
                <a:latin typeface="Courier New"/>
                <a:cs typeface="Courier New"/>
              </a:rPr>
              <a:t>R5AAQ0_9FIRM/470-524       EEL--YGVRGERLYTLD---AE-NPM--RFAHENPEVQALYH---E----YL-GE-P-L-----GETAHHLLHTDHKA-</a:t>
            </a:r>
          </a:p>
          <a:p>
            <a:r>
              <a:rPr lang="en-US" dirty="0">
                <a:latin typeface="Courier New"/>
                <a:cs typeface="Courier New"/>
              </a:rPr>
              <a:t>F7V3Y0_CLOSS/515-570       KEM--AASRAPILYAFD---QI-TDL--RFSHENPSITKVYS---E----YL-GE-P-L-----SEKSHHLLHTDHHAW</a:t>
            </a:r>
          </a:p>
          <a:p>
            <a:r>
              <a:rPr lang="en-US" dirty="0">
                <a:latin typeface="Courier New"/>
                <a:cs typeface="Courier New"/>
              </a:rPr>
              <a:t>R7B2L8_9BACE/516-570       QEL--AKDRAPILYSLD---RS-KNI--RFSHENPDVLKMYE---E----FF-EK-P-N-----SPVAHKLLHTDHHA-</a:t>
            </a:r>
          </a:p>
          <a:p>
            <a:r>
              <a:rPr lang="en-US" dirty="0">
                <a:latin typeface="Courier New"/>
                <a:cs typeface="Courier New"/>
              </a:rPr>
              <a:t>R5TQ56_9FIRM/517-570       -EL--ADVRGRNLYKLD---KK-NPL--RFSHENPSVIKAYE---D----FF-EK-P-L-----SHKSHELLHTDHEA-</a:t>
            </a:r>
          </a:p>
          <a:p>
            <a:r>
              <a:rPr lang="en-US" dirty="0">
                <a:latin typeface="Courier New"/>
                <a:cs typeface="Courier New"/>
              </a:rPr>
              <a:t>R6G054_9FIRM/519-572       KEM--AEIRSKNLYFLD---SQ-NER--RFSHENPEVLKTYE---E----YL-EK-P-L-----SRMSHKLLHTDHH--</a:t>
            </a:r>
          </a:p>
          <a:p>
            <a:r>
              <a:rPr lang="en-US" dirty="0">
                <a:latin typeface="Courier New"/>
                <a:cs typeface="Courier New"/>
              </a:rPr>
              <a:t>F4GHP6_SPHCD/517-571       -EL--ASTRADVLYGLD---KV-DNL--RFSHENPSVLKAYE---S----FF-GK-P-L-----GHKCHELLHTDHHAW</a:t>
            </a:r>
          </a:p>
          <a:p>
            <a:r>
              <a:rPr lang="en-US" dirty="0">
                <a:latin typeface="Courier New"/>
                <a:cs typeface="Courier New"/>
              </a:rPr>
              <a:t>R6K3U5_9FIRM/237-290       -DK--VAERCKVLYGLD---KV-NNV--RFSHENPEVLQCYR---D----YF-KE-P-L-----SEKSHELLHTSHTV-</a:t>
            </a:r>
          </a:p>
          <a:p>
            <a:r>
              <a:rPr lang="en-US" dirty="0">
                <a:latin typeface="Courier New"/>
                <a:cs typeface="Courier New"/>
              </a:rPr>
              <a:t>R7BDK2_9FIRM/518-573       VEM--AADRAKELYKLD---KN-KQI--RFSHCNPEIHTIYK---E----YF-GK-P-L-----SPVSHHLLHTDHKYR</a:t>
            </a:r>
          </a:p>
          <a:p>
            <a:r>
              <a:rPr lang="en-US" dirty="0">
                <a:latin typeface="Courier New"/>
                <a:cs typeface="Courier New"/>
              </a:rPr>
              <a:t>R6A2A7_9ACTN/541-595       -EL--AAERGQVLWGLD---AK-ADI--RFSHENPGVQACYR---E----FL-GA-P-L-----SPLAEELLHTDHHAW</a:t>
            </a:r>
          </a:p>
          <a:p>
            <a:r>
              <a:rPr lang="en-US" dirty="0">
                <a:latin typeface="Courier New"/>
                <a:cs typeface="Courier New"/>
              </a:rPr>
              <a:t>R7D1R5_9ACTN/521-575       VEL--ADERAAVLRALD---HD-AQI--RFSHENPDVAACYR---D----FL-GE-P-L-----SELSEKLLHTDHTA-</a:t>
            </a:r>
          </a:p>
          <a:p>
            <a:r>
              <a:rPr lang="en-US" dirty="0">
                <a:latin typeface="Courier New"/>
                <a:cs typeface="Courier New"/>
              </a:rPr>
              <a:t>G4KSU3_OSCVS/517-571       VEM--AAERGELLWELD---AK-SKI--RFSHENPDIKTLYS---E----YL-KE-P-L-----GKKSHHLLHTDHAA-</a:t>
            </a:r>
          </a:p>
          <a:p>
            <a:r>
              <a:rPr lang="en-US" dirty="0">
                <a:latin typeface="Courier New"/>
                <a:cs typeface="Courier New"/>
              </a:rPr>
              <a:t>R6GQ90_9FIRM/517-572       VEL--AEKRGSVLWSID---KA-SPC--RFSHENPDVRELYR---D----YL-KK-P-L-----SDVSHHLLHTDHQAW</a:t>
            </a:r>
          </a:p>
          <a:p>
            <a:r>
              <a:rPr lang="en-US" dirty="0">
                <a:latin typeface="Courier New"/>
                <a:cs typeface="Courier New"/>
              </a:rPr>
              <a:t>R5D0I3_9FIRM/517-570       TEM--AEARGNVLWSID---KK-SPV--RFSHENPEVQTLYR---E----YL-RA-P-L-----SGRSHHLLHTDHE--</a:t>
            </a:r>
          </a:p>
          <a:p>
            <a:r>
              <a:rPr lang="en-US" dirty="0">
                <a:latin typeface="Courier New"/>
                <a:cs typeface="Courier New"/>
              </a:rPr>
              <a:t>R6Q6Y7_9FIRM/517-570       --Q--AERRGNHLYFLD---DI-ANL--RFSHENPAIQALYK---N----FL-GE-P-L-----GEKAHHLLHTDHTAW</a:t>
            </a:r>
          </a:p>
          <a:p>
            <a:r>
              <a:rPr lang="en-US" dirty="0">
                <a:latin typeface="Courier New"/>
                <a:cs typeface="Courier New"/>
              </a:rPr>
              <a:t>R6RTM0_9FIRM/518-571       QEL--AEERGSSLYFLD---RD-TEI--RFSHDNPDIQNLYE---E----FF-EK-P-L-----SHRAHQLLHTEHQ--</a:t>
            </a:r>
          </a:p>
          <a:p>
            <a:r>
              <a:rPr lang="en-US" dirty="0">
                <a:latin typeface="Courier New"/>
                <a:cs typeface="Courier New"/>
              </a:rPr>
              <a:t>Q73MB6_TREDE/520-573       GEL--AVKRGSNLYFID---KN-SKV--RYSHENECIKALYN---D----FF-EK-P-N-----SHKAHSLLHTDHF--</a:t>
            </a:r>
          </a:p>
          <a:p>
            <a:r>
              <a:rPr lang="en-US" dirty="0">
                <a:latin typeface="Courier New"/>
                <a:cs typeface="Courier New"/>
              </a:rPr>
              <a:t>R5J469_9CLOT/520-573       -EM--AFERGKNLYFLD---EN-ADI--RRSHENPDVKALYD---N----YF-EQ-P-L-----SHKSHMLLHTDHNK-</a:t>
            </a:r>
          </a:p>
          <a:p>
            <a:r>
              <a:rPr lang="en-US" dirty="0">
                <a:latin typeface="Courier New"/>
                <a:cs typeface="Courier New"/>
              </a:rPr>
              <a:t>D4M4H0_9FIRM/519-573       EEL--AHTRGANLYFLD---KN-AKI--RFSHENQDVMKLYN---D----FL-EK-P-L-----SHKSHMLLHTDHTK-</a:t>
            </a:r>
          </a:p>
          <a:p>
            <a:r>
              <a:rPr lang="en-US" dirty="0">
                <a:latin typeface="Courier New"/>
                <a:cs typeface="Courier New"/>
              </a:rPr>
              <a:t>R6LI15_9FIRM/519-573       EEL--ARTRGENLYFLD---KN-APL--RFSHENPDVLRLYR---D----FF-EK-P-L-----SHKSHMLLHTDHNA-</a:t>
            </a:r>
          </a:p>
          <a:p>
            <a:r>
              <a:rPr lang="en-US" dirty="0">
                <a:latin typeface="Courier New"/>
                <a:cs typeface="Courier New"/>
              </a:rPr>
              <a:t>F0T2S8_SYNGF/456-511       DTI--RTQRSNSLYTLD---KN-AKV--RNSHENTEITQIYK---D----YL-HA-P-M-----SHLAEEILHTEYESR</a:t>
            </a:r>
          </a:p>
          <a:p>
            <a:r>
              <a:rPr lang="en-US" dirty="0">
                <a:latin typeface="Courier New"/>
                <a:cs typeface="Courier New"/>
              </a:rPr>
              <a:t>A5D4I9_PELTS/463-518       DTV--REQRLAALYKAD---ASLSK---RKSYENEEVAALYR---D----FL-GH-P-M-----SELAEELLHTEYHSR</a:t>
            </a:r>
          </a:p>
          <a:p>
            <a:r>
              <a:rPr lang="en-US" dirty="0">
                <a:latin typeface="Courier New"/>
                <a:cs typeface="Courier New"/>
              </a:rPr>
              <a:t>R4KFN4_9FIRM/459-514       DEV--RMQRINSLYQAD---AR-AQR--RESHENAEVLALYQ---N----FL-KH-P-M-----SELAEELLHTKYTDR</a:t>
            </a:r>
          </a:p>
          <a:p>
            <a:r>
              <a:rPr lang="en-US" dirty="0">
                <a:latin typeface="Courier New"/>
                <a:cs typeface="Courier New"/>
              </a:rPr>
              <a:t>F6DPY8_DESRL/455-511       DQV--RQARLNSLYTMD---AKMYKK--RLSHENSEVLQLYK---N----YL-EQ-P-M-----SHLAEELLHTEYTDR</a:t>
            </a:r>
          </a:p>
          <a:p>
            <a:endParaRPr lang="en-US" dirty="0">
              <a:latin typeface="Courier New"/>
              <a:cs typeface="Courier New"/>
            </a:endParaRPr>
          </a:p>
        </p:txBody>
      </p:sp>
      <p:pic>
        <p:nvPicPr>
          <p:cNvPr id="33" name="Picture 32" descr="4R0V.png">
            <a:extLst>
              <a:ext uri="{FF2B5EF4-FFF2-40B4-BE49-F238E27FC236}">
                <a16:creationId xmlns:a16="http://schemas.microsoft.com/office/drawing/2014/main" id="{F412E172-8099-D871-033A-EC0F93E60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394" y="3876501"/>
            <a:ext cx="4128544" cy="412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164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21ABE-D793-98F0-E235-EC34727D0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EA100-403B-6032-C30B-1FC83AD8B8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FF0969-578B-7C91-8854-0943997D313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57B1D1A-D247-BCDE-1F46-51EA9ADF2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 err="1">
                <a:latin typeface="Raleway" pitchFamily="2" charset="77"/>
              </a:rPr>
              <a:t>Pfam</a:t>
            </a:r>
            <a:r>
              <a:rPr lang="en-US" sz="6000" dirty="0">
                <a:latin typeface="Raleway" pitchFamily="2" charset="77"/>
              </a:rPr>
              <a:t> Iron Hydrogenase HMM</a:t>
            </a:r>
          </a:p>
        </p:txBody>
      </p:sp>
      <p:pic>
        <p:nvPicPr>
          <p:cNvPr id="33" name="Picture 32" descr="4R0V.png">
            <a:extLst>
              <a:ext uri="{FF2B5EF4-FFF2-40B4-BE49-F238E27FC236}">
                <a16:creationId xmlns:a16="http://schemas.microsoft.com/office/drawing/2014/main" id="{EBFDF182-B4B1-74A2-BB47-9565E39B2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394" y="3876501"/>
            <a:ext cx="4128544" cy="4128544"/>
          </a:xfrm>
          <a:prstGeom prst="rect">
            <a:avLst/>
          </a:prstGeom>
        </p:spPr>
      </p:pic>
      <p:pic>
        <p:nvPicPr>
          <p:cNvPr id="2" name="Picture 1" descr="logo_image.png">
            <a:extLst>
              <a:ext uri="{FF2B5EF4-FFF2-40B4-BE49-F238E27FC236}">
                <a16:creationId xmlns:a16="http://schemas.microsoft.com/office/drawing/2014/main" id="{D95FBBB7-20F4-5FEF-8F3F-3D2A14950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75" y="2355744"/>
            <a:ext cx="15990871" cy="2618592"/>
          </a:xfrm>
          <a:prstGeom prst="rect">
            <a:avLst/>
          </a:prstGeom>
        </p:spPr>
      </p:pic>
      <p:pic>
        <p:nvPicPr>
          <p:cNvPr id="3" name="Picture 2" descr="hmmessay_2.gif">
            <a:extLst>
              <a:ext uri="{FF2B5EF4-FFF2-40B4-BE49-F238E27FC236}">
                <a16:creationId xmlns:a16="http://schemas.microsoft.com/office/drawing/2014/main" id="{B36114A0-B596-6584-BB9A-4047988263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1"/>
          <a:stretch>
            <a:fillRect/>
          </a:stretch>
        </p:blipFill>
        <p:spPr>
          <a:xfrm>
            <a:off x="6435107" y="5715000"/>
            <a:ext cx="7448198" cy="4538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A2C740-4162-6F2D-ABFA-053DC12A318F}"/>
              </a:ext>
            </a:extLst>
          </p:cNvPr>
          <p:cNvSpPr txBox="1"/>
          <p:nvPr/>
        </p:nvSpPr>
        <p:spPr>
          <a:xfrm>
            <a:off x="621555" y="7984331"/>
            <a:ext cx="67604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s-IS" sz="3200" dirty="0"/>
              <a:t>HMMER / Pfam has a generalized HMM that can be trained by any protein domain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1CB7D-78B9-7780-3381-6A4FD97FCCD3}"/>
              </a:ext>
            </a:extLst>
          </p:cNvPr>
          <p:cNvSpPr txBox="1"/>
          <p:nvPr/>
        </p:nvSpPr>
        <p:spPr>
          <a:xfrm>
            <a:off x="621555" y="5165489"/>
            <a:ext cx="8120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s-IS" sz="3200" dirty="0"/>
              <a:t>Sequence variation with some conservation</a:t>
            </a:r>
          </a:p>
        </p:txBody>
      </p:sp>
    </p:spTree>
    <p:extLst>
      <p:ext uri="{BB962C8B-B14F-4D97-AF65-F5344CB8AC3E}">
        <p14:creationId xmlns:p14="http://schemas.microsoft.com/office/powerpoint/2010/main" val="426849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7217-A2FE-3030-8786-25DF544E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D24C8F-2AEE-2FDD-9D7F-A7FAE9051185}"/>
              </a:ext>
            </a:extLst>
          </p:cNvPr>
          <p:cNvSpPr txBox="1"/>
          <p:nvPr/>
        </p:nvSpPr>
        <p:spPr>
          <a:xfrm>
            <a:off x="-36512" y="2006201"/>
            <a:ext cx="28169891" cy="8402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HMM          A        C        D        E        F        G        H        I        K        L        M        N        P        Q        R        S        T        V        W        Y   </a:t>
            </a:r>
          </a:p>
          <a:p>
            <a:r>
              <a:rPr lang="en-US" dirty="0">
                <a:latin typeface="Courier New"/>
                <a:cs typeface="Courier New"/>
              </a:rPr>
              <a:t>            m-&gt;m     m-&gt;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    m-&gt;d    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-&gt;m    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-&gt;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    d-&gt;m     d-&gt;d</a:t>
            </a:r>
          </a:p>
          <a:p>
            <a:r>
              <a:rPr lang="en-US" dirty="0">
                <a:latin typeface="Courier New"/>
                <a:cs typeface="Courier New"/>
              </a:rPr>
              <a:t>  COMPO   2.66299  4.87199  2.91679  2.55591  3.66715  3.29500  2.87691  3.09550  2.45416  2.39490  3.84919  3.01061  3.43251  3.03167  2.71247  2.66673  2.90997  3.06188  5.21245  2.88414</a:t>
            </a:r>
          </a:p>
          <a:p>
            <a:r>
              <a:rPr lang="en-US" dirty="0">
                <a:latin typeface="Courier New"/>
                <a:cs typeface="Courier New"/>
              </a:rPr>
              <a:t>          2.68618  4.42225  2.77519  2.73123  3.46354  2.40513  3.72494  3.29354  2.67741  2.69355  4.24690  2.90347  2.73739  3.18146  2.89801  2.37887  2.77519  2.98518  4.58477  3.61503</a:t>
            </a:r>
          </a:p>
          <a:p>
            <a:r>
              <a:rPr lang="en-US" dirty="0">
                <a:latin typeface="Courier New"/>
                <a:cs typeface="Courier New"/>
              </a:rPr>
              <a:t>          0.15412  5.62693  1.97159  0.61958  0.77255  0.00000        *</a:t>
            </a:r>
          </a:p>
          <a:p>
            <a:r>
              <a:rPr lang="en-US" dirty="0">
                <a:latin typeface="Courier New"/>
                <a:cs typeface="Courier New"/>
              </a:rPr>
              <a:t>      1   2.69450  5.20126  1.90404  2.47178  4.68913  3.78335  4.01145  3.75163  2.20418  2.96186  3.33300  2.43140  3.49632  2.59266  3.14923  2.72610  2.90370  2.98968  5.61412  4.41752      1 d - - C</a:t>
            </a:r>
          </a:p>
          <a:p>
            <a:r>
              <a:rPr lang="en-US" dirty="0">
                <a:latin typeface="Courier New"/>
                <a:cs typeface="Courier New"/>
              </a:rPr>
              <a:t>          2.68618  4.42225  2.77519  2.73123  3.46354  2.40513  3.72494  3.29354  2.67741  2.69355  4.24690  2.90347  2.73739  3.18146  2.89801  2.37887  2.77519  2.98518  4.58477  3.61503</a:t>
            </a:r>
          </a:p>
          <a:p>
            <a:r>
              <a:rPr lang="en-US" dirty="0">
                <a:latin typeface="Courier New"/>
                <a:cs typeface="Courier New"/>
              </a:rPr>
              <a:t>          0.00718  5.47902  5.81517  0.61958  0.77255  0.42007  1.07002</a:t>
            </a:r>
          </a:p>
          <a:p>
            <a:r>
              <a:rPr lang="en-US" dirty="0">
                <a:latin typeface="Courier New"/>
                <a:cs typeface="Courier New"/>
              </a:rPr>
              <a:t>      2   2.91083  4.82906  1.58312  1.73987  5.01707  3.82147  3.64171  4.50313  2.01029  3.15122  4.59410  2.83954  4.25294  3.15745  3.12709  2.65971  3.16946  3.83508  6.10447  4.69344      2 d - - C</a:t>
            </a:r>
          </a:p>
          <a:p>
            <a:r>
              <a:rPr lang="en-US" dirty="0">
                <a:latin typeface="Courier New"/>
                <a:cs typeface="Courier New"/>
              </a:rPr>
              <a:t>          2.68618  4.42225  2.77519  2.73123  3.46354  2.40513  3.72494  3.29354  2.67741  2.69355  4.24690  2.90347  2.73739  3.18146  2.89801  2.37887  2.77519  2.98518  4.58477  3.61503</a:t>
            </a:r>
          </a:p>
          <a:p>
            <a:r>
              <a:rPr lang="en-US" dirty="0">
                <a:latin typeface="Courier New"/>
                <a:cs typeface="Courier New"/>
              </a:rPr>
              <a:t>          0.00559  5.58603  6.30838  0.61958  0.77255  0.42789  1.05522</a:t>
            </a:r>
          </a:p>
          <a:p>
            <a:r>
              <a:rPr lang="en-US" dirty="0">
                <a:latin typeface="Courier New"/>
                <a:cs typeface="Courier New"/>
              </a:rPr>
              <a:t>      3   2.63456  4.70051  4.84319  2.98389  2.64502  4.37715  4.37000  1.96988  3.23179  2.30513  3.40557  3.77117  4.64207  4.19062  3.25571  3.40775  2.92268  1.80829  5.12858  2.21226      3 v - - H</a:t>
            </a:r>
          </a:p>
          <a:p>
            <a:r>
              <a:rPr lang="en-US" dirty="0">
                <a:latin typeface="Courier New"/>
                <a:cs typeface="Courier New"/>
              </a:rPr>
              <a:t>          2.68582  4.42236  2.77514  2.73093  3.46365  2.40524  3.72482  3.29365  2.67744  2.69351  4.24701  2.90358  2.73751  3.18157  2.89791  2.37890  2.77525  2.98529  4.58488  3.61514</a:t>
            </a:r>
          </a:p>
          <a:p>
            <a:r>
              <a:rPr lang="en-US" dirty="0">
                <a:latin typeface="Courier New"/>
                <a:cs typeface="Courier New"/>
              </a:rPr>
              <a:t>          0.08136  2.57205  6.34224  0.67760  0.70894  0.47041  0.98016</a:t>
            </a:r>
          </a:p>
          <a:p>
            <a:r>
              <a:rPr lang="en-US" dirty="0">
                <a:latin typeface="Courier New"/>
                <a:cs typeface="Courier New"/>
              </a:rPr>
              <a:t>      4   2.54801  4.72728  4.74569  4.15699  3.82991  4.36365  4.46123  1.93633  2.71591  1.80176  2.81197  4.19038  4.73278  4.00802  1.74668  3.65099  3.31186  2.37869  5.33916  3.48167      6 r - - H</a:t>
            </a:r>
          </a:p>
          <a:p>
            <a:r>
              <a:rPr lang="en-US" dirty="0">
                <a:latin typeface="Courier New"/>
                <a:cs typeface="Courier New"/>
              </a:rPr>
              <a:t>          2.68618  4.42225  2.77519  2.73123  3.46354  2.40513  3.72494  3.29354  2.67741  2.69355  4.24690  2.90347  2.73739  3.18146  2.89801  2.37887  2.77519  2.98518  4.58477  3.61503</a:t>
            </a:r>
          </a:p>
          <a:p>
            <a:r>
              <a:rPr lang="en-US" dirty="0">
                <a:latin typeface="Courier New"/>
                <a:cs typeface="Courier New"/>
              </a:rPr>
              <a:t>          0.00537  5.62610  6.34845  0.61958  0.77255  0.48306  0.95944</a:t>
            </a:r>
          </a:p>
          <a:p>
            <a:r>
              <a:rPr lang="en-US" dirty="0">
                <a:latin typeface="Courier New"/>
                <a:cs typeface="Courier New"/>
              </a:rPr>
              <a:t>      5   2.11055  5.19463  3.13477  2.25423  4.84332  3.10661  3.88848  3.85885  1.98083  2.26284  3.93265  3.22775  4.35588  2.50230  2.73835  2.86546  2.72615  3.35148  6.10956  4.57738      7 k - - H</a:t>
            </a:r>
          </a:p>
          <a:p>
            <a:r>
              <a:rPr lang="en-US" dirty="0">
                <a:latin typeface="Courier New"/>
                <a:cs typeface="Courier New"/>
              </a:rPr>
              <a:t>          2.68618  4.42225  2.77519  2.73123  3.46354  2.40513  3.72494  3.29354  2.67741  2.69355  4.24690  2.90347  2.73739  3.18146  2.89801  2.37887  2.77519  2.98518  4.58477  3.61503</a:t>
            </a:r>
          </a:p>
          <a:p>
            <a:r>
              <a:rPr lang="en-US" dirty="0">
                <a:latin typeface="Courier New"/>
                <a:cs typeface="Courier New"/>
              </a:rPr>
              <a:t>          0.00536  5.62693  6.34927  0.61958  0.77255  0.48576  0.95510</a:t>
            </a:r>
          </a:p>
          <a:p>
            <a:r>
              <a:rPr lang="en-US" dirty="0">
                <a:latin typeface="Courier New"/>
                <a:cs typeface="Courier New"/>
              </a:rPr>
              <a:t>      6   2.03322  4.91437  2.94559  2.42989  5.02036  3.66309  4.04897  3.63439  1.52459  2.77931  3.89988  3.20092  4.15513  2.30684  2.83680  2.92417  3.25333  3.61800  6.11737  4.70998      8 k - - H</a:t>
            </a:r>
          </a:p>
          <a:p>
            <a:r>
              <a:rPr lang="en-US" dirty="0">
                <a:latin typeface="Courier New"/>
                <a:cs typeface="Courier New"/>
              </a:rPr>
              <a:t>          2.68618  4.42225  2.77519  2.73123  3.46354  2.40513  3.72494  3.29354  2.67741  2.69355  4.24690  2.90347  2.73739  3.18146  2.89801  2.37887  2.77519  2.98518  4.58477  3.61503</a:t>
            </a:r>
          </a:p>
          <a:p>
            <a:r>
              <a:rPr lang="en-US" dirty="0">
                <a:latin typeface="Courier New"/>
                <a:cs typeface="Courier New"/>
              </a:rPr>
              <a:t>          0.00536  5.62693  6.34927  0.61958  0.77255  0.48576  0.95510</a:t>
            </a:r>
          </a:p>
          <a:p>
            <a:r>
              <a:rPr lang="en-US" dirty="0">
                <a:latin typeface="Courier New"/>
                <a:cs typeface="Courier New"/>
              </a:rPr>
              <a:t>      7   4.73891  6.64548  5.68057  4.42078  6.41719  5.15128  3.93502  5.55175  2.29408  4.78890  5.71680  4.63644  5.41712  2.87234  0.31067  4.69020  4.75225  5.28095  6.66515  5.69420      9 R - - H</a:t>
            </a:r>
          </a:p>
          <a:p>
            <a:r>
              <a:rPr lang="en-US" dirty="0">
                <a:latin typeface="Courier New"/>
                <a:cs typeface="Courier New"/>
              </a:rPr>
              <a:t>          2.68618  4.42225  2.77519  2.73123  3.46354  2.40513  3.72494  3.29354  2.67741  2.69355  4.24690  2.90347  2.73739  3.18146  2.89801  2.37887  2.77519  2.98518  4.58477  3.61503</a:t>
            </a:r>
          </a:p>
          <a:p>
            <a:r>
              <a:rPr lang="en-US" dirty="0">
                <a:latin typeface="Courier New"/>
                <a:cs typeface="Courier New"/>
              </a:rPr>
              <a:t>          0.00536  5.62693  6.34927  0.61958  0.77255  0.48576  0.95510</a:t>
            </a:r>
          </a:p>
          <a:p>
            <a:r>
              <a:rPr lang="en-US" dirty="0">
                <a:latin typeface="Courier New"/>
                <a:cs typeface="Courier New"/>
              </a:rPr>
              <a:t>      8   1.62426  4.44842  4.26891  3.69735  3.86164  3.13257  4.52444  2.32789  3.39179  2.57955  2.66032  3.91731  4.63345  2.24662  2.85057  3.03169  2.70601  2.61172  5.46972  4.25065     10 a - - C</a:t>
            </a:r>
          </a:p>
          <a:p>
            <a:r>
              <a:rPr lang="en-US" dirty="0">
                <a:latin typeface="Courier New"/>
                <a:cs typeface="Courier New"/>
              </a:rPr>
              <a:t>          2.68618  4.42225  2.77519  2.73123  3.46354  2.40513  3.72494  3.29354  2.67741  2.69355  4.24690  2.90347  2.73739  3.18146  2.89801  2.37887  2.77519  2.98518  4.58477  3.61503</a:t>
            </a:r>
          </a:p>
          <a:p>
            <a:r>
              <a:rPr lang="en-US" dirty="0">
                <a:latin typeface="Courier New"/>
                <a:cs typeface="Courier New"/>
              </a:rPr>
              <a:t>          0.00536  5.62693  6.34927  0.61958  0.77255  0.48576  0.95510</a:t>
            </a:r>
          </a:p>
          <a:p>
            <a:endParaRPr lang="en-US" dirty="0">
              <a:latin typeface="Courier New"/>
              <a:cs typeface="Courier New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9682B-448C-3ACF-F8A6-99115291612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930AFF-B849-6152-08E6-6EE15110DCD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4BA28FE-D3B5-C0CD-B6D8-D75F9024A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 err="1">
                <a:latin typeface="Raleway" pitchFamily="2" charset="77"/>
              </a:rPr>
              <a:t>Pfam</a:t>
            </a:r>
            <a:r>
              <a:rPr lang="en-US" sz="6000" dirty="0">
                <a:latin typeface="Raleway" pitchFamily="2" charset="77"/>
              </a:rPr>
              <a:t> Iron Hydrogenase HMM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92DF26-5EC2-1089-D056-BFE0AE7B06D9}"/>
              </a:ext>
            </a:extLst>
          </p:cNvPr>
          <p:cNvSpPr/>
          <p:nvPr/>
        </p:nvSpPr>
        <p:spPr>
          <a:xfrm>
            <a:off x="14721840" y="1956816"/>
            <a:ext cx="9308592" cy="822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4R0V.png">
            <a:extLst>
              <a:ext uri="{FF2B5EF4-FFF2-40B4-BE49-F238E27FC236}">
                <a16:creationId xmlns:a16="http://schemas.microsoft.com/office/drawing/2014/main" id="{4CA0F568-A397-C7D1-B95F-DE4C2E527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394" y="3876501"/>
            <a:ext cx="4128544" cy="412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043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9FCF-A9FC-A4C3-F0C3-0B69DE4C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22B3F-01C6-4681-B463-093EA5B1A19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41F052-A65B-5138-2BC9-2BB134DD160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84256E-0944-CC4B-9312-32A427CF7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u="sng" dirty="0">
                <a:latin typeface="Raleway" pitchFamily="2" charset="77"/>
              </a:rPr>
              <a:t>H</a:t>
            </a:r>
            <a:r>
              <a:rPr lang="en-US" sz="6000" dirty="0">
                <a:latin typeface="Raleway" pitchFamily="2" charset="77"/>
              </a:rPr>
              <a:t>idden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arkov </a:t>
            </a:r>
            <a:r>
              <a:rPr lang="en-US" sz="6000" u="sng" dirty="0">
                <a:latin typeface="Raleway" pitchFamily="2" charset="77"/>
              </a:rPr>
              <a:t>M</a:t>
            </a:r>
            <a:r>
              <a:rPr lang="en-US" sz="6000" dirty="0">
                <a:latin typeface="Raleway" pitchFamily="2" charset="77"/>
              </a:rPr>
              <a:t>odels (HMMs)</a:t>
            </a:r>
          </a:p>
        </p:txBody>
      </p:sp>
      <p:pic>
        <p:nvPicPr>
          <p:cNvPr id="13" name="Picture 12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CD0BFDB8-B0C6-DAD4-8623-BC15DC49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9" b="4349"/>
          <a:stretch>
            <a:fillRect/>
          </a:stretch>
        </p:blipFill>
        <p:spPr>
          <a:xfrm>
            <a:off x="3534087" y="2014820"/>
            <a:ext cx="13250238" cy="8135020"/>
          </a:xfrm>
          <a:prstGeom prst="rect">
            <a:avLst/>
          </a:prstGeom>
        </p:spPr>
      </p:pic>
      <p:pic>
        <p:nvPicPr>
          <p:cNvPr id="3" name="Picture 2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43E22E54-A366-E47D-4A89-1BD049D443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16" b="5360"/>
          <a:stretch>
            <a:fillRect/>
          </a:stretch>
        </p:blipFill>
        <p:spPr>
          <a:xfrm>
            <a:off x="3534086" y="2014820"/>
            <a:ext cx="13554961" cy="8135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89DF1D-3C3A-B6C2-138C-E6D0719E4594}"/>
              </a:ext>
            </a:extLst>
          </p:cNvPr>
          <p:cNvSpPr txBox="1"/>
          <p:nvPr/>
        </p:nvSpPr>
        <p:spPr>
          <a:xfrm>
            <a:off x="438675" y="4890865"/>
            <a:ext cx="86321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There are many probable state paths for an observed sequence for an HMM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Viterbi algorithm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guaranteed to find the most probable state path given a sequence and an HMM.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query generates a probability for every HMM in the database</a:t>
            </a:r>
          </a:p>
        </p:txBody>
      </p:sp>
    </p:spTree>
    <p:extLst>
      <p:ext uri="{BB962C8B-B14F-4D97-AF65-F5344CB8AC3E}">
        <p14:creationId xmlns:p14="http://schemas.microsoft.com/office/powerpoint/2010/main" val="22976857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E8762-1B58-0CA3-C93F-C2CA0A2F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26EA5A-6290-19F4-6C95-6826C8592D7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09BB25-F0AC-FF97-BAF4-C2A675317F7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4493D32-7BC2-C38A-8250-54A18DEDE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HMMs in </a:t>
            </a:r>
            <a:r>
              <a:rPr lang="en-US" sz="6000" dirty="0" err="1">
                <a:latin typeface="Raleway" pitchFamily="2" charset="77"/>
              </a:rPr>
              <a:t>Pfam</a:t>
            </a:r>
            <a:r>
              <a:rPr lang="en-US" sz="6000" dirty="0">
                <a:latin typeface="Raleway" pitchFamily="2" charset="77"/>
              </a:rPr>
              <a:t>/</a:t>
            </a:r>
            <a:r>
              <a:rPr lang="en-US" sz="6000" dirty="0" err="1">
                <a:latin typeface="Raleway" pitchFamily="2" charset="77"/>
              </a:rPr>
              <a:t>Hmmer</a:t>
            </a:r>
            <a:endParaRPr lang="en-US" sz="6000" dirty="0">
              <a:latin typeface="Raleway" pitchFamily="2" charset="77"/>
            </a:endParaRPr>
          </a:p>
        </p:txBody>
      </p:sp>
      <p:pic>
        <p:nvPicPr>
          <p:cNvPr id="33" name="Picture 32" descr="4R0V.png">
            <a:extLst>
              <a:ext uri="{FF2B5EF4-FFF2-40B4-BE49-F238E27FC236}">
                <a16:creationId xmlns:a16="http://schemas.microsoft.com/office/drawing/2014/main" id="{AB273E92-14E5-7DA6-682F-A37FA3899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394" y="3876501"/>
            <a:ext cx="4128544" cy="4128544"/>
          </a:xfrm>
          <a:prstGeom prst="rect">
            <a:avLst/>
          </a:prstGeom>
        </p:spPr>
      </p:pic>
      <p:pic>
        <p:nvPicPr>
          <p:cNvPr id="2" name="Picture 1" descr="pfam.tiff">
            <a:extLst>
              <a:ext uri="{FF2B5EF4-FFF2-40B4-BE49-F238E27FC236}">
                <a16:creationId xmlns:a16="http://schemas.microsoft.com/office/drawing/2014/main" id="{7637CF1C-55B2-D9BA-1A7D-56376E211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75" y="2174439"/>
            <a:ext cx="12864409" cy="48103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C39D23-742E-FCD3-BD6C-8909F9E92F92}"/>
              </a:ext>
            </a:extLst>
          </p:cNvPr>
          <p:cNvSpPr txBox="1"/>
          <p:nvPr/>
        </p:nvSpPr>
        <p:spPr>
          <a:xfrm>
            <a:off x="438674" y="7146024"/>
            <a:ext cx="18416253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s-IS" sz="2800" dirty="0"/>
              <a:t>The HMMER software uses the probability values to calculate:</a:t>
            </a:r>
          </a:p>
          <a:p>
            <a:pPr marL="342900" indent="-342900">
              <a:buFont typeface="Arial"/>
              <a:buChar char="•"/>
            </a:pPr>
            <a:endParaRPr lang="is-IS" sz="2800" dirty="0"/>
          </a:p>
          <a:p>
            <a:pPr marL="800100" lvl="1" indent="-342900">
              <a:buFont typeface="Arial"/>
              <a:buChar char="•"/>
            </a:pPr>
            <a:r>
              <a:rPr lang="en-US" sz="2800" dirty="0"/>
              <a:t>b</a:t>
            </a:r>
            <a:r>
              <a:rPr lang="is-IS" sz="2800" dirty="0"/>
              <a:t>it score – a log-odds score of the fit of the query to the HMM; </a:t>
            </a:r>
            <a:r>
              <a:rPr lang="en-US" sz="2800" dirty="0"/>
              <a:t>the higher the score, the better the alignment</a:t>
            </a:r>
            <a:endParaRPr lang="is-IS" sz="2800" dirty="0"/>
          </a:p>
          <a:p>
            <a:pPr marL="800100" lvl="1" indent="-342900">
              <a:buFont typeface="Arial"/>
              <a:buChar char="•"/>
            </a:pPr>
            <a:r>
              <a:rPr lang="is-IS" sz="2800" dirty="0"/>
              <a:t>expectation value - </a:t>
            </a:r>
            <a:r>
              <a:rPr lang="en-US" sz="2800" dirty="0"/>
              <a:t>estimates the likelihood that a given match is purely by chance; a function of database size</a:t>
            </a:r>
          </a:p>
          <a:p>
            <a:pPr marL="800100" lvl="1" indent="-342900">
              <a:buFont typeface="Arial"/>
              <a:buChar char="•"/>
            </a:pPr>
            <a:endParaRPr lang="is-IS" sz="2800" dirty="0"/>
          </a:p>
          <a:p>
            <a:r>
              <a:rPr lang="is-IS" sz="2800" dirty="0"/>
              <a:t>Pfam website uses a default expectation value cut-off of 1.0</a:t>
            </a:r>
          </a:p>
        </p:txBody>
      </p:sp>
    </p:spTree>
    <p:extLst>
      <p:ext uri="{BB962C8B-B14F-4D97-AF65-F5344CB8AC3E}">
        <p14:creationId xmlns:p14="http://schemas.microsoft.com/office/powerpoint/2010/main" val="1732069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7F0C-3303-8AB2-1F90-EEE67517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5FFAC-D963-5F2C-491B-DFC3C591549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BFCDEC-535C-8345-E7AA-7866B60AFA1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6BC76D-26B9-5AD8-CEA9-703E864A4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HMMs in </a:t>
            </a:r>
            <a:r>
              <a:rPr lang="en-US" sz="6000" dirty="0" err="1">
                <a:latin typeface="Raleway" pitchFamily="2" charset="77"/>
              </a:rPr>
              <a:t>Pfam</a:t>
            </a:r>
            <a:r>
              <a:rPr lang="en-US" sz="6000" dirty="0">
                <a:latin typeface="Raleway" pitchFamily="2" charset="77"/>
              </a:rPr>
              <a:t>/</a:t>
            </a:r>
            <a:r>
              <a:rPr lang="en-US" sz="6000" dirty="0" err="1">
                <a:latin typeface="Raleway" pitchFamily="2" charset="77"/>
              </a:rPr>
              <a:t>Hmmer</a:t>
            </a:r>
            <a:endParaRPr lang="en-US" sz="6000" dirty="0">
              <a:latin typeface="Raleway" pitchFamily="2" charset="77"/>
            </a:endParaRPr>
          </a:p>
        </p:txBody>
      </p:sp>
      <p:pic>
        <p:nvPicPr>
          <p:cNvPr id="33" name="Picture 32" descr="4R0V.png">
            <a:extLst>
              <a:ext uri="{FF2B5EF4-FFF2-40B4-BE49-F238E27FC236}">
                <a16:creationId xmlns:a16="http://schemas.microsoft.com/office/drawing/2014/main" id="{99336F4A-0D4D-6A9C-2A2E-2EF1DE7A6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394" y="3876501"/>
            <a:ext cx="4128544" cy="4128544"/>
          </a:xfrm>
          <a:prstGeom prst="rect">
            <a:avLst/>
          </a:prstGeom>
        </p:spPr>
      </p:pic>
      <p:pic>
        <p:nvPicPr>
          <p:cNvPr id="2" name="Picture 1" descr="pfam.tiff">
            <a:extLst>
              <a:ext uri="{FF2B5EF4-FFF2-40B4-BE49-F238E27FC236}">
                <a16:creationId xmlns:a16="http://schemas.microsoft.com/office/drawing/2014/main" id="{38D8AE3B-374E-1CF2-3B5F-33CDB9D37B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75" y="2174439"/>
            <a:ext cx="12864409" cy="48103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4DBAC0-D33A-4467-78E3-91BB5B239BFE}"/>
              </a:ext>
            </a:extLst>
          </p:cNvPr>
          <p:cNvSpPr txBox="1"/>
          <p:nvPr/>
        </p:nvSpPr>
        <p:spPr>
          <a:xfrm>
            <a:off x="438675" y="7416930"/>
            <a:ext cx="18416253" cy="22467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800" dirty="0" err="1"/>
              <a:t>Pfam</a:t>
            </a:r>
            <a:r>
              <a:rPr lang="en-US" sz="2800" dirty="0"/>
              <a:t> HMMs are curated by functional biologists and model functional domains; </a:t>
            </a:r>
            <a:r>
              <a:rPr lang="en-US" sz="2800" dirty="0" err="1"/>
              <a:t>Pfam</a:t>
            </a:r>
            <a:r>
              <a:rPr lang="en-US" sz="2800" dirty="0"/>
              <a:t> HMMs are thus one of the most powerful tools available for prediction of protein function</a:t>
            </a:r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Caveat – correlations among residues cannot be modeled by HMMs as Markov Chains cannot ‘remember’ earlier states; secondary structure not workable in HMMs</a:t>
            </a:r>
          </a:p>
        </p:txBody>
      </p:sp>
    </p:spTree>
    <p:extLst>
      <p:ext uri="{BB962C8B-B14F-4D97-AF65-F5344CB8AC3E}">
        <p14:creationId xmlns:p14="http://schemas.microsoft.com/office/powerpoint/2010/main" val="6984086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479F-F509-9A70-F92C-E2849747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EC1F5-B5FB-5FE4-45FA-A0E28188B3F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B837FCE-0D31-68C8-9CD4-955319CCDA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31F677-F508-4EA4-32ED-5E27D5514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What about finding short sequences?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BB6A8-0918-E170-DE24-50D4D4565775}"/>
              </a:ext>
            </a:extLst>
          </p:cNvPr>
          <p:cNvSpPr txBox="1"/>
          <p:nvPr/>
        </p:nvSpPr>
        <p:spPr>
          <a:xfrm>
            <a:off x="1014577" y="2770479"/>
            <a:ext cx="18865160" cy="563231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3600" dirty="0"/>
              <a:t>Short sequences or motifs by definition have less information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Often too short for BLAST (below word size or extension rules)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Not enough information to build an HMM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Easily match random sequences – expectation values break down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Statistical confidence and avoidance of false discovery difficult for reasons listed above – experimental validation often required</a:t>
            </a:r>
          </a:p>
          <a:p>
            <a:pPr marL="800100" lvl="1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r>
              <a:rPr lang="en-US" sz="3600" dirty="0"/>
              <a:t>Two common bioinformatics questions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Detection of amino acid motifs, e.g. PROSITE database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Detection of DNA binding sites, e.g. JASPAR database</a:t>
            </a:r>
          </a:p>
        </p:txBody>
      </p:sp>
    </p:spTree>
    <p:extLst>
      <p:ext uri="{BB962C8B-B14F-4D97-AF65-F5344CB8AC3E}">
        <p14:creationId xmlns:p14="http://schemas.microsoft.com/office/powerpoint/2010/main" val="428817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9F862-56FB-9FB7-92F6-35B082506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0F09313-8BD2-9C76-3541-88A4BA62B332}"/>
              </a:ext>
            </a:extLst>
          </p:cNvPr>
          <p:cNvSpPr/>
          <p:nvPr/>
        </p:nvSpPr>
        <p:spPr>
          <a:xfrm>
            <a:off x="603504" y="6641658"/>
            <a:ext cx="11356848" cy="1499616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tx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2666B-C783-003C-5BEC-4A799E7BE3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7804C2-19C0-0535-CD00-78AF05097A6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B1DCBE7-0377-3428-665B-458942D77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What about finding short sequences?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A36E8-BBE4-F935-C700-6A87E5D25730}"/>
              </a:ext>
            </a:extLst>
          </p:cNvPr>
          <p:cNvSpPr txBox="1"/>
          <p:nvPr/>
        </p:nvSpPr>
        <p:spPr>
          <a:xfrm>
            <a:off x="1595628" y="2436413"/>
            <a:ext cx="1319936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Pattern matching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Not statistical – the pattern exists in the subject or not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Frequently important for analysis of proteins (e.g. PROSITE)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Computers are very good at pattern matching – fast!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16F900-3087-607E-FEBC-C149FA7048B2}"/>
              </a:ext>
            </a:extLst>
          </p:cNvPr>
          <p:cNvSpPr/>
          <p:nvPr/>
        </p:nvSpPr>
        <p:spPr>
          <a:xfrm>
            <a:off x="438675" y="2369372"/>
            <a:ext cx="804672" cy="6463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C7C54-AD5A-6B51-56CA-74AB45F39A44}"/>
              </a:ext>
            </a:extLst>
          </p:cNvPr>
          <p:cNvSpPr txBox="1"/>
          <p:nvPr/>
        </p:nvSpPr>
        <p:spPr>
          <a:xfrm>
            <a:off x="859536" y="6806693"/>
            <a:ext cx="12508992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CA" sz="2800" b="0" i="1" dirty="0">
                <a:solidFill>
                  <a:srgbClr val="4B534F"/>
                </a:solidFill>
                <a:effectLst/>
                <a:latin typeface="Lora" pitchFamily="2" charset="77"/>
              </a:rPr>
              <a:t>PROSITE pattern syntax — the zinc-finger (C2H2 type) signature</a:t>
            </a:r>
          </a:p>
          <a:p>
            <a:pPr algn="l">
              <a:buNone/>
            </a:pPr>
            <a:r>
              <a:rPr lang="en-CA" sz="2800" b="0" i="0" dirty="0">
                <a:solidFill>
                  <a:srgbClr val="202422"/>
                </a:solidFill>
                <a:effectLst/>
                <a:latin typeface="IBM Plex Mono" panose="020B0509050203000203" pitchFamily="49" charset="77"/>
              </a:rPr>
              <a:t>C-x(2,4)-C-x(3)-[LIVMFYWC]-x(8)-H-x(3,5)-H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DD77BB-6FB1-8F1C-5881-1EA491DE1E0C}"/>
                  </a:ext>
                </a:extLst>
              </p:cNvPr>
              <p:cNvSpPr txBox="1"/>
              <p:nvPr/>
            </p:nvSpPr>
            <p:spPr>
              <a:xfrm>
                <a:off x="13405104" y="5767103"/>
                <a:ext cx="6810669" cy="3801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50"/>
                  </a:spcAft>
                </a:pPr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 </a:t>
                </a:r>
                <a:r>
                  <a:rPr lang="en-CA" sz="2400" dirty="0">
                    <a:solidFill>
                      <a:srgbClr val="20242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400" i="1" smtClean="0">
                        <a:solidFill>
                          <a:srgbClr val="2024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CA" sz="2400" b="0" i="1" smtClean="0">
                        <a:solidFill>
                          <a:srgbClr val="2024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 cysteine, exactly.</a:t>
                </a:r>
              </a:p>
              <a:p>
                <a:pPr>
                  <a:spcAft>
                    <a:spcPts val="450"/>
                  </a:spcAft>
                </a:pPr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x(2,4) </a:t>
                </a:r>
                <a14:m>
                  <m:oMath xmlns:m="http://schemas.openxmlformats.org/officeDocument/2006/math">
                    <m:r>
                      <a:rPr lang="en-CA" sz="2400" i="1">
                        <a:solidFill>
                          <a:srgbClr val="2024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any 2 to 4 residues.</a:t>
                </a:r>
              </a:p>
              <a:p>
                <a:pPr>
                  <a:spcAft>
                    <a:spcPts val="450"/>
                  </a:spcAft>
                </a:pPr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 </a:t>
                </a:r>
                <a:r>
                  <a:rPr lang="en-CA" sz="2400" dirty="0">
                    <a:solidFill>
                      <a:srgbClr val="202422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400" i="1">
                        <a:solidFill>
                          <a:srgbClr val="2024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 </m:t>
                    </m:r>
                  </m:oMath>
                </a14:m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another cysteine.</a:t>
                </a:r>
              </a:p>
              <a:p>
                <a:pPr>
                  <a:spcAft>
                    <a:spcPts val="450"/>
                  </a:spcAft>
                </a:pPr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x(3) </a:t>
                </a:r>
                <a:r>
                  <a:rPr lang="en-CA" sz="2400" dirty="0">
                    <a:solidFill>
                      <a:srgbClr val="202422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400" i="1">
                        <a:solidFill>
                          <a:srgbClr val="2024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 </m:t>
                    </m:r>
                  </m:oMath>
                </a14:m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exactly 3 of any residue.</a:t>
                </a:r>
              </a:p>
              <a:p>
                <a:pPr>
                  <a:spcAft>
                    <a:spcPts val="450"/>
                  </a:spcAft>
                </a:pPr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[LIVMFYWC] </a:t>
                </a:r>
                <a:r>
                  <a:rPr lang="en-CA" sz="2400" dirty="0">
                    <a:solidFill>
                      <a:srgbClr val="202422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400" i="1">
                        <a:solidFill>
                          <a:srgbClr val="2024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 </m:t>
                    </m:r>
                  </m:oMath>
                </a14:m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one residue drawn from that bracketed set.</a:t>
                </a:r>
              </a:p>
              <a:p>
                <a:pPr>
                  <a:spcAft>
                    <a:spcPts val="450"/>
                  </a:spcAft>
                </a:pPr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x(8) </a:t>
                </a:r>
                <a:r>
                  <a:rPr lang="en-CA" sz="2400" dirty="0">
                    <a:solidFill>
                      <a:srgbClr val="202422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400" i="1">
                        <a:solidFill>
                          <a:srgbClr val="2024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 </m:t>
                    </m:r>
                  </m:oMath>
                </a14:m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exactly 8 of any residue.</a:t>
                </a:r>
              </a:p>
              <a:p>
                <a:pPr>
                  <a:spcAft>
                    <a:spcPts val="450"/>
                  </a:spcAft>
                </a:pPr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H-x(3,5)-H </a:t>
                </a:r>
                <a14:m>
                  <m:oMath xmlns:m="http://schemas.openxmlformats.org/officeDocument/2006/math">
                    <m:r>
                      <a:rPr lang="en-CA" sz="2400" i="1">
                        <a:solidFill>
                          <a:srgbClr val="2024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CA" sz="2400" b="0" i="0" dirty="0">
                    <a:solidFill>
                      <a:srgbClr val="2024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a histidine, a short spacer, then a second histidine.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DD77BB-6FB1-8F1C-5881-1EA491DE1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5104" y="5767103"/>
                <a:ext cx="6810669" cy="3801041"/>
              </a:xfrm>
              <a:prstGeom prst="rect">
                <a:avLst/>
              </a:prstGeom>
              <a:blipFill>
                <a:blip r:embed="rId3"/>
                <a:stretch>
                  <a:fillRect l="-1490" t="-1333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19C22051-47E3-2233-9585-94F27FFEAA0A}"/>
              </a:ext>
            </a:extLst>
          </p:cNvPr>
          <p:cNvSpPr/>
          <p:nvPr/>
        </p:nvSpPr>
        <p:spPr>
          <a:xfrm>
            <a:off x="12161520" y="5522976"/>
            <a:ext cx="1042416" cy="413308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1DB7-6B0B-9753-B9D0-7BE0091A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C0AF6F-44DE-C1D0-4533-D87B2C0C238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65660C-0007-0A48-FBEC-B873FE409C8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EDB683-919C-3C3B-6EB9-9DCE46DA1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What about finding short sequences?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225DD-F20F-2E9C-FA82-39222E484C3D}"/>
              </a:ext>
            </a:extLst>
          </p:cNvPr>
          <p:cNvSpPr txBox="1"/>
          <p:nvPr/>
        </p:nvSpPr>
        <p:spPr>
          <a:xfrm>
            <a:off x="1595628" y="2436413"/>
            <a:ext cx="85635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Position-specific scoring matrix (PSSM)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A pattern with variation based on observation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Particularly important for analysis of DNA binding sites (e.g. JASPAR database) 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Statistical in nature, but very high false discovery rate!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3B1FDC-3C68-7466-54C6-4E8AB50BC2EA}"/>
              </a:ext>
            </a:extLst>
          </p:cNvPr>
          <p:cNvSpPr/>
          <p:nvPr/>
        </p:nvSpPr>
        <p:spPr>
          <a:xfrm>
            <a:off x="438675" y="2369372"/>
            <a:ext cx="804672" cy="6463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  <a:endParaRPr lang="en-US" b="1" dirty="0"/>
          </a:p>
        </p:txBody>
      </p:sp>
      <p:pic>
        <p:nvPicPr>
          <p:cNvPr id="2" name="Picture 1" descr="F1.large.jpg">
            <a:extLst>
              <a:ext uri="{FF2B5EF4-FFF2-40B4-BE49-F238E27FC236}">
                <a16:creationId xmlns:a16="http://schemas.microsoft.com/office/drawing/2014/main" id="{5E4BBD5D-A10F-523C-2B36-E2B66309F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989" y="3251787"/>
            <a:ext cx="8652568" cy="637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EA3A-BF44-CF83-D102-FC9ADB19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139CBD-C35C-24C0-5720-B11493C756A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E7AB0C-1A1E-21E1-8036-E78A84DC030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424947B-53CA-6475-B1CC-0BEFF9EB5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Summary of sequence of analysis methods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43C708-D31A-7E68-CA11-BD5629213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7919"/>
              </p:ext>
            </p:extLst>
          </p:nvPr>
        </p:nvGraphicFramePr>
        <p:xfrm>
          <a:off x="1521776" y="3002280"/>
          <a:ext cx="17274860" cy="542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4732">
                  <a:extLst>
                    <a:ext uri="{9D8B030D-6E8A-4147-A177-3AD203B41FA5}">
                      <a16:colId xmlns:a16="http://schemas.microsoft.com/office/drawing/2014/main" val="331428319"/>
                    </a:ext>
                  </a:extLst>
                </a:gridCol>
                <a:gridCol w="5065776">
                  <a:extLst>
                    <a:ext uri="{9D8B030D-6E8A-4147-A177-3AD203B41FA5}">
                      <a16:colId xmlns:a16="http://schemas.microsoft.com/office/drawing/2014/main" val="4011324342"/>
                    </a:ext>
                  </a:extLst>
                </a:gridCol>
                <a:gridCol w="3822192">
                  <a:extLst>
                    <a:ext uri="{9D8B030D-6E8A-4147-A177-3AD203B41FA5}">
                      <a16:colId xmlns:a16="http://schemas.microsoft.com/office/drawing/2014/main" val="421189807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330355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Method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What is compares against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Speed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Sensitivity to variation</a:t>
                      </a:r>
                    </a:p>
                  </a:txBody>
                  <a:tcPr>
                    <a:solidFill>
                      <a:schemeClr val="tx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96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i="1">
                          <a:solidFill>
                            <a:schemeClr val="tx2">
                              <a:lumMod val="65000"/>
                            </a:schemeClr>
                          </a:solidFill>
                          <a:effectLst/>
                        </a:rPr>
                        <a:t>Smith–Waterman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i="1">
                          <a:solidFill>
                            <a:schemeClr val="tx2">
                              <a:lumMod val="65000"/>
                            </a:schemeClr>
                          </a:solidFill>
                          <a:effectLst/>
                        </a:rPr>
                        <a:t>one sequence vs one sequence, exactly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i="1" dirty="0">
                          <a:solidFill>
                            <a:schemeClr val="tx2">
                              <a:lumMod val="65000"/>
                            </a:schemeClr>
                          </a:solidFill>
                          <a:effectLst/>
                        </a:rPr>
                        <a:t>slow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i="1" dirty="0">
                          <a:solidFill>
                            <a:schemeClr val="tx2">
                              <a:lumMod val="65000"/>
                            </a:schemeClr>
                          </a:solidFill>
                          <a:effectLst/>
                        </a:rPr>
                        <a:t>optimal, but only for that one pair</a:t>
                      </a: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89030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BLAST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one sequence vs a whole database, heuristically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dirty="0">
                          <a:effectLst/>
                        </a:rPr>
                        <a:t>very fast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can miss short/weak seeds</a:t>
                      </a: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808443168"/>
                  </a:ext>
                </a:extLst>
              </a:tr>
              <a:tr h="5690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PROSITE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a fixed rule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very fast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dirty="0">
                          <a:effectLst/>
                        </a:rPr>
                        <a:t>brittle, no tolerance</a:t>
                      </a: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368756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PSSM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a fixed-length, position-scored motif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fast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dirty="0">
                          <a:effectLst/>
                        </a:rPr>
                        <a:t>tolerant</a:t>
                      </a: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690046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Profile HMM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a whole family, probabilistically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>
                          <a:effectLst/>
                        </a:rPr>
                        <a:t>slower than BLAST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dirty="0">
                          <a:effectLst/>
                        </a:rPr>
                        <a:t>most sensitive, built for divergence</a:t>
                      </a: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525024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3457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F61F0-AFF7-B994-0C14-375A0BEE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A0F60C-B46B-380F-D860-58243C19171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September 30,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BF1535-73C8-4B53-8807-00E19432A5F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A12C66C-8635-75FD-9EF3-D69F2063A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/>
              <a:t>This week … </a:t>
            </a:r>
            <a:endParaRPr lang="en-US" sz="6000" dirty="0">
              <a:latin typeface="Raleway" pitchFamily="2" charset="77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3B5FAE-407B-3C86-6C4F-7A0AED762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48" y="2423268"/>
            <a:ext cx="18031338" cy="252704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6350EC-F92B-5351-CBAD-E5F75BF81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431" y="5344916"/>
            <a:ext cx="11250455" cy="488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93475"/>
      </p:ext>
    </p:extLst>
  </p:cSld>
  <p:clrMapOvr>
    <a:masterClrMapping/>
  </p:clrMapOvr>
</p:sld>
</file>

<file path=ppt/theme/theme1.xml><?xml version="1.0" encoding="utf-8"?>
<a:theme xmlns:a="http://schemas.openxmlformats.org/drawingml/2006/main" name="McMaster Title and Closing Slides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cMaster Main Slides - White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cMaster Main Slides - Maroon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6b50f8d-715f-480a-838b-715664365a53">
      <UserInfo>
        <DisplayName>SharingLinks.489b77b9-d459-4f50-8e67-11d353497347.Flexible.911ce84e-a8fa-41b6-8c97-d208590a2ab8</DisplayName>
        <AccountId>365</AccountId>
        <AccountType/>
      </UserInfo>
      <UserInfo>
        <DisplayName>Omoseke Fowode</DisplayName>
        <AccountId>364</AccountId>
        <AccountType/>
      </UserInfo>
      <UserInfo>
        <DisplayName>VictoriaRose Regan</DisplayName>
        <AccountId>34</AccountId>
        <AccountType/>
      </UserInfo>
      <UserInfo>
        <DisplayName>Marketing Content Projects Owners</DisplayName>
        <AccountId>6</AccountId>
        <AccountType/>
      </UserInfo>
      <UserInfo>
        <DisplayName>vregan@elitedigital.ca</DisplayName>
        <AccountId>26</AccountId>
        <AccountType/>
      </UserInfo>
      <UserInfo>
        <DisplayName>Poelmans, Phil</DisplayName>
        <AccountId>378</AccountId>
        <AccountType/>
      </UserInfo>
      <UserInfo>
        <DisplayName>SharingLinks.11f30ffa-8e2d-48ff-ae65-417733c54462.Flexible.52ef79e5-1b7f-4940-af6c-97c7401e1422</DisplayName>
        <AccountId>367</AccountId>
        <AccountType/>
      </UserInfo>
      <UserInfo>
        <DisplayName>SharingLinks.ee822e11-9601-4420-be31-e0b505a82cae.Flexible.162289b9-8d28-4537-bbba-beb1e9cd24e5</DisplayName>
        <AccountId>366</AccountId>
        <AccountType/>
      </UserInfo>
      <UserInfo>
        <DisplayName>Blackwood, Jessica</DisplayName>
        <AccountId>280</AccountId>
        <AccountType/>
      </UserInfo>
      <UserInfo>
        <DisplayName>Valentine, Richard</DisplayName>
        <AccountId>12</AccountId>
        <AccountType/>
      </UserInfo>
      <UserInfo>
        <DisplayName>Jamie Kaushal</DisplayName>
        <AccountId>380</AccountId>
        <AccountType/>
      </UserInfo>
      <UserInfo>
        <DisplayName>Morgan, Sara</DisplayName>
        <AccountId>9</AccountId>
        <AccountType/>
      </UserInfo>
    </SharedWithUsers>
    <lcf76f155ced4ddcb4097134ff3c332f xmlns="88b0a0ff-d3b5-49df-8481-a9e681bdc8a6">
      <Terms xmlns="http://schemas.microsoft.com/office/infopath/2007/PartnerControls"/>
    </lcf76f155ced4ddcb4097134ff3c332f>
    <TaxCatchAll xmlns="56b50f8d-715f-480a-838b-715664365a5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A38F74C9162C478D8F165ED878BC5B" ma:contentTypeVersion="15" ma:contentTypeDescription="Create a new document." ma:contentTypeScope="" ma:versionID="e47a23570109c110b7798bafe919556a">
  <xsd:schema xmlns:xsd="http://www.w3.org/2001/XMLSchema" xmlns:xs="http://www.w3.org/2001/XMLSchema" xmlns:p="http://schemas.microsoft.com/office/2006/metadata/properties" xmlns:ns2="88b0a0ff-d3b5-49df-8481-a9e681bdc8a6" xmlns:ns3="56b50f8d-715f-480a-838b-715664365a53" targetNamespace="http://schemas.microsoft.com/office/2006/metadata/properties" ma:root="true" ma:fieldsID="fca2d4002b9751db08dcbe4d29144a3f" ns2:_="" ns3:_="">
    <xsd:import namespace="88b0a0ff-d3b5-49df-8481-a9e681bdc8a6"/>
    <xsd:import namespace="56b50f8d-715f-480a-838b-715664365a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b0a0ff-d3b5-49df-8481-a9e681bdc8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073764d-e844-48d8-8cbc-d63b9d9528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50f8d-715f-480a-838b-715664365a5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158ff6b1-b036-4316-b274-01ca8d384497}" ma:internalName="TaxCatchAll" ma:showField="CatchAllData" ma:web="56b50f8d-715f-480a-838b-715664365a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1FCE0B-163E-4885-9228-6F21EEAE8497}">
  <ds:schemaRefs>
    <ds:schemaRef ds:uri="d40a990f-0aae-4c25-9c28-eaaf496ed2a5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f1f8a7e4-56c1-4563-85ae-320e346f1ca6"/>
    <ds:schemaRef ds:uri="http://schemas.microsoft.com/office/2006/metadata/properties"/>
    <ds:schemaRef ds:uri="http://www.w3.org/XML/1998/namespace"/>
    <ds:schemaRef ds:uri="http://purl.org/dc/dcmitype/"/>
    <ds:schemaRef ds:uri="56b50f8d-715f-480a-838b-715664365a53"/>
    <ds:schemaRef ds:uri="88b0a0ff-d3b5-49df-8481-a9e681bdc8a6"/>
  </ds:schemaRefs>
</ds:datastoreItem>
</file>

<file path=customXml/itemProps2.xml><?xml version="1.0" encoding="utf-8"?>
<ds:datastoreItem xmlns:ds="http://schemas.openxmlformats.org/officeDocument/2006/customXml" ds:itemID="{C57527D8-6F85-456C-AD90-B5FF6D7A1E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b0a0ff-d3b5-49df-8481-a9e681bdc8a6"/>
    <ds:schemaRef ds:uri="56b50f8d-715f-480a-838b-715664365a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8C2D47-8966-498E-811F-A1F66EDD0A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8564</TotalTime>
  <Words>4346</Words>
  <Application>Microsoft Macintosh PowerPoint</Application>
  <PresentationFormat>Custom</PresentationFormat>
  <Paragraphs>865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Aptos</vt:lpstr>
      <vt:lpstr>Arial</vt:lpstr>
      <vt:lpstr>Cambria Math</vt:lpstr>
      <vt:lpstr>Courier New</vt:lpstr>
      <vt:lpstr>IBM Plex Mono</vt:lpstr>
      <vt:lpstr>Lora</vt:lpstr>
      <vt:lpstr>Raleway</vt:lpstr>
      <vt:lpstr>Times</vt:lpstr>
      <vt:lpstr>McMaster Title and Closing Slides</vt:lpstr>
      <vt:lpstr>McMaster Main Slides - White</vt:lpstr>
      <vt:lpstr>McMaster Main Slides - Maroon</vt:lpstr>
      <vt:lpstr>Sequence Similarity &amp; Searching</vt:lpstr>
      <vt:lpstr>What questions can sequence analysis answer?</vt:lpstr>
      <vt:lpstr>Local vs global alignment</vt:lpstr>
      <vt:lpstr>Focusing on three methods</vt:lpstr>
      <vt:lpstr>Learning Objectives</vt:lpstr>
      <vt:lpstr>Basic Local Alignment Search Tool (BLAST)</vt:lpstr>
      <vt:lpstr>Basic Local Alignment Search Tool (BLAST)</vt:lpstr>
      <vt:lpstr>Basic Local Alignment Search Tool (BLAST)</vt:lpstr>
      <vt:lpstr>Basic Local Alignment Search Tool (BLAST)</vt:lpstr>
      <vt:lpstr>Basic Local Alignment Search Tool (BLAST)</vt:lpstr>
      <vt:lpstr>Basic Local Alignment Search Tool (BLAST)</vt:lpstr>
      <vt:lpstr>Basic Local Alignment Search Tool (BLAST)</vt:lpstr>
      <vt:lpstr>Basic Local Alignment Search Tool (BLAST)</vt:lpstr>
      <vt:lpstr>Basic Local Alignment Search Tool (BLAST)</vt:lpstr>
      <vt:lpstr>A High Scoring Pair (HSP) </vt:lpstr>
      <vt:lpstr>A High Scoring Pair (HSP) </vt:lpstr>
      <vt:lpstr>A High Scoring Pair (HSP) </vt:lpstr>
      <vt:lpstr>A High Scoring Pair (HSP) </vt:lpstr>
      <vt:lpstr>A High Scoring Pair (HSP) </vt:lpstr>
      <vt:lpstr>A High Scoring Pair (HSP) </vt:lpstr>
      <vt:lpstr>A High Scoring Pair (HSP) </vt:lpstr>
      <vt:lpstr>How does BLAST use physio-chemical properties?</vt:lpstr>
      <vt:lpstr>BLAST Programs</vt:lpstr>
      <vt:lpstr>BLAST Programs</vt:lpstr>
      <vt:lpstr>Importantly: BLAST is not Functional Biology</vt:lpstr>
      <vt:lpstr>Basic Local Alignment Search Tool (BLAST)</vt:lpstr>
      <vt:lpstr>Hidden Markov Models (HMMs)</vt:lpstr>
      <vt:lpstr>Hidden Markov Models (HMMs)</vt:lpstr>
      <vt:lpstr>A simple DNA HMM</vt:lpstr>
      <vt:lpstr>A simple DNA HMM</vt:lpstr>
      <vt:lpstr>A simple DNA HMM</vt:lpstr>
      <vt:lpstr>A simple DNA HMM</vt:lpstr>
      <vt:lpstr>A simple DNA HMM</vt:lpstr>
      <vt:lpstr>A simple DNA HMM</vt:lpstr>
      <vt:lpstr>A simple DNA HMM</vt:lpstr>
      <vt:lpstr>A simple DNA HMM</vt:lpstr>
      <vt:lpstr>A simple DNA HMM</vt:lpstr>
      <vt:lpstr>A simple DNA HMM</vt:lpstr>
      <vt:lpstr>Hidden Markov Models (HMMs)</vt:lpstr>
      <vt:lpstr>Hidden Markov Models (HMMs)</vt:lpstr>
      <vt:lpstr>Hidden Markov Models (HMMs)</vt:lpstr>
      <vt:lpstr>Pfam Iron Hydrogenase HMM</vt:lpstr>
      <vt:lpstr>Pfam Iron Hydrogenase HMM</vt:lpstr>
      <vt:lpstr>Pfam Iron Hydrogenase HMM</vt:lpstr>
      <vt:lpstr>Hidden Markov Models (HMMs)</vt:lpstr>
      <vt:lpstr>HMMs in Pfam/Hmmer</vt:lpstr>
      <vt:lpstr>HMMs in Pfam/Hmmer</vt:lpstr>
      <vt:lpstr>What about finding short sequences?</vt:lpstr>
      <vt:lpstr>What about finding short sequences?</vt:lpstr>
      <vt:lpstr>What about finding short sequences?</vt:lpstr>
      <vt:lpstr>Summary of sequence of analysis methods</vt:lpstr>
      <vt:lpstr>This week 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McMaster Brand PowerPoint Template</dc:title>
  <dc:creator>Blackwood, Jessica</dc:creator>
  <cp:lastModifiedBy>Katie Houlahan</cp:lastModifiedBy>
  <cp:revision>354</cp:revision>
  <dcterms:created xsi:type="dcterms:W3CDTF">2024-04-26T03:09:02Z</dcterms:created>
  <dcterms:modified xsi:type="dcterms:W3CDTF">2026-09-30T17:29:34Z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0x01010042A38F74C9162C478D8F165ED878BC5B</vt:lpwstr>
  </property>
  <property fmtid="{D5CDD505-2E9C-101B-9397-08002B2CF9AE}" pid="3" name="MediaServiceImageTags">
    <vt:lpwstr/>
  </property>
</Properties>
</file>