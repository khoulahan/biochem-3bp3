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6" r:id="rId5"/>
    <p:sldMasterId id="2147483706" r:id="rId6"/>
  </p:sldMasterIdLst>
  <p:notesMasterIdLst>
    <p:notesMasterId r:id="rId39"/>
  </p:notesMasterIdLst>
  <p:handoutMasterIdLst>
    <p:handoutMasterId r:id="rId40"/>
  </p:handoutMasterIdLst>
  <p:sldIdLst>
    <p:sldId id="354" r:id="rId7"/>
    <p:sldId id="407" r:id="rId8"/>
    <p:sldId id="436" r:id="rId9"/>
    <p:sldId id="891" r:id="rId10"/>
    <p:sldId id="890" r:id="rId11"/>
    <p:sldId id="892" r:id="rId12"/>
    <p:sldId id="893" r:id="rId13"/>
    <p:sldId id="894" r:id="rId14"/>
    <p:sldId id="895" r:id="rId15"/>
    <p:sldId id="896" r:id="rId16"/>
    <p:sldId id="897" r:id="rId17"/>
    <p:sldId id="898" r:id="rId18"/>
    <p:sldId id="903" r:id="rId19"/>
    <p:sldId id="900" r:id="rId20"/>
    <p:sldId id="901" r:id="rId21"/>
    <p:sldId id="902" r:id="rId22"/>
    <p:sldId id="904" r:id="rId23"/>
    <p:sldId id="905" r:id="rId24"/>
    <p:sldId id="906" r:id="rId25"/>
    <p:sldId id="907" r:id="rId26"/>
    <p:sldId id="908" r:id="rId27"/>
    <p:sldId id="909" r:id="rId28"/>
    <p:sldId id="911" r:id="rId29"/>
    <p:sldId id="910" r:id="rId30"/>
    <p:sldId id="912" r:id="rId31"/>
    <p:sldId id="913" r:id="rId32"/>
    <p:sldId id="914" r:id="rId33"/>
    <p:sldId id="915" r:id="rId34"/>
    <p:sldId id="916" r:id="rId35"/>
    <p:sldId id="917" r:id="rId36"/>
    <p:sldId id="918" r:id="rId37"/>
    <p:sldId id="888" r:id="rId38"/>
  </p:sldIdLst>
  <p:sldSz cx="20318413" cy="1143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99A"/>
    <a:srgbClr val="79003C"/>
    <a:srgbClr val="FC9F03"/>
    <a:srgbClr val="FFFFFF"/>
    <a:srgbClr val="AAD5E1"/>
    <a:srgbClr val="619E17"/>
    <a:srgbClr val="E98676"/>
    <a:srgbClr val="C9F2D2"/>
    <a:srgbClr val="0F0F0F"/>
    <a:srgbClr val="B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3" autoAdjust="0"/>
    <p:restoredTop sz="84300" autoAdjust="0"/>
  </p:normalViewPr>
  <p:slideViewPr>
    <p:cSldViewPr snapToGrid="0">
      <p:cViewPr>
        <p:scale>
          <a:sx n="60" d="100"/>
          <a:sy n="60" d="100"/>
        </p:scale>
        <p:origin x="296" y="232"/>
      </p:cViewPr>
      <p:guideLst/>
    </p:cSldViewPr>
  </p:slideViewPr>
  <p:outlineViewPr>
    <p:cViewPr>
      <p:scale>
        <a:sx n="33" d="100"/>
        <a:sy n="33" d="100"/>
      </p:scale>
      <p:origin x="0" y="-465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0DA959-37E2-B159-B57E-1B012B4102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38F0FA-E5FA-CCCF-F4EF-570FF78969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1241E-95D8-EC4C-8EC7-76F38C602C68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5F15B2-5D17-F689-1A9C-3BFDEA47A0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2D73E-1B3A-6498-7C9F-A873D37A66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90235-31B2-E542-BF3E-31322265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636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ABD9C-0A3D-664C-AB0E-EE362BB8958A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8D1B7-6E89-354E-B8CD-65073F1E3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419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761924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523848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2285771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3047695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3809619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4571543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5333467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6095390" algn="l" defTabSz="152384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742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477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55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D3066-1CBC-2ABB-285F-47C34DEFF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B94E7-02EF-63E7-1DCE-6DCF91683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4B68-556C-84D3-75F0-374A5F807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949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1C82F-D115-4DD3-8C9A-1414909D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555B2-56EB-C89B-14CB-E13B36FF2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7ABE2-4A81-C7B9-F659-4A8879DAA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33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F4119-C405-3F03-C710-37865F44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5FDA9-A7CB-4344-FC7E-BAF8740D4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B7A86-20EF-55BA-5D15-FC0D4B798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552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DA732-C9CC-E4CB-7D85-0F038BC0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53157-48A8-5DD5-C2E8-358E2F181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35BF7-DBEA-8646-D434-D24184CEE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85367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E7D39-138A-AF60-BEB4-38521F8A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0C963-FA5F-8794-B8C8-983BDE449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B4B95-CCE3-D8AD-CEC6-EA423949B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81726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76E0-4EEB-406A-2778-01C1287D4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46D2D-A334-8ED5-C46B-4C17E1DA5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AAF6D-EC2D-3521-DC5A-C613E3FFF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3546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FD97-F844-5C02-2980-059F76A7B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6D095-161E-1022-4B42-BC6641B6C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20DE1-6723-08CC-1DA3-4A252DE12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2038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8C692-D1A6-485E-A0DE-FA7CBB44F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F7630-F4E9-9C9B-CC39-DC15E2533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31A93-9E82-48D7-76B6-A00EB71C8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long as one read is from a non-repeat region, it will constrain mate-pair to </a:t>
            </a:r>
            <a:r>
              <a:rPr lang="en-US" dirty="0" err="1"/>
              <a:t>seembly</a:t>
            </a:r>
            <a:r>
              <a:rPr lang="en-US" dirty="0"/>
              <a:t> nearly in the genome</a:t>
            </a:r>
          </a:p>
        </p:txBody>
      </p:sp>
    </p:spTree>
    <p:extLst>
      <p:ext uri="{BB962C8B-B14F-4D97-AF65-F5344CB8AC3E}">
        <p14:creationId xmlns:p14="http://schemas.microsoft.com/office/powerpoint/2010/main" val="1187213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75631-D44E-9543-3377-933B6B8F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5A858-9DE6-B4D4-C148-DC96458E2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18864-7E20-CA31-016C-D94F304E9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108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ED12B-E1EF-100C-7A59-A5A111FE8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B6CA7-F535-E8C6-450D-C668F4543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D84148-0145-BED9-137C-FEEA50778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9058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92A74-FEB3-C774-A6BE-3D6E3EDED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52C3B-AA84-150E-1C21-E8BA79D7D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AA04B-612C-5B55-67F0-3DB310B50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925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DF28B-BE7B-3A35-3FB0-A0BD778D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215D9-7512-D2F9-8F52-4FD1E8760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E799D-F95B-5CE0-B913-E58950766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3452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9CFB3-A98B-2AA2-AFF1-FD954724A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FFEEB-DB79-A458-CE0C-BBE8AD139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2315F-DC54-D604-DAE8-466D3DD2A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38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64FAC-8B5F-F13A-895D-75E98BC5D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F1B32-7C1C-66DE-AEF3-552F001EA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CE3DE-1904-BDEA-3228-61B4C940E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9875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B1A0E-E31B-BF71-B6B4-C064E67A6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3BAE3-ABE6-98A7-B0BB-4CFC65500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08866-B607-4D8C-518A-88772F219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3739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0F541-905C-96ED-052A-72BDBB20C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D2A30E-F9DD-A3E3-10C8-8A3CD3E27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6BD07-EAF7-975C-BB2B-7835E9696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7135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05A9B-1C31-84E8-1533-EFE65F58A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467E3-14A3-B9CD-AF64-C53334CB7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0F28E-3EA1-33F3-1DAD-C28C751F0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474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C3795-982D-9AEC-2F20-E3CBFC025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5F0AC-298B-74A6-33A6-775AA4FCC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0187B-8028-FCD4-6BF7-F6D38097D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9483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88073-45FC-32C9-6C47-0F549FEDF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FC9B5-7521-3248-2828-86026D546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7F157-BB76-0448-1A68-99E420455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4875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CD67-1A53-1B65-1552-EABA4EEDA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DD602-5CDF-41B3-5F93-E8668309B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102DF-11D3-917F-4BEB-CB2CF391F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3971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B69E7-6528-8207-AACF-438ECCBF5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8A0A3-460B-B362-540E-F87519A7E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E8A5F-E95B-1C07-E203-A40932FC9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3806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A10C7-4237-4C0E-591F-75B00851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4342F7-A2BE-3FDF-4F53-84A78592B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75315-A36D-AD1A-527C-DC8DF5415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8517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70E9A-A598-F1D1-FC78-43CCAD31B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D5DD4-29EC-589D-ECC2-F3225CE49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02112-8B88-882E-A29D-395AF9A08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1469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15C09-30E9-C3BD-E09F-D55DBC73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C3407-30B8-4E78-7126-52E12AA17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C1853-0201-BC45-CB0B-438180787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7361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3D960-1E4D-0C48-31FF-B40B0D47D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E1607-98D8-A3DC-D51B-C561B6AEA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3F2DD-3FD9-74DF-B50A-EC519B82F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775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C88E4-7522-9E6E-BBAE-EB161451C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BC125-079E-C398-CCCB-BE1080E1D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408D32-3395-FBDA-E242-328C5C48F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9294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F7F31-E075-08A7-DDFF-3B279CF2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673E7-CDCC-5E17-B1F8-2C65F6221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1EF14-E32F-2288-FBD1-EF3634274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8609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3343-0468-375A-31D9-498CAC1D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D05C1-64D4-E273-916B-5449EE2B7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737B8-8956-208E-4A47-1812E89D8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560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A353B-72FC-772E-75C8-BB130AC7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76540-E27E-164B-9D4D-76AB0B5FA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4521C-3F13-22F0-7F5C-865D62A3D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898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c - White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42D8E614-B579-0AD0-A166-3C3C659AA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8150" y="458787"/>
            <a:ext cx="19442113" cy="88931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Insert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accent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1291" y="9811422"/>
            <a:ext cx="82785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1291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40" descr="McMaster Brighter World Logo">
            <a:extLst>
              <a:ext uri="{FF2B5EF4-FFF2-40B4-BE49-F238E27FC236}">
                <a16:creationId xmlns:a16="http://schemas.microsoft.com/office/drawing/2014/main" id="{46D95FE9-F714-B0F4-63D2-8EE8C6CDC6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20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c - White Border -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42D8E614-B579-0AD0-A166-3C3C659AA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8150" y="458787"/>
            <a:ext cx="19442113" cy="88931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Insert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1291" y="9811422"/>
            <a:ext cx="82785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1291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40" descr="McMaster Brighter World Logo">
            <a:extLst>
              <a:ext uri="{FF2B5EF4-FFF2-40B4-BE49-F238E27FC236}">
                <a16:creationId xmlns:a16="http://schemas.microsoft.com/office/drawing/2014/main" id="{46D95FE9-F714-B0F4-63D2-8EE8C6CDC6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36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-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20318413" cy="93519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accent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1291" y="9811422"/>
            <a:ext cx="82785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1291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40" descr="McMaster Brighter World Logo">
            <a:extLst>
              <a:ext uri="{FF2B5EF4-FFF2-40B4-BE49-F238E27FC236}">
                <a16:creationId xmlns:a16="http://schemas.microsoft.com/office/drawing/2014/main" id="{46D95FE9-F714-B0F4-63D2-8EE8C6CDC6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53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b - Full Bleed -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20318413" cy="93519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1291" y="9811422"/>
            <a:ext cx="82785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1291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40" descr="McMaster Brighter World Logo">
            <a:extLst>
              <a:ext uri="{FF2B5EF4-FFF2-40B4-BE49-F238E27FC236}">
                <a16:creationId xmlns:a16="http://schemas.microsoft.com/office/drawing/2014/main" id="{46D95FE9-F714-B0F4-63D2-8EE8C6CDC6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1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 - Full Bleed w/ Maroon - Black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20318413" cy="93519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tx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1291" y="9811422"/>
            <a:ext cx="82785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1291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5" name="Picture 40" descr="McMaster Brighter World Logo">
            <a:extLst>
              <a:ext uri="{FF2B5EF4-FFF2-40B4-BE49-F238E27FC236}">
                <a16:creationId xmlns:a16="http://schemas.microsoft.com/office/drawing/2014/main" id="{8B657A84-7865-9E08-DA84-CCEB6051D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7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b - Full Bleed w/ Maroon - White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20318413" cy="93519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291" y="1870606"/>
            <a:ext cx="5486400" cy="3936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Click to add featured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291" y="6003397"/>
            <a:ext cx="5486400" cy="27596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1291" y="9811422"/>
            <a:ext cx="82785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1291" y="1022173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5" name="Picture 40" descr="McMaster Brighter World Logo">
            <a:extLst>
              <a:ext uri="{FF2B5EF4-FFF2-40B4-BE49-F238E27FC236}">
                <a16:creationId xmlns:a16="http://schemas.microsoft.com/office/drawing/2014/main" id="{8B657A84-7865-9E08-DA84-CCEB6051D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5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 -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EBE3D3-D3BA-6C66-0F60-CE45C9A80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151429" y="0"/>
            <a:ext cx="6166984" cy="1143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37">
            <a:extLst>
              <a:ext uri="{FF2B5EF4-FFF2-40B4-BE49-F238E27FC236}">
                <a16:creationId xmlns:a16="http://schemas.microsoft.com/office/drawing/2014/main" id="{7BC0CDB4-B309-664E-5317-16C741F0DC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1" y="0"/>
            <a:ext cx="14149846" cy="114299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49846" y="430098"/>
            <a:ext cx="5730418" cy="919279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1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Thank you!</a:t>
            </a:r>
            <a:endParaRPr lang="en-US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32809" y="1678778"/>
            <a:ext cx="4620954" cy="9192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E541934F-CE61-AF06-06B6-6B15C0576F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32808" y="2948782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699EA757-CAA9-604E-B8EB-425B15B58B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32808" y="3456783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E2AFE52A-5C16-C9BE-79D6-EF38DEE4F4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32808" y="5162206"/>
            <a:ext cx="4620955" cy="91927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C654BE1F-9059-4847-3B90-768A01CA4D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832808" y="6432210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CEF91EF5-F25E-E06D-1B3A-B79517D708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832808" y="6940211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24314" y="8617342"/>
            <a:ext cx="4620955" cy="317989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6" name="Picture 40" descr="McMaster Brighter World Logo">
            <a:extLst>
              <a:ext uri="{FF2B5EF4-FFF2-40B4-BE49-F238E27FC236}">
                <a16:creationId xmlns:a16="http://schemas.microsoft.com/office/drawing/2014/main" id="{90F3F9D5-D4DD-F94C-8A0C-628AE1FDC5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824314" y="9477212"/>
            <a:ext cx="4447579" cy="141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93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 - 2 Column w/ Media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152384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marR="0" indent="0" algn="l" defTabSz="1523848" rtl="0" eaLnBrk="1" fontAlgn="auto" latinLnBrk="0" hangingPunct="1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 dirty="0"/>
              <a:t>Subtitle goes here on 1 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B14DC-23EE-FBE4-6AE9-EC06E3E5F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0522227" y="2584174"/>
            <a:ext cx="9358035" cy="6864625"/>
          </a:xfrm>
          <a:prstGeom prst="rect">
            <a:avLst/>
          </a:prstGeom>
        </p:spPr>
        <p:txBody>
          <a:bodyPr/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6AFD4D6-CC7D-9D99-DF02-F294BC8603E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B5A15BD-FD3B-A9EB-7651-4C15CB2C1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33B25B5-1522-E269-6B4D-E80F42610E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44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b - 2 Column w/ Media Left - No Header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0522227" y="2584174"/>
            <a:ext cx="9358035" cy="6864625"/>
          </a:xfrm>
          <a:prstGeom prst="rect">
            <a:avLst/>
          </a:prstGeom>
        </p:spPr>
        <p:txBody>
          <a:bodyPr/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F6AF12-7C41-8BE1-F0D0-29655407E7C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B6DC690-5E0E-28AC-904A-0B078C570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704A5E-F49B-B7F5-E918-A733AE8352D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85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 -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23054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081330-5A28-E4D0-9326-FCD3C8A30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142229-C23E-F804-341D-00160009F1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A262C7-63EC-2138-A464-D796BD3325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0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 - 2 Column Text w/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9719213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9719213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1015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58413" y="1"/>
            <a:ext cx="10160000" cy="94487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55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3 - 2 Column Text w/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9719213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9719213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1015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58413" y="0"/>
            <a:ext cx="10160000" cy="10332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84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 - 2 Column Text w/ Cen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42E8FF69-497B-08CB-9F38-1BCA485AFF8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9200" y="2044800"/>
            <a:ext cx="19443600" cy="3668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9200" y="6267600"/>
            <a:ext cx="9356400" cy="3178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23054" y="6267600"/>
            <a:ext cx="9356400" cy="3178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C4680B1-AE53-6408-584D-F76A8EC342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33BE9F3-3CB4-B281-8CBC-1E004A930F24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4B0961-0CB2-24FD-9EAE-6C1840B6257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70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 - 2 Column Text w/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6598A0-1819-47B7-56E3-087533491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8238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A568A2-3656-239A-0EB8-2314D9BBC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238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01051A9-1F5E-DEBC-460B-258E832421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276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735E75-8212-0D61-84DB-AE4D33228E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76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BC00321-3268-8722-0F55-D1C85C839A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808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D5EB2A8-58F4-5BEB-91C4-7F4F8DCC3C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808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F8063C6-D03F-C455-1413-9CCA72A1C4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08E00E7-D5F9-B47F-C0D8-1415DF8F4E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BB54C7-E8D3-B532-0BB1-8F94C0116B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87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6 - Header w/ Open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DC5996-BDFE-55CD-CC8A-FA042955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D068AA-C0B4-024E-F068-CFC63BC5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C64306-DF1D-0001-7737-CA0C49A4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84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7 - 2 Line Title w/ Copy and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7203600" cy="1472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up to 2 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2185200"/>
            <a:ext cx="7203600" cy="9432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257828"/>
            <a:ext cx="857056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3535200"/>
            <a:ext cx="7203600" cy="5914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70563" y="0"/>
            <a:ext cx="11747850" cy="9448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41E1458-C432-DACF-1B77-6F0178924C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838F34-5806-14A7-4D13-6E52C51997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34D9D2-1CEF-12A6-591D-6FCA71B739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54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8 - 2 Line Title w/ Copy and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1F801B-42A4-D1DC-A330-C73B427D2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20349275" cy="9448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18400" y="457200"/>
            <a:ext cx="7203600" cy="1472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up to 2 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18400" y="2185200"/>
            <a:ext cx="7203600" cy="9432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218400" y="3535200"/>
            <a:ext cx="7203600" cy="53712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747850" y="3257828"/>
            <a:ext cx="857056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79200" cy="9448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F526E81-2B2E-2FBE-FBEE-7993015DEE3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424CF3-DC6A-ACF4-BCC0-6999BB1E562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3BC796C-F05B-6EF0-6DA8-13A9D6314B0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74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0 - Divider Slide w/ 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312DC6C-470B-EF98-6369-AEF7DDD3AB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20318413" cy="94487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5200" y="3567599"/>
            <a:ext cx="5202000" cy="20196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spcAft>
                <a:spcPts val="1000"/>
              </a:spcAft>
              <a:defRPr sz="4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2 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15200" y="5799600"/>
            <a:ext cx="5202000" cy="1472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1B45CF-F80F-AF1A-BB60-5E7615EB2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576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1 - Lo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D0E6DC-510A-EBC0-7914-5C71A187FBCA}"/>
              </a:ext>
            </a:extLst>
          </p:cNvPr>
          <p:cNvSpPr/>
          <p:nvPr userDrawn="1"/>
        </p:nvSpPr>
        <p:spPr>
          <a:xfrm>
            <a:off x="0" y="0"/>
            <a:ext cx="20349275" cy="9513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7171CFEA-ADB1-7172-2C62-962AE5CDA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5199" y="3908412"/>
            <a:ext cx="3639227" cy="407711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endParaRPr lang="en-US"/>
          </a:p>
        </p:txBody>
      </p:sp>
      <p:pic>
        <p:nvPicPr>
          <p:cNvPr id="7" name="Graphic 6" descr="McMaster Logo">
            <a:extLst>
              <a:ext uri="{FF2B5EF4-FFF2-40B4-BE49-F238E27FC236}">
                <a16:creationId xmlns:a16="http://schemas.microsoft.com/office/drawing/2014/main" id="{BC6B77CC-80A6-A4BE-B798-980684DAAF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200" y="1990874"/>
            <a:ext cx="2683078" cy="141347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5AFAE97-2643-BCF4-8E70-DEE90AE46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23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0" userDrawn="1">
          <p15:clr>
            <a:srgbClr val="FBAE40"/>
          </p15:clr>
        </p15:guide>
        <p15:guide id="2" pos="639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2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1"/>
            <a:ext cx="20318413" cy="95313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2334708"/>
            <a:ext cx="13337750" cy="4861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Brighter World Logo">
            <a:extLst>
              <a:ext uri="{FF2B5EF4-FFF2-40B4-BE49-F238E27FC236}">
                <a16:creationId xmlns:a16="http://schemas.microsoft.com/office/drawing/2014/main" id="{6088992C-5070-6F90-0520-CEBA8C9E48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0917" y="5959405"/>
            <a:ext cx="1090083" cy="7396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7033470"/>
            <a:ext cx="13339334" cy="1597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95200" y="3477600"/>
            <a:ext cx="5367600" cy="428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5200" y="4194000"/>
            <a:ext cx="5367600" cy="536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96355" y="4868458"/>
            <a:ext cx="5366302" cy="53639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 b="0">
                <a:solidFill>
                  <a:schemeClr val="accent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70752" y="3077188"/>
            <a:ext cx="3257370" cy="3256121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729165" y="2722713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3000" b="1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29165" y="3277327"/>
            <a:ext cx="5366302" cy="285584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 userDrawn="1"/>
        </p:nvSpPr>
        <p:spPr>
          <a:xfrm>
            <a:off x="11729165" y="6425952"/>
            <a:ext cx="318541" cy="317588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57494" y="6423101"/>
            <a:ext cx="4937973" cy="3204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1B45CF-F80F-AF1A-BB60-5E7615EB2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17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2b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1"/>
            <a:ext cx="20318413" cy="95313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2334708"/>
            <a:ext cx="13337750" cy="4861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7033470"/>
            <a:ext cx="13339334" cy="1597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95200" y="3740400"/>
            <a:ext cx="5367600" cy="428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5200" y="4453200"/>
            <a:ext cx="5367600" cy="536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96355" y="5130000"/>
            <a:ext cx="5366302" cy="53639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 b="0">
                <a:solidFill>
                  <a:schemeClr val="accent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70752" y="3077188"/>
            <a:ext cx="3257370" cy="3256121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729165" y="2722713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30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29165" y="3277327"/>
            <a:ext cx="5366302" cy="285584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 userDrawn="1"/>
        </p:nvSpPr>
        <p:spPr>
          <a:xfrm>
            <a:off x="11729165" y="6425952"/>
            <a:ext cx="318541" cy="317588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57494" y="6423101"/>
            <a:ext cx="4937973" cy="3204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1B45CF-F80F-AF1A-BB60-5E7615EB2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263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2c - Research Toolk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1"/>
            <a:ext cx="20318413" cy="11430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2334708"/>
            <a:ext cx="13337750" cy="4861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4366" y="7033470"/>
            <a:ext cx="13339334" cy="1597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95200" y="3740400"/>
            <a:ext cx="5367600" cy="428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28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5200" y="4453200"/>
            <a:ext cx="5367600" cy="536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96355" y="5130000"/>
            <a:ext cx="5366302" cy="53639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 b="0">
                <a:solidFill>
                  <a:schemeClr val="accent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70752" y="3077188"/>
            <a:ext cx="3257370" cy="3256121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729165" y="2722713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30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29165" y="3277327"/>
            <a:ext cx="5366302" cy="285584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 userDrawn="1"/>
        </p:nvSpPr>
        <p:spPr>
          <a:xfrm>
            <a:off x="11729165" y="6425952"/>
            <a:ext cx="318541" cy="317588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57494" y="6423101"/>
            <a:ext cx="4937973" cy="3204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pic>
        <p:nvPicPr>
          <p:cNvPr id="7" name="Picture 23" descr="McMaster Brighter World Logo">
            <a:extLst>
              <a:ext uri="{FF2B5EF4-FFF2-40B4-BE49-F238E27FC236}">
                <a16:creationId xmlns:a16="http://schemas.microsoft.com/office/drawing/2014/main" id="{B886DC2B-3B2A-B4AF-7BE5-DAE93C15A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82503" y="8319738"/>
            <a:ext cx="4951820" cy="156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863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3 - Ac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EE1B7CD-0550-9778-6253-DE4A8D2ED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51" t="15144" r="8891" b="1540"/>
          <a:stretch/>
        </p:blipFill>
        <p:spPr>
          <a:xfrm>
            <a:off x="-1" y="0"/>
            <a:ext cx="20318414" cy="9531350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A7BB90D-A41D-6932-4520-14D86810EE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2748271"/>
            <a:ext cx="6117336" cy="537667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Rectangle highlight</a:t>
            </a:r>
            <a:endParaRPr lang="en-CA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A23405D-EFFB-E3F3-AC3A-44BA675100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150" y="6037263"/>
            <a:ext cx="4810502" cy="1712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/>
            </a:lvl1pPr>
          </a:lstStyle>
          <a:p>
            <a:pPr lvl="0"/>
            <a:r>
              <a:rPr lang="en-US" dirty="0"/>
              <a:t>Subtitle here</a:t>
            </a:r>
            <a:endParaRPr lang="en-CA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26023E83-F8BF-D356-50B1-5B29104D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1" y="3091543"/>
            <a:ext cx="4810501" cy="2570952"/>
          </a:xfrm>
          <a:prstGeom prst="rect">
            <a:avLst/>
          </a:prstGeom>
        </p:spPr>
        <p:txBody>
          <a:bodyPr anchor="b"/>
          <a:lstStyle>
            <a:lvl1pPr>
              <a:defRPr sz="4800" b="1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603473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4 - Proud to 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B14DC-23EE-FBE4-6AE9-EC06E3E5F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574" y="2584175"/>
            <a:ext cx="8583613" cy="58550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2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tx1"/>
                </a:solidFill>
              </a:defRPr>
            </a:lvl5pPr>
          </a:lstStyle>
          <a:p>
            <a:r>
              <a:rPr lang="en-US" sz="3200"/>
              <a:t>Top 40 in the world for Global Impact</a:t>
            </a:r>
            <a:r>
              <a:rPr lang="en-US" sz="3200" baseline="30000"/>
              <a:t>*</a:t>
            </a:r>
            <a:endParaRPr lang="en-US" sz="3200"/>
          </a:p>
          <a:p>
            <a:r>
              <a:rPr lang="en-US" sz="3200"/>
              <a:t>Ranked among the top</a:t>
            </a:r>
            <a:r>
              <a:rPr lang="en-US" sz="3200" baseline="30000"/>
              <a:t>‡</a:t>
            </a:r>
            <a:r>
              <a:rPr lang="en-US" sz="3200"/>
              <a:t> 100 universities</a:t>
            </a:r>
          </a:p>
          <a:p>
            <a:r>
              <a:rPr lang="en-US" sz="3200"/>
              <a:t>1st in North America for SDG 3 Good Health and Well-Being</a:t>
            </a:r>
            <a:r>
              <a:rPr lang="en-US" sz="3200" baseline="30000"/>
              <a:t>*</a:t>
            </a:r>
            <a:endParaRPr lang="en-US" sz="3200"/>
          </a:p>
          <a:p>
            <a:r>
              <a:rPr lang="en-US" sz="3200"/>
              <a:t>Top 40 in the world for Clinical and Health</a:t>
            </a:r>
            <a:r>
              <a:rPr lang="en-US" sz="3200" baseline="30000"/>
              <a:t>*</a:t>
            </a:r>
            <a:endParaRPr lang="en-US" sz="3200"/>
          </a:p>
          <a:p>
            <a:r>
              <a:rPr lang="en-US" sz="3200"/>
              <a:t>One of Canada's most research-intensive universities</a:t>
            </a:r>
            <a:r>
              <a:rPr lang="en-US" sz="3200" baseline="30000"/>
              <a:t>†</a:t>
            </a:r>
            <a:endParaRPr lang="en-US" sz="3200"/>
          </a:p>
          <a:p>
            <a:r>
              <a:rPr lang="en-US" sz="3200"/>
              <a:t>1st in the world for industry impact</a:t>
            </a:r>
            <a:r>
              <a:rPr lang="en-US" sz="3200" baseline="30000"/>
              <a:t>*</a:t>
            </a:r>
            <a:endParaRPr lang="en-US" sz="3200"/>
          </a:p>
          <a:p>
            <a:r>
              <a:rPr lang="en-US" sz="3200"/>
              <a:t>1st in Canada and 75th in the world for Research Quality</a:t>
            </a:r>
            <a:r>
              <a:rPr lang="en-US" sz="3200" baseline="30000"/>
              <a:t>*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154B38-5333-5F65-5C42-90405DD17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5731" y="2700077"/>
            <a:ext cx="302535" cy="380498"/>
            <a:chOff x="2798862" y="7372220"/>
            <a:chExt cx="800273" cy="100650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2AD7E24-1C23-EC62-E657-C4A09338A9E5}"/>
                </a:ext>
              </a:extLst>
            </p:cNvPr>
            <p:cNvGrpSpPr/>
            <p:nvPr/>
          </p:nvGrpSpPr>
          <p:grpSpPr>
            <a:xfrm>
              <a:off x="2935855" y="7385477"/>
              <a:ext cx="662406" cy="668507"/>
              <a:chOff x="2935855" y="7385477"/>
              <a:chExt cx="662406" cy="668507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23509ACE-1B6A-84E5-E179-D715B1E32F7E}"/>
                  </a:ext>
                </a:extLst>
              </p:cNvPr>
              <p:cNvSpPr/>
              <p:nvPr/>
            </p:nvSpPr>
            <p:spPr>
              <a:xfrm>
                <a:off x="2935855" y="7390715"/>
                <a:ext cx="259670" cy="260668"/>
              </a:xfrm>
              <a:custGeom>
                <a:avLst/>
                <a:gdLst>
                  <a:gd name="connsiteX0" fmla="*/ 97269 w 259670"/>
                  <a:gd name="connsiteY0" fmla="*/ 260668 h 260668"/>
                  <a:gd name="connsiteX1" fmla="*/ 10190 w 259670"/>
                  <a:gd name="connsiteY1" fmla="*/ 235031 h 260668"/>
                  <a:gd name="connsiteX2" fmla="*/ 3564 w 259670"/>
                  <a:gd name="connsiteY2" fmla="*/ 205595 h 260668"/>
                  <a:gd name="connsiteX3" fmla="*/ 32906 w 259670"/>
                  <a:gd name="connsiteY3" fmla="*/ 198948 h 260668"/>
                  <a:gd name="connsiteX4" fmla="*/ 181508 w 259670"/>
                  <a:gd name="connsiteY4" fmla="*/ 181857 h 260668"/>
                  <a:gd name="connsiteX5" fmla="*/ 198545 w 259670"/>
                  <a:gd name="connsiteY5" fmla="*/ 32780 h 260668"/>
                  <a:gd name="connsiteX6" fmla="*/ 205171 w 259670"/>
                  <a:gd name="connsiteY6" fmla="*/ 3345 h 260668"/>
                  <a:gd name="connsiteX7" fmla="*/ 234512 w 259670"/>
                  <a:gd name="connsiteY7" fmla="*/ 9991 h 260668"/>
                  <a:gd name="connsiteX8" fmla="*/ 211796 w 259670"/>
                  <a:gd name="connsiteY8" fmla="*/ 212242 h 260668"/>
                  <a:gd name="connsiteX9" fmla="*/ 97269 w 259670"/>
                  <a:gd name="connsiteY9" fmla="*/ 260668 h 260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9670" h="260668">
                    <a:moveTo>
                      <a:pt x="97269" y="260668"/>
                    </a:moveTo>
                    <a:cubicBezTo>
                      <a:pt x="66980" y="260668"/>
                      <a:pt x="37639" y="252122"/>
                      <a:pt x="10190" y="235031"/>
                    </a:cubicBezTo>
                    <a:cubicBezTo>
                      <a:pt x="-222" y="228384"/>
                      <a:pt x="-3061" y="215091"/>
                      <a:pt x="3564" y="205595"/>
                    </a:cubicBezTo>
                    <a:cubicBezTo>
                      <a:pt x="10190" y="195150"/>
                      <a:pt x="23441" y="192302"/>
                      <a:pt x="32906" y="198948"/>
                    </a:cubicBezTo>
                    <a:cubicBezTo>
                      <a:pt x="80231" y="229334"/>
                      <a:pt x="141755" y="221737"/>
                      <a:pt x="181508" y="181857"/>
                    </a:cubicBezTo>
                    <a:cubicBezTo>
                      <a:pt x="221261" y="141977"/>
                      <a:pt x="227887" y="80257"/>
                      <a:pt x="198545" y="32780"/>
                    </a:cubicBezTo>
                    <a:cubicBezTo>
                      <a:pt x="191920" y="22335"/>
                      <a:pt x="195706" y="9042"/>
                      <a:pt x="205171" y="3345"/>
                    </a:cubicBezTo>
                    <a:cubicBezTo>
                      <a:pt x="215582" y="-3302"/>
                      <a:pt x="228833" y="496"/>
                      <a:pt x="234512" y="9991"/>
                    </a:cubicBezTo>
                    <a:cubicBezTo>
                      <a:pt x="275212" y="74560"/>
                      <a:pt x="265747" y="158119"/>
                      <a:pt x="211796" y="212242"/>
                    </a:cubicBezTo>
                    <a:cubicBezTo>
                      <a:pt x="180561" y="243577"/>
                      <a:pt x="139862" y="260668"/>
                      <a:pt x="97269" y="260668"/>
                    </a:cubicBezTo>
                    <a:close/>
                  </a:path>
                </a:pathLst>
              </a:custGeom>
              <a:solidFill>
                <a:srgbClr val="7A003C"/>
              </a:solidFill>
              <a:ln w="94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2B80284B-C348-B1AF-7CEB-18AC4A756C78}"/>
                  </a:ext>
                </a:extLst>
              </p:cNvPr>
              <p:cNvSpPr/>
              <p:nvPr/>
            </p:nvSpPr>
            <p:spPr>
              <a:xfrm>
                <a:off x="2951960" y="7741588"/>
                <a:ext cx="331678" cy="312396"/>
              </a:xfrm>
              <a:custGeom>
                <a:avLst/>
                <a:gdLst>
                  <a:gd name="connsiteX0" fmla="*/ 296967 w 331678"/>
                  <a:gd name="connsiteY0" fmla="*/ 312396 h 312396"/>
                  <a:gd name="connsiteX1" fmla="*/ 291288 w 331678"/>
                  <a:gd name="connsiteY1" fmla="*/ 311447 h 312396"/>
                  <a:gd name="connsiteX2" fmla="*/ 277091 w 331678"/>
                  <a:gd name="connsiteY2" fmla="*/ 284860 h 312396"/>
                  <a:gd name="connsiteX3" fmla="*/ 285609 w 331678"/>
                  <a:gd name="connsiteY3" fmla="*/ 256374 h 312396"/>
                  <a:gd name="connsiteX4" fmla="*/ 278984 w 331678"/>
                  <a:gd name="connsiteY4" fmla="*/ 206998 h 312396"/>
                  <a:gd name="connsiteX5" fmla="*/ 237337 w 331678"/>
                  <a:gd name="connsiteY5" fmla="*/ 179462 h 312396"/>
                  <a:gd name="connsiteX6" fmla="*/ 170135 w 331678"/>
                  <a:gd name="connsiteY6" fmla="*/ 86407 h 312396"/>
                  <a:gd name="connsiteX7" fmla="*/ 159723 w 331678"/>
                  <a:gd name="connsiteY7" fmla="*/ 54123 h 312396"/>
                  <a:gd name="connsiteX8" fmla="*/ 106719 w 331678"/>
                  <a:gd name="connsiteY8" fmla="*/ 54123 h 312396"/>
                  <a:gd name="connsiteX9" fmla="*/ 36677 w 331678"/>
                  <a:gd name="connsiteY9" fmla="*/ 124389 h 312396"/>
                  <a:gd name="connsiteX10" fmla="*/ 6389 w 331678"/>
                  <a:gd name="connsiteY10" fmla="*/ 124389 h 312396"/>
                  <a:gd name="connsiteX11" fmla="*/ 6389 w 331678"/>
                  <a:gd name="connsiteY11" fmla="*/ 94004 h 312396"/>
                  <a:gd name="connsiteX12" fmla="*/ 76431 w 331678"/>
                  <a:gd name="connsiteY12" fmla="*/ 23738 h 312396"/>
                  <a:gd name="connsiteX13" fmla="*/ 133221 w 331678"/>
                  <a:gd name="connsiteY13" fmla="*/ 0 h 312396"/>
                  <a:gd name="connsiteX14" fmla="*/ 190012 w 331678"/>
                  <a:gd name="connsiteY14" fmla="*/ 23738 h 312396"/>
                  <a:gd name="connsiteX15" fmla="*/ 212728 w 331678"/>
                  <a:gd name="connsiteY15" fmla="*/ 92105 h 312396"/>
                  <a:gd name="connsiteX16" fmla="*/ 244909 w 331678"/>
                  <a:gd name="connsiteY16" fmla="*/ 135783 h 312396"/>
                  <a:gd name="connsiteX17" fmla="*/ 315898 w 331678"/>
                  <a:gd name="connsiteY17" fmla="*/ 183260 h 312396"/>
                  <a:gd name="connsiteX18" fmla="*/ 327256 w 331678"/>
                  <a:gd name="connsiteY18" fmla="*/ 268718 h 312396"/>
                  <a:gd name="connsiteX19" fmla="*/ 318737 w 331678"/>
                  <a:gd name="connsiteY19" fmla="*/ 297204 h 312396"/>
                  <a:gd name="connsiteX20" fmla="*/ 296967 w 331678"/>
                  <a:gd name="connsiteY20" fmla="*/ 312396 h 312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1678" h="312396">
                    <a:moveTo>
                      <a:pt x="296967" y="312396"/>
                    </a:moveTo>
                    <a:cubicBezTo>
                      <a:pt x="295074" y="312396"/>
                      <a:pt x="293181" y="312396"/>
                      <a:pt x="291288" y="311447"/>
                    </a:cubicBezTo>
                    <a:cubicBezTo>
                      <a:pt x="279930" y="307649"/>
                      <a:pt x="273305" y="296254"/>
                      <a:pt x="277091" y="284860"/>
                    </a:cubicBezTo>
                    <a:lnTo>
                      <a:pt x="285609" y="256374"/>
                    </a:lnTo>
                    <a:cubicBezTo>
                      <a:pt x="290342" y="239282"/>
                      <a:pt x="288449" y="221241"/>
                      <a:pt x="278984" y="206998"/>
                    </a:cubicBezTo>
                    <a:cubicBezTo>
                      <a:pt x="269519" y="191806"/>
                      <a:pt x="254374" y="182310"/>
                      <a:pt x="237337" y="179462"/>
                    </a:cubicBezTo>
                    <a:cubicBezTo>
                      <a:pt x="193798" y="171865"/>
                      <a:pt x="163510" y="131036"/>
                      <a:pt x="170135" y="86407"/>
                    </a:cubicBezTo>
                    <a:cubicBezTo>
                      <a:pt x="172028" y="75013"/>
                      <a:pt x="168242" y="62669"/>
                      <a:pt x="159723" y="54123"/>
                    </a:cubicBezTo>
                    <a:cubicBezTo>
                      <a:pt x="145526" y="39880"/>
                      <a:pt x="120917" y="39880"/>
                      <a:pt x="106719" y="54123"/>
                    </a:cubicBezTo>
                    <a:lnTo>
                      <a:pt x="36677" y="124389"/>
                    </a:lnTo>
                    <a:cubicBezTo>
                      <a:pt x="28159" y="132935"/>
                      <a:pt x="14908" y="132935"/>
                      <a:pt x="6389" y="124389"/>
                    </a:cubicBezTo>
                    <a:cubicBezTo>
                      <a:pt x="-2130" y="115843"/>
                      <a:pt x="-2130" y="102550"/>
                      <a:pt x="6389" y="94004"/>
                    </a:cubicBezTo>
                    <a:lnTo>
                      <a:pt x="76431" y="23738"/>
                    </a:lnTo>
                    <a:cubicBezTo>
                      <a:pt x="91575" y="8546"/>
                      <a:pt x="111451" y="0"/>
                      <a:pt x="133221" y="0"/>
                    </a:cubicBezTo>
                    <a:cubicBezTo>
                      <a:pt x="154991" y="0"/>
                      <a:pt x="174868" y="8546"/>
                      <a:pt x="190012" y="23738"/>
                    </a:cubicBezTo>
                    <a:cubicBezTo>
                      <a:pt x="207995" y="41779"/>
                      <a:pt x="216514" y="67417"/>
                      <a:pt x="212728" y="92105"/>
                    </a:cubicBezTo>
                    <a:cubicBezTo>
                      <a:pt x="209888" y="112994"/>
                      <a:pt x="224086" y="132935"/>
                      <a:pt x="244909" y="135783"/>
                    </a:cubicBezTo>
                    <a:cubicBezTo>
                      <a:pt x="274251" y="140531"/>
                      <a:pt x="299807" y="157622"/>
                      <a:pt x="315898" y="183260"/>
                    </a:cubicBezTo>
                    <a:cubicBezTo>
                      <a:pt x="331988" y="208897"/>
                      <a:pt x="335774" y="239282"/>
                      <a:pt x="327256" y="268718"/>
                    </a:cubicBezTo>
                    <a:lnTo>
                      <a:pt x="318737" y="297204"/>
                    </a:lnTo>
                    <a:cubicBezTo>
                      <a:pt x="314951" y="306699"/>
                      <a:pt x="306432" y="312396"/>
                      <a:pt x="296967" y="312396"/>
                    </a:cubicBezTo>
                    <a:close/>
                  </a:path>
                </a:pathLst>
              </a:custGeom>
              <a:solidFill>
                <a:srgbClr val="7A003C"/>
              </a:solidFill>
              <a:ln w="94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A98AEB23-A0EB-BF31-802A-EFA27F7ADABF}"/>
                  </a:ext>
                </a:extLst>
              </p:cNvPr>
              <p:cNvSpPr/>
              <p:nvPr/>
            </p:nvSpPr>
            <p:spPr>
              <a:xfrm>
                <a:off x="3229524" y="7385477"/>
                <a:ext cx="368737" cy="458660"/>
              </a:xfrm>
              <a:custGeom>
                <a:avLst/>
                <a:gdLst>
                  <a:gd name="connsiteX0" fmla="*/ 93231 w 368737"/>
                  <a:gd name="connsiteY0" fmla="*/ 458661 h 458660"/>
                  <a:gd name="connsiteX1" fmla="*/ 26976 w 368737"/>
                  <a:gd name="connsiteY1" fmla="*/ 431124 h 458660"/>
                  <a:gd name="connsiteX2" fmla="*/ 26976 w 368737"/>
                  <a:gd name="connsiteY2" fmla="*/ 299139 h 458660"/>
                  <a:gd name="connsiteX3" fmla="*/ 44959 w 368737"/>
                  <a:gd name="connsiteY3" fmla="*/ 281098 h 458660"/>
                  <a:gd name="connsiteX4" fmla="*/ 62943 w 368737"/>
                  <a:gd name="connsiteY4" fmla="*/ 223176 h 458660"/>
                  <a:gd name="connsiteX5" fmla="*/ 103643 w 368737"/>
                  <a:gd name="connsiteY5" fmla="*/ 10481 h 458660"/>
                  <a:gd name="connsiteX6" fmla="*/ 132985 w 368737"/>
                  <a:gd name="connsiteY6" fmla="*/ 2885 h 458660"/>
                  <a:gd name="connsiteX7" fmla="*/ 140557 w 368737"/>
                  <a:gd name="connsiteY7" fmla="*/ 32320 h 458660"/>
                  <a:gd name="connsiteX8" fmla="*/ 105536 w 368737"/>
                  <a:gd name="connsiteY8" fmla="*/ 216530 h 458660"/>
                  <a:gd name="connsiteX9" fmla="*/ 75247 w 368737"/>
                  <a:gd name="connsiteY9" fmla="*/ 311483 h 458660"/>
                  <a:gd name="connsiteX10" fmla="*/ 57264 w 368737"/>
                  <a:gd name="connsiteY10" fmla="*/ 329524 h 458660"/>
                  <a:gd name="connsiteX11" fmla="*/ 57264 w 368737"/>
                  <a:gd name="connsiteY11" fmla="*/ 400739 h 458660"/>
                  <a:gd name="connsiteX12" fmla="*/ 97964 w 368737"/>
                  <a:gd name="connsiteY12" fmla="*/ 414982 h 458660"/>
                  <a:gd name="connsiteX13" fmla="*/ 134878 w 368737"/>
                  <a:gd name="connsiteY13" fmla="*/ 393143 h 458660"/>
                  <a:gd name="connsiteX14" fmla="*/ 299570 w 368737"/>
                  <a:gd name="connsiteY14" fmla="*/ 318130 h 458660"/>
                  <a:gd name="connsiteX15" fmla="*/ 349735 w 368737"/>
                  <a:gd name="connsiteY15" fmla="*/ 324776 h 458660"/>
                  <a:gd name="connsiteX16" fmla="*/ 368665 w 368737"/>
                  <a:gd name="connsiteY16" fmla="*/ 349464 h 458660"/>
                  <a:gd name="connsiteX17" fmla="*/ 344056 w 368737"/>
                  <a:gd name="connsiteY17" fmla="*/ 368455 h 458660"/>
                  <a:gd name="connsiteX18" fmla="*/ 293891 w 368737"/>
                  <a:gd name="connsiteY18" fmla="*/ 361808 h 458660"/>
                  <a:gd name="connsiteX19" fmla="*/ 170845 w 368737"/>
                  <a:gd name="connsiteY19" fmla="*/ 417831 h 458660"/>
                  <a:gd name="connsiteX20" fmla="*/ 102696 w 368737"/>
                  <a:gd name="connsiteY20" fmla="*/ 458661 h 458660"/>
                  <a:gd name="connsiteX21" fmla="*/ 93231 w 368737"/>
                  <a:gd name="connsiteY21" fmla="*/ 458661 h 458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68737" h="458660">
                    <a:moveTo>
                      <a:pt x="93231" y="458661"/>
                    </a:moveTo>
                    <a:cubicBezTo>
                      <a:pt x="68622" y="458661"/>
                      <a:pt x="44959" y="449165"/>
                      <a:pt x="26976" y="431124"/>
                    </a:cubicBezTo>
                    <a:cubicBezTo>
                      <a:pt x="-8992" y="395042"/>
                      <a:pt x="-8992" y="335221"/>
                      <a:pt x="26976" y="299139"/>
                    </a:cubicBezTo>
                    <a:lnTo>
                      <a:pt x="44959" y="281098"/>
                    </a:lnTo>
                    <a:cubicBezTo>
                      <a:pt x="60103" y="265905"/>
                      <a:pt x="66729" y="244066"/>
                      <a:pt x="62943" y="223176"/>
                    </a:cubicBezTo>
                    <a:cubicBezTo>
                      <a:pt x="50638" y="150062"/>
                      <a:pt x="64836" y="75049"/>
                      <a:pt x="103643" y="10481"/>
                    </a:cubicBezTo>
                    <a:cubicBezTo>
                      <a:pt x="109322" y="36"/>
                      <a:pt x="122573" y="-2812"/>
                      <a:pt x="132985" y="2885"/>
                    </a:cubicBezTo>
                    <a:cubicBezTo>
                      <a:pt x="143396" y="8582"/>
                      <a:pt x="146236" y="21875"/>
                      <a:pt x="140557" y="32320"/>
                    </a:cubicBezTo>
                    <a:cubicBezTo>
                      <a:pt x="107429" y="87393"/>
                      <a:pt x="95124" y="152911"/>
                      <a:pt x="105536" y="216530"/>
                    </a:cubicBezTo>
                    <a:cubicBezTo>
                      <a:pt x="111215" y="251662"/>
                      <a:pt x="99857" y="286795"/>
                      <a:pt x="75247" y="311483"/>
                    </a:cubicBezTo>
                    <a:lnTo>
                      <a:pt x="57264" y="329524"/>
                    </a:lnTo>
                    <a:cubicBezTo>
                      <a:pt x="37387" y="349464"/>
                      <a:pt x="37387" y="380799"/>
                      <a:pt x="57264" y="400739"/>
                    </a:cubicBezTo>
                    <a:cubicBezTo>
                      <a:pt x="67675" y="411184"/>
                      <a:pt x="82820" y="416881"/>
                      <a:pt x="97964" y="414982"/>
                    </a:cubicBezTo>
                    <a:cubicBezTo>
                      <a:pt x="113108" y="413083"/>
                      <a:pt x="126359" y="405487"/>
                      <a:pt x="134878" y="393143"/>
                    </a:cubicBezTo>
                    <a:cubicBezTo>
                      <a:pt x="170845" y="338070"/>
                      <a:pt x="234261" y="309584"/>
                      <a:pt x="299570" y="318130"/>
                    </a:cubicBezTo>
                    <a:lnTo>
                      <a:pt x="349735" y="324776"/>
                    </a:lnTo>
                    <a:cubicBezTo>
                      <a:pt x="361093" y="326675"/>
                      <a:pt x="369612" y="337120"/>
                      <a:pt x="368665" y="349464"/>
                    </a:cubicBezTo>
                    <a:cubicBezTo>
                      <a:pt x="366772" y="360859"/>
                      <a:pt x="356361" y="369404"/>
                      <a:pt x="344056" y="368455"/>
                    </a:cubicBezTo>
                    <a:lnTo>
                      <a:pt x="293891" y="361808"/>
                    </a:lnTo>
                    <a:cubicBezTo>
                      <a:pt x="245619" y="355161"/>
                      <a:pt x="198294" y="377001"/>
                      <a:pt x="170845" y="417831"/>
                    </a:cubicBezTo>
                    <a:cubicBezTo>
                      <a:pt x="155701" y="441569"/>
                      <a:pt x="130145" y="456761"/>
                      <a:pt x="102696" y="458661"/>
                    </a:cubicBezTo>
                    <a:cubicBezTo>
                      <a:pt x="98910" y="458661"/>
                      <a:pt x="96071" y="458661"/>
                      <a:pt x="93231" y="458661"/>
                    </a:cubicBezTo>
                    <a:close/>
                  </a:path>
                </a:pathLst>
              </a:custGeom>
              <a:solidFill>
                <a:srgbClr val="7A003C"/>
              </a:solidFill>
              <a:ln w="94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1727213-1099-A5FC-8973-3D071DA99C2F}"/>
                </a:ext>
              </a:extLst>
            </p:cNvPr>
            <p:cNvSpPr/>
            <p:nvPr/>
          </p:nvSpPr>
          <p:spPr>
            <a:xfrm>
              <a:off x="2798862" y="7372220"/>
              <a:ext cx="800273" cy="1006504"/>
            </a:xfrm>
            <a:custGeom>
              <a:avLst/>
              <a:gdLst>
                <a:gd name="connsiteX0" fmla="*/ 715088 w 800273"/>
                <a:gd name="connsiteY0" fmla="*/ 566871 h 1006504"/>
                <a:gd name="connsiteX1" fmla="*/ 800274 w 800273"/>
                <a:gd name="connsiteY1" fmla="*/ 341832 h 1006504"/>
                <a:gd name="connsiteX2" fmla="*/ 459530 w 800273"/>
                <a:gd name="connsiteY2" fmla="*/ 0 h 1006504"/>
                <a:gd name="connsiteX3" fmla="*/ 235208 w 800273"/>
                <a:gd name="connsiteY3" fmla="*/ 85458 h 1006504"/>
                <a:gd name="connsiteX4" fmla="*/ 165166 w 800273"/>
                <a:gd name="connsiteY4" fmla="*/ 15193 h 1006504"/>
                <a:gd name="connsiteX5" fmla="*/ 134878 w 800273"/>
                <a:gd name="connsiteY5" fmla="*/ 15193 h 1006504"/>
                <a:gd name="connsiteX6" fmla="*/ 134878 w 800273"/>
                <a:gd name="connsiteY6" fmla="*/ 667522 h 1006504"/>
                <a:gd name="connsiteX7" fmla="*/ 278747 w 800273"/>
                <a:gd name="connsiteY7" fmla="*/ 765323 h 1006504"/>
                <a:gd name="connsiteX8" fmla="*/ 278747 w 800273"/>
                <a:gd name="connsiteY8" fmla="*/ 791910 h 1006504"/>
                <a:gd name="connsiteX9" fmla="*/ 211545 w 800273"/>
                <a:gd name="connsiteY9" fmla="*/ 962826 h 1006504"/>
                <a:gd name="connsiteX10" fmla="*/ 100803 w 800273"/>
                <a:gd name="connsiteY10" fmla="*/ 962826 h 1006504"/>
                <a:gd name="connsiteX11" fmla="*/ 79034 w 800273"/>
                <a:gd name="connsiteY11" fmla="*/ 984665 h 1006504"/>
                <a:gd name="connsiteX12" fmla="*/ 100803 w 800273"/>
                <a:gd name="connsiteY12" fmla="*/ 1006505 h 1006504"/>
                <a:gd name="connsiteX13" fmla="*/ 220063 w 800273"/>
                <a:gd name="connsiteY13" fmla="*/ 1006505 h 1006504"/>
                <a:gd name="connsiteX14" fmla="*/ 578791 w 800273"/>
                <a:gd name="connsiteY14" fmla="*/ 1006505 h 1006504"/>
                <a:gd name="connsiteX15" fmla="*/ 698051 w 800273"/>
                <a:gd name="connsiteY15" fmla="*/ 1006505 h 1006504"/>
                <a:gd name="connsiteX16" fmla="*/ 719820 w 800273"/>
                <a:gd name="connsiteY16" fmla="*/ 984665 h 1006504"/>
                <a:gd name="connsiteX17" fmla="*/ 698051 w 800273"/>
                <a:gd name="connsiteY17" fmla="*/ 962826 h 1006504"/>
                <a:gd name="connsiteX18" fmla="*/ 588256 w 800273"/>
                <a:gd name="connsiteY18" fmla="*/ 962826 h 1006504"/>
                <a:gd name="connsiteX19" fmla="*/ 521053 w 800273"/>
                <a:gd name="connsiteY19" fmla="*/ 797608 h 1006504"/>
                <a:gd name="connsiteX20" fmla="*/ 784183 w 800273"/>
                <a:gd name="connsiteY20" fmla="*/ 666572 h 1006504"/>
                <a:gd name="connsiteX21" fmla="*/ 784183 w 800273"/>
                <a:gd name="connsiteY21" fmla="*/ 636187 h 1006504"/>
                <a:gd name="connsiteX22" fmla="*/ 715088 w 800273"/>
                <a:gd name="connsiteY22" fmla="*/ 566871 h 1006504"/>
                <a:gd name="connsiteX23" fmla="*/ 756734 w 800273"/>
                <a:gd name="connsiteY23" fmla="*/ 340882 h 1006504"/>
                <a:gd name="connsiteX24" fmla="*/ 459530 w 800273"/>
                <a:gd name="connsiteY24" fmla="*/ 639036 h 1006504"/>
                <a:gd name="connsiteX25" fmla="*/ 162326 w 800273"/>
                <a:gd name="connsiteY25" fmla="*/ 340882 h 1006504"/>
                <a:gd name="connsiteX26" fmla="*/ 459530 w 800273"/>
                <a:gd name="connsiteY26" fmla="*/ 42729 h 1006504"/>
                <a:gd name="connsiteX27" fmla="*/ 756734 w 800273"/>
                <a:gd name="connsiteY27" fmla="*/ 340882 h 1006504"/>
                <a:gd name="connsiteX28" fmla="*/ 532412 w 800273"/>
                <a:gd name="connsiteY28" fmla="*/ 962826 h 1006504"/>
                <a:gd name="connsiteX29" fmla="*/ 267389 w 800273"/>
                <a:gd name="connsiteY29" fmla="*/ 962826 h 1006504"/>
                <a:gd name="connsiteX30" fmla="*/ 322286 w 800273"/>
                <a:gd name="connsiteY30" fmla="*/ 791910 h 1006504"/>
                <a:gd name="connsiteX31" fmla="*/ 322286 w 800273"/>
                <a:gd name="connsiteY31" fmla="*/ 781465 h 1006504"/>
                <a:gd name="connsiteX32" fmla="*/ 459530 w 800273"/>
                <a:gd name="connsiteY32" fmla="*/ 802355 h 1006504"/>
                <a:gd name="connsiteX33" fmla="*/ 478461 w 800273"/>
                <a:gd name="connsiteY33" fmla="*/ 802355 h 1006504"/>
                <a:gd name="connsiteX34" fmla="*/ 532412 w 800273"/>
                <a:gd name="connsiteY34" fmla="*/ 962826 h 1006504"/>
                <a:gd name="connsiteX35" fmla="*/ 309982 w 800273"/>
                <a:gd name="connsiteY35" fmla="*/ 731140 h 1006504"/>
                <a:gd name="connsiteX36" fmla="*/ 307142 w 800273"/>
                <a:gd name="connsiteY36" fmla="*/ 730191 h 1006504"/>
                <a:gd name="connsiteX37" fmla="*/ 165166 w 800273"/>
                <a:gd name="connsiteY37" fmla="*/ 637136 h 1006504"/>
                <a:gd name="connsiteX38" fmla="*/ 150022 w 800273"/>
                <a:gd name="connsiteY38" fmla="*/ 60770 h 1006504"/>
                <a:gd name="connsiteX39" fmla="*/ 203973 w 800273"/>
                <a:gd name="connsiteY39" fmla="*/ 114893 h 1006504"/>
                <a:gd name="connsiteX40" fmla="*/ 118787 w 800273"/>
                <a:gd name="connsiteY40" fmla="*/ 339933 h 1006504"/>
                <a:gd name="connsiteX41" fmla="*/ 459530 w 800273"/>
                <a:gd name="connsiteY41" fmla="*/ 681765 h 1006504"/>
                <a:gd name="connsiteX42" fmla="*/ 683853 w 800273"/>
                <a:gd name="connsiteY42" fmla="*/ 596307 h 1006504"/>
                <a:gd name="connsiteX43" fmla="*/ 737804 w 800273"/>
                <a:gd name="connsiteY43" fmla="*/ 650430 h 1006504"/>
                <a:gd name="connsiteX44" fmla="*/ 309982 w 800273"/>
                <a:gd name="connsiteY44" fmla="*/ 731140 h 1006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800273" h="1006504">
                  <a:moveTo>
                    <a:pt x="715088" y="566871"/>
                  </a:moveTo>
                  <a:cubicBezTo>
                    <a:pt x="768092" y="507050"/>
                    <a:pt x="800274" y="428239"/>
                    <a:pt x="800274" y="341832"/>
                  </a:cubicBezTo>
                  <a:cubicBezTo>
                    <a:pt x="800274" y="153824"/>
                    <a:pt x="647886" y="0"/>
                    <a:pt x="459530" y="0"/>
                  </a:cubicBezTo>
                  <a:cubicBezTo>
                    <a:pt x="373398" y="0"/>
                    <a:pt x="294838" y="32284"/>
                    <a:pt x="235208" y="85458"/>
                  </a:cubicBezTo>
                  <a:lnTo>
                    <a:pt x="165166" y="15193"/>
                  </a:lnTo>
                  <a:cubicBezTo>
                    <a:pt x="156647" y="6647"/>
                    <a:pt x="143396" y="6647"/>
                    <a:pt x="134878" y="15193"/>
                  </a:cubicBezTo>
                  <a:cubicBezTo>
                    <a:pt x="-44959" y="194654"/>
                    <a:pt x="-44959" y="487110"/>
                    <a:pt x="134878" y="667522"/>
                  </a:cubicBezTo>
                  <a:cubicBezTo>
                    <a:pt x="177471" y="710251"/>
                    <a:pt x="226689" y="742535"/>
                    <a:pt x="278747" y="765323"/>
                  </a:cubicBezTo>
                  <a:lnTo>
                    <a:pt x="278747" y="791910"/>
                  </a:lnTo>
                  <a:cubicBezTo>
                    <a:pt x="278747" y="856479"/>
                    <a:pt x="255084" y="916299"/>
                    <a:pt x="211545" y="962826"/>
                  </a:cubicBezTo>
                  <a:lnTo>
                    <a:pt x="100803" y="962826"/>
                  </a:lnTo>
                  <a:cubicBezTo>
                    <a:pt x="88499" y="962826"/>
                    <a:pt x="79034" y="972322"/>
                    <a:pt x="79034" y="984665"/>
                  </a:cubicBezTo>
                  <a:cubicBezTo>
                    <a:pt x="79034" y="997009"/>
                    <a:pt x="88499" y="1006505"/>
                    <a:pt x="100803" y="1006505"/>
                  </a:cubicBezTo>
                  <a:lnTo>
                    <a:pt x="220063" y="1006505"/>
                  </a:lnTo>
                  <a:lnTo>
                    <a:pt x="578791" y="1006505"/>
                  </a:lnTo>
                  <a:lnTo>
                    <a:pt x="698051" y="1006505"/>
                  </a:lnTo>
                  <a:cubicBezTo>
                    <a:pt x="710355" y="1006505"/>
                    <a:pt x="719820" y="997009"/>
                    <a:pt x="719820" y="984665"/>
                  </a:cubicBezTo>
                  <a:cubicBezTo>
                    <a:pt x="719820" y="972322"/>
                    <a:pt x="710355" y="962826"/>
                    <a:pt x="698051" y="962826"/>
                  </a:cubicBezTo>
                  <a:lnTo>
                    <a:pt x="588256" y="962826"/>
                  </a:lnTo>
                  <a:cubicBezTo>
                    <a:pt x="546609" y="918198"/>
                    <a:pt x="522946" y="859327"/>
                    <a:pt x="521053" y="797608"/>
                  </a:cubicBezTo>
                  <a:cubicBezTo>
                    <a:pt x="617597" y="784314"/>
                    <a:pt x="710355" y="741585"/>
                    <a:pt x="784183" y="666572"/>
                  </a:cubicBezTo>
                  <a:cubicBezTo>
                    <a:pt x="792702" y="658026"/>
                    <a:pt x="792702" y="644733"/>
                    <a:pt x="784183" y="636187"/>
                  </a:cubicBezTo>
                  <a:lnTo>
                    <a:pt x="715088" y="566871"/>
                  </a:lnTo>
                  <a:close/>
                  <a:moveTo>
                    <a:pt x="756734" y="340882"/>
                  </a:moveTo>
                  <a:cubicBezTo>
                    <a:pt x="756734" y="505151"/>
                    <a:pt x="623276" y="639036"/>
                    <a:pt x="459530" y="639036"/>
                  </a:cubicBezTo>
                  <a:cubicBezTo>
                    <a:pt x="295784" y="639036"/>
                    <a:pt x="162326" y="505151"/>
                    <a:pt x="162326" y="340882"/>
                  </a:cubicBezTo>
                  <a:cubicBezTo>
                    <a:pt x="162326" y="176613"/>
                    <a:pt x="295784" y="42729"/>
                    <a:pt x="459530" y="42729"/>
                  </a:cubicBezTo>
                  <a:cubicBezTo>
                    <a:pt x="623276" y="42729"/>
                    <a:pt x="756734" y="176613"/>
                    <a:pt x="756734" y="340882"/>
                  </a:cubicBezTo>
                  <a:close/>
                  <a:moveTo>
                    <a:pt x="532412" y="962826"/>
                  </a:moveTo>
                  <a:lnTo>
                    <a:pt x="267389" y="962826"/>
                  </a:lnTo>
                  <a:cubicBezTo>
                    <a:pt x="303356" y="913450"/>
                    <a:pt x="322286" y="853630"/>
                    <a:pt x="322286" y="791910"/>
                  </a:cubicBezTo>
                  <a:lnTo>
                    <a:pt x="322286" y="781465"/>
                  </a:lnTo>
                  <a:cubicBezTo>
                    <a:pt x="366772" y="795708"/>
                    <a:pt x="413151" y="802355"/>
                    <a:pt x="459530" y="802355"/>
                  </a:cubicBezTo>
                  <a:cubicBezTo>
                    <a:pt x="466156" y="802355"/>
                    <a:pt x="471835" y="802355"/>
                    <a:pt x="478461" y="802355"/>
                  </a:cubicBezTo>
                  <a:cubicBezTo>
                    <a:pt x="480354" y="860277"/>
                    <a:pt x="499284" y="916299"/>
                    <a:pt x="532412" y="962826"/>
                  </a:cubicBezTo>
                  <a:close/>
                  <a:moveTo>
                    <a:pt x="309982" y="731140"/>
                  </a:moveTo>
                  <a:cubicBezTo>
                    <a:pt x="309035" y="731140"/>
                    <a:pt x="308089" y="730191"/>
                    <a:pt x="307142" y="730191"/>
                  </a:cubicBezTo>
                  <a:cubicBezTo>
                    <a:pt x="255084" y="710251"/>
                    <a:pt x="206812" y="678916"/>
                    <a:pt x="165166" y="637136"/>
                  </a:cubicBezTo>
                  <a:cubicBezTo>
                    <a:pt x="7099" y="478565"/>
                    <a:pt x="2366" y="225039"/>
                    <a:pt x="150022" y="60770"/>
                  </a:cubicBezTo>
                  <a:lnTo>
                    <a:pt x="203973" y="114893"/>
                  </a:lnTo>
                  <a:cubicBezTo>
                    <a:pt x="150968" y="174714"/>
                    <a:pt x="118787" y="253525"/>
                    <a:pt x="118787" y="339933"/>
                  </a:cubicBezTo>
                  <a:cubicBezTo>
                    <a:pt x="118787" y="527940"/>
                    <a:pt x="271175" y="681765"/>
                    <a:pt x="459530" y="681765"/>
                  </a:cubicBezTo>
                  <a:cubicBezTo>
                    <a:pt x="545663" y="681765"/>
                    <a:pt x="624223" y="649480"/>
                    <a:pt x="683853" y="596307"/>
                  </a:cubicBezTo>
                  <a:lnTo>
                    <a:pt x="737804" y="650430"/>
                  </a:lnTo>
                  <a:cubicBezTo>
                    <a:pt x="619490" y="759626"/>
                    <a:pt x="451958" y="786213"/>
                    <a:pt x="309982" y="731140"/>
                  </a:cubicBezTo>
                  <a:close/>
                </a:path>
              </a:pathLst>
            </a:custGeom>
            <a:solidFill>
              <a:srgbClr val="000000"/>
            </a:solidFill>
            <a:ln w="9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0AC7672-58C7-4284-0B21-E4367E7AA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5912" y="3315673"/>
            <a:ext cx="382172" cy="361425"/>
            <a:chOff x="13919831" y="3606509"/>
            <a:chExt cx="1010931" cy="95604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93BA6D1-D4FF-4705-7BB7-7DD93704F725}"/>
                </a:ext>
              </a:extLst>
            </p:cNvPr>
            <p:cNvGrpSpPr/>
            <p:nvPr/>
          </p:nvGrpSpPr>
          <p:grpSpPr>
            <a:xfrm>
              <a:off x="14092045" y="3792506"/>
              <a:ext cx="666504" cy="459075"/>
              <a:chOff x="14092045" y="3792506"/>
              <a:chExt cx="666504" cy="45907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34F99B45-4438-0D84-42E8-4F7E69898E28}"/>
                  </a:ext>
                </a:extLst>
              </p:cNvPr>
              <p:cNvSpPr/>
              <p:nvPr/>
            </p:nvSpPr>
            <p:spPr>
              <a:xfrm>
                <a:off x="14092045" y="3953085"/>
                <a:ext cx="164699" cy="298496"/>
              </a:xfrm>
              <a:custGeom>
                <a:avLst/>
                <a:gdLst>
                  <a:gd name="connsiteX0" fmla="*/ 142981 w 164699"/>
                  <a:gd name="connsiteY0" fmla="*/ 298497 h 298496"/>
                  <a:gd name="connsiteX1" fmla="*/ 21720 w 164699"/>
                  <a:gd name="connsiteY1" fmla="*/ 298497 h 298496"/>
                  <a:gd name="connsiteX2" fmla="*/ 0 w 164699"/>
                  <a:gd name="connsiteY2" fmla="*/ 276777 h 298496"/>
                  <a:gd name="connsiteX3" fmla="*/ 0 w 164699"/>
                  <a:gd name="connsiteY3" fmla="*/ 21719 h 298496"/>
                  <a:gd name="connsiteX4" fmla="*/ 21720 w 164699"/>
                  <a:gd name="connsiteY4" fmla="*/ 0 h 298496"/>
                  <a:gd name="connsiteX5" fmla="*/ 142981 w 164699"/>
                  <a:gd name="connsiteY5" fmla="*/ 0 h 298496"/>
                  <a:gd name="connsiteX6" fmla="*/ 164699 w 164699"/>
                  <a:gd name="connsiteY6" fmla="*/ 21719 h 298496"/>
                  <a:gd name="connsiteX7" fmla="*/ 164699 w 164699"/>
                  <a:gd name="connsiteY7" fmla="*/ 276777 h 298496"/>
                  <a:gd name="connsiteX8" fmla="*/ 142981 w 164699"/>
                  <a:gd name="connsiteY8" fmla="*/ 298497 h 298496"/>
                  <a:gd name="connsiteX9" fmla="*/ 43438 w 164699"/>
                  <a:gd name="connsiteY9" fmla="*/ 255059 h 298496"/>
                  <a:gd name="connsiteX10" fmla="*/ 121261 w 164699"/>
                  <a:gd name="connsiteY10" fmla="*/ 255059 h 298496"/>
                  <a:gd name="connsiteX11" fmla="*/ 121261 w 164699"/>
                  <a:gd name="connsiteY11" fmla="*/ 43437 h 298496"/>
                  <a:gd name="connsiteX12" fmla="*/ 43438 w 164699"/>
                  <a:gd name="connsiteY12" fmla="*/ 43437 h 298496"/>
                  <a:gd name="connsiteX13" fmla="*/ 43438 w 164699"/>
                  <a:gd name="connsiteY13" fmla="*/ 255059 h 298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4699" h="298496">
                    <a:moveTo>
                      <a:pt x="142981" y="298497"/>
                    </a:moveTo>
                    <a:lnTo>
                      <a:pt x="21720" y="298497"/>
                    </a:lnTo>
                    <a:cubicBezTo>
                      <a:pt x="9724" y="298497"/>
                      <a:pt x="0" y="288773"/>
                      <a:pt x="0" y="276777"/>
                    </a:cubicBezTo>
                    <a:lnTo>
                      <a:pt x="0" y="21719"/>
                    </a:lnTo>
                    <a:cubicBezTo>
                      <a:pt x="0" y="9724"/>
                      <a:pt x="9724" y="0"/>
                      <a:pt x="21720" y="0"/>
                    </a:cubicBezTo>
                    <a:lnTo>
                      <a:pt x="142981" y="0"/>
                    </a:lnTo>
                    <a:cubicBezTo>
                      <a:pt x="154975" y="0"/>
                      <a:pt x="164699" y="9724"/>
                      <a:pt x="164699" y="21719"/>
                    </a:cubicBezTo>
                    <a:lnTo>
                      <a:pt x="164699" y="276777"/>
                    </a:lnTo>
                    <a:cubicBezTo>
                      <a:pt x="164699" y="288773"/>
                      <a:pt x="154975" y="298497"/>
                      <a:pt x="142981" y="298497"/>
                    </a:cubicBezTo>
                    <a:close/>
                    <a:moveTo>
                      <a:pt x="43438" y="255059"/>
                    </a:moveTo>
                    <a:lnTo>
                      <a:pt x="121261" y="255059"/>
                    </a:lnTo>
                    <a:lnTo>
                      <a:pt x="121261" y="43437"/>
                    </a:lnTo>
                    <a:lnTo>
                      <a:pt x="43438" y="43437"/>
                    </a:lnTo>
                    <a:lnTo>
                      <a:pt x="43438" y="255059"/>
                    </a:lnTo>
                    <a:close/>
                  </a:path>
                </a:pathLst>
              </a:custGeom>
              <a:solidFill>
                <a:srgbClr val="7A003C"/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4CD40EA-F2E3-6A16-DEF6-A4935FFBE6D4}"/>
                  </a:ext>
                </a:extLst>
              </p:cNvPr>
              <p:cNvSpPr/>
              <p:nvPr/>
            </p:nvSpPr>
            <p:spPr>
              <a:xfrm>
                <a:off x="14342949" y="3872795"/>
                <a:ext cx="164696" cy="378786"/>
              </a:xfrm>
              <a:custGeom>
                <a:avLst/>
                <a:gdLst>
                  <a:gd name="connsiteX0" fmla="*/ 142978 w 164696"/>
                  <a:gd name="connsiteY0" fmla="*/ 378787 h 378786"/>
                  <a:gd name="connsiteX1" fmla="*/ 21719 w 164696"/>
                  <a:gd name="connsiteY1" fmla="*/ 378787 h 378786"/>
                  <a:gd name="connsiteX2" fmla="*/ 0 w 164696"/>
                  <a:gd name="connsiteY2" fmla="*/ 357067 h 378786"/>
                  <a:gd name="connsiteX3" fmla="*/ 0 w 164696"/>
                  <a:gd name="connsiteY3" fmla="*/ 21719 h 378786"/>
                  <a:gd name="connsiteX4" fmla="*/ 21719 w 164696"/>
                  <a:gd name="connsiteY4" fmla="*/ 0 h 378786"/>
                  <a:gd name="connsiteX5" fmla="*/ 142978 w 164696"/>
                  <a:gd name="connsiteY5" fmla="*/ 0 h 378786"/>
                  <a:gd name="connsiteX6" fmla="*/ 164696 w 164696"/>
                  <a:gd name="connsiteY6" fmla="*/ 21719 h 378786"/>
                  <a:gd name="connsiteX7" fmla="*/ 164696 w 164696"/>
                  <a:gd name="connsiteY7" fmla="*/ 357067 h 378786"/>
                  <a:gd name="connsiteX8" fmla="*/ 142978 w 164696"/>
                  <a:gd name="connsiteY8" fmla="*/ 378787 h 378786"/>
                  <a:gd name="connsiteX9" fmla="*/ 43438 w 164696"/>
                  <a:gd name="connsiteY9" fmla="*/ 335348 h 378786"/>
                  <a:gd name="connsiteX10" fmla="*/ 121259 w 164696"/>
                  <a:gd name="connsiteY10" fmla="*/ 335348 h 378786"/>
                  <a:gd name="connsiteX11" fmla="*/ 121259 w 164696"/>
                  <a:gd name="connsiteY11" fmla="*/ 43438 h 378786"/>
                  <a:gd name="connsiteX12" fmla="*/ 43438 w 164696"/>
                  <a:gd name="connsiteY12" fmla="*/ 43438 h 378786"/>
                  <a:gd name="connsiteX13" fmla="*/ 43438 w 164696"/>
                  <a:gd name="connsiteY13" fmla="*/ 335348 h 378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4696" h="378786">
                    <a:moveTo>
                      <a:pt x="142978" y="378787"/>
                    </a:moveTo>
                    <a:lnTo>
                      <a:pt x="21719" y="378787"/>
                    </a:lnTo>
                    <a:cubicBezTo>
                      <a:pt x="9724" y="378787"/>
                      <a:pt x="0" y="369062"/>
                      <a:pt x="0" y="357067"/>
                    </a:cubicBezTo>
                    <a:lnTo>
                      <a:pt x="0" y="21719"/>
                    </a:lnTo>
                    <a:cubicBezTo>
                      <a:pt x="0" y="9724"/>
                      <a:pt x="9724" y="0"/>
                      <a:pt x="21719" y="0"/>
                    </a:cubicBezTo>
                    <a:lnTo>
                      <a:pt x="142978" y="0"/>
                    </a:lnTo>
                    <a:cubicBezTo>
                      <a:pt x="154972" y="0"/>
                      <a:pt x="164696" y="9724"/>
                      <a:pt x="164696" y="21719"/>
                    </a:cubicBezTo>
                    <a:lnTo>
                      <a:pt x="164696" y="357067"/>
                    </a:lnTo>
                    <a:cubicBezTo>
                      <a:pt x="164696" y="369062"/>
                      <a:pt x="154972" y="378787"/>
                      <a:pt x="142978" y="378787"/>
                    </a:cubicBezTo>
                    <a:close/>
                    <a:moveTo>
                      <a:pt x="43438" y="335348"/>
                    </a:moveTo>
                    <a:lnTo>
                      <a:pt x="121259" y="335348"/>
                    </a:lnTo>
                    <a:lnTo>
                      <a:pt x="121259" y="43438"/>
                    </a:lnTo>
                    <a:lnTo>
                      <a:pt x="43438" y="43438"/>
                    </a:lnTo>
                    <a:lnTo>
                      <a:pt x="43438" y="335348"/>
                    </a:lnTo>
                    <a:close/>
                  </a:path>
                </a:pathLst>
              </a:custGeom>
              <a:solidFill>
                <a:srgbClr val="7A003C"/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AC730DFE-0D4A-5A5D-A102-7595399238EF}"/>
                  </a:ext>
                </a:extLst>
              </p:cNvPr>
              <p:cNvSpPr/>
              <p:nvPr/>
            </p:nvSpPr>
            <p:spPr>
              <a:xfrm>
                <a:off x="14593850" y="3792506"/>
                <a:ext cx="164699" cy="459075"/>
              </a:xfrm>
              <a:custGeom>
                <a:avLst/>
                <a:gdLst>
                  <a:gd name="connsiteX0" fmla="*/ 142981 w 164699"/>
                  <a:gd name="connsiteY0" fmla="*/ 459075 h 459075"/>
                  <a:gd name="connsiteX1" fmla="*/ 21720 w 164699"/>
                  <a:gd name="connsiteY1" fmla="*/ 459075 h 459075"/>
                  <a:gd name="connsiteX2" fmla="*/ 0 w 164699"/>
                  <a:gd name="connsiteY2" fmla="*/ 437357 h 459075"/>
                  <a:gd name="connsiteX3" fmla="*/ 0 w 164699"/>
                  <a:gd name="connsiteY3" fmla="*/ 21719 h 459075"/>
                  <a:gd name="connsiteX4" fmla="*/ 21720 w 164699"/>
                  <a:gd name="connsiteY4" fmla="*/ 0 h 459075"/>
                  <a:gd name="connsiteX5" fmla="*/ 142981 w 164699"/>
                  <a:gd name="connsiteY5" fmla="*/ 0 h 459075"/>
                  <a:gd name="connsiteX6" fmla="*/ 164699 w 164699"/>
                  <a:gd name="connsiteY6" fmla="*/ 21719 h 459075"/>
                  <a:gd name="connsiteX7" fmla="*/ 164699 w 164699"/>
                  <a:gd name="connsiteY7" fmla="*/ 437357 h 459075"/>
                  <a:gd name="connsiteX8" fmla="*/ 142981 w 164699"/>
                  <a:gd name="connsiteY8" fmla="*/ 459075 h 459075"/>
                  <a:gd name="connsiteX9" fmla="*/ 43438 w 164699"/>
                  <a:gd name="connsiteY9" fmla="*/ 415637 h 459075"/>
                  <a:gd name="connsiteX10" fmla="*/ 121261 w 164699"/>
                  <a:gd name="connsiteY10" fmla="*/ 415637 h 459075"/>
                  <a:gd name="connsiteX11" fmla="*/ 121261 w 164699"/>
                  <a:gd name="connsiteY11" fmla="*/ 43438 h 459075"/>
                  <a:gd name="connsiteX12" fmla="*/ 43438 w 164699"/>
                  <a:gd name="connsiteY12" fmla="*/ 43438 h 459075"/>
                  <a:gd name="connsiteX13" fmla="*/ 43438 w 164699"/>
                  <a:gd name="connsiteY13" fmla="*/ 415637 h 45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4699" h="459075">
                    <a:moveTo>
                      <a:pt x="142981" y="459075"/>
                    </a:moveTo>
                    <a:lnTo>
                      <a:pt x="21720" y="459075"/>
                    </a:lnTo>
                    <a:cubicBezTo>
                      <a:pt x="9724" y="459075"/>
                      <a:pt x="0" y="449351"/>
                      <a:pt x="0" y="437357"/>
                    </a:cubicBezTo>
                    <a:lnTo>
                      <a:pt x="0" y="21719"/>
                    </a:lnTo>
                    <a:cubicBezTo>
                      <a:pt x="0" y="9724"/>
                      <a:pt x="9724" y="0"/>
                      <a:pt x="21720" y="0"/>
                    </a:cubicBezTo>
                    <a:lnTo>
                      <a:pt x="142981" y="0"/>
                    </a:lnTo>
                    <a:cubicBezTo>
                      <a:pt x="154975" y="0"/>
                      <a:pt x="164699" y="9724"/>
                      <a:pt x="164699" y="21719"/>
                    </a:cubicBezTo>
                    <a:lnTo>
                      <a:pt x="164699" y="437357"/>
                    </a:lnTo>
                    <a:cubicBezTo>
                      <a:pt x="164699" y="449351"/>
                      <a:pt x="154975" y="459075"/>
                      <a:pt x="142981" y="459075"/>
                    </a:cubicBezTo>
                    <a:close/>
                    <a:moveTo>
                      <a:pt x="43438" y="415637"/>
                    </a:moveTo>
                    <a:lnTo>
                      <a:pt x="121261" y="415637"/>
                    </a:lnTo>
                    <a:lnTo>
                      <a:pt x="121261" y="43438"/>
                    </a:lnTo>
                    <a:lnTo>
                      <a:pt x="43438" y="43438"/>
                    </a:lnTo>
                    <a:lnTo>
                      <a:pt x="43438" y="415637"/>
                    </a:lnTo>
                    <a:close/>
                  </a:path>
                </a:pathLst>
              </a:custGeom>
              <a:solidFill>
                <a:srgbClr val="7A003C"/>
              </a:solidFill>
              <a:ln w="94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FEB136E-27BC-F6A9-AF99-58D141F63BD7}"/>
                </a:ext>
              </a:extLst>
            </p:cNvPr>
            <p:cNvSpPr/>
            <p:nvPr/>
          </p:nvSpPr>
          <p:spPr>
            <a:xfrm>
              <a:off x="13919831" y="3606509"/>
              <a:ext cx="1010931" cy="956049"/>
            </a:xfrm>
            <a:custGeom>
              <a:avLst/>
              <a:gdLst>
                <a:gd name="connsiteX0" fmla="*/ 989204 w 1010931"/>
                <a:gd name="connsiteY0" fmla="*/ 0 h 956049"/>
                <a:gd name="connsiteX1" fmla="*/ 21726 w 1010931"/>
                <a:gd name="connsiteY1" fmla="*/ 0 h 956049"/>
                <a:gd name="connsiteX2" fmla="*/ 8 w 1010931"/>
                <a:gd name="connsiteY2" fmla="*/ 21719 h 956049"/>
                <a:gd name="connsiteX3" fmla="*/ 8 w 1010931"/>
                <a:gd name="connsiteY3" fmla="*/ 780038 h 956049"/>
                <a:gd name="connsiteX4" fmla="*/ 21726 w 1010931"/>
                <a:gd name="connsiteY4" fmla="*/ 801757 h 956049"/>
                <a:gd name="connsiteX5" fmla="*/ 396656 w 1010931"/>
                <a:gd name="connsiteY5" fmla="*/ 801757 h 956049"/>
                <a:gd name="connsiteX6" fmla="*/ 396656 w 1010931"/>
                <a:gd name="connsiteY6" fmla="*/ 912610 h 956049"/>
                <a:gd name="connsiteX7" fmla="*/ 379591 w 1010931"/>
                <a:gd name="connsiteY7" fmla="*/ 912610 h 956049"/>
                <a:gd name="connsiteX8" fmla="*/ 379591 w 1010931"/>
                <a:gd name="connsiteY8" fmla="*/ 956049 h 956049"/>
                <a:gd name="connsiteX9" fmla="*/ 631342 w 1010931"/>
                <a:gd name="connsiteY9" fmla="*/ 956049 h 956049"/>
                <a:gd name="connsiteX10" fmla="*/ 631342 w 1010931"/>
                <a:gd name="connsiteY10" fmla="*/ 912610 h 956049"/>
                <a:gd name="connsiteX11" fmla="*/ 614278 w 1010931"/>
                <a:gd name="connsiteY11" fmla="*/ 912610 h 956049"/>
                <a:gd name="connsiteX12" fmla="*/ 614278 w 1010931"/>
                <a:gd name="connsiteY12" fmla="*/ 801757 h 956049"/>
                <a:gd name="connsiteX13" fmla="*/ 989204 w 1010931"/>
                <a:gd name="connsiteY13" fmla="*/ 801757 h 956049"/>
                <a:gd name="connsiteX14" fmla="*/ 1010929 w 1010931"/>
                <a:gd name="connsiteY14" fmla="*/ 780038 h 956049"/>
                <a:gd name="connsiteX15" fmla="*/ 1010929 w 1010931"/>
                <a:gd name="connsiteY15" fmla="*/ 21719 h 956049"/>
                <a:gd name="connsiteX16" fmla="*/ 989204 w 1010931"/>
                <a:gd name="connsiteY16" fmla="*/ 0 h 956049"/>
                <a:gd name="connsiteX17" fmla="*/ 43445 w 1010931"/>
                <a:gd name="connsiteY17" fmla="*/ 43438 h 956049"/>
                <a:gd name="connsiteX18" fmla="*/ 967488 w 1010931"/>
                <a:gd name="connsiteY18" fmla="*/ 43438 h 956049"/>
                <a:gd name="connsiteX19" fmla="*/ 967488 w 1010931"/>
                <a:gd name="connsiteY19" fmla="*/ 601634 h 956049"/>
                <a:gd name="connsiteX20" fmla="*/ 43445 w 1010931"/>
                <a:gd name="connsiteY20" fmla="*/ 601634 h 956049"/>
                <a:gd name="connsiteX21" fmla="*/ 43445 w 1010931"/>
                <a:gd name="connsiteY21" fmla="*/ 43438 h 956049"/>
                <a:gd name="connsiteX22" fmla="*/ 570839 w 1010931"/>
                <a:gd name="connsiteY22" fmla="*/ 912610 h 956049"/>
                <a:gd name="connsiteX23" fmla="*/ 440093 w 1010931"/>
                <a:gd name="connsiteY23" fmla="*/ 912610 h 956049"/>
                <a:gd name="connsiteX24" fmla="*/ 440093 w 1010931"/>
                <a:gd name="connsiteY24" fmla="*/ 801757 h 956049"/>
                <a:gd name="connsiteX25" fmla="*/ 570839 w 1010931"/>
                <a:gd name="connsiteY25" fmla="*/ 801757 h 956049"/>
                <a:gd name="connsiteX26" fmla="*/ 570839 w 1010931"/>
                <a:gd name="connsiteY26" fmla="*/ 912610 h 956049"/>
                <a:gd name="connsiteX27" fmla="*/ 967488 w 1010931"/>
                <a:gd name="connsiteY27" fmla="*/ 758319 h 956049"/>
                <a:gd name="connsiteX28" fmla="*/ 43445 w 1010931"/>
                <a:gd name="connsiteY28" fmla="*/ 758319 h 956049"/>
                <a:gd name="connsiteX29" fmla="*/ 43445 w 1010931"/>
                <a:gd name="connsiteY29" fmla="*/ 645073 h 956049"/>
                <a:gd name="connsiteX30" fmla="*/ 967488 w 1010931"/>
                <a:gd name="connsiteY30" fmla="*/ 645073 h 956049"/>
                <a:gd name="connsiteX31" fmla="*/ 967488 w 1010931"/>
                <a:gd name="connsiteY31" fmla="*/ 758319 h 95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10931" h="956049">
                  <a:moveTo>
                    <a:pt x="989204" y="0"/>
                  </a:moveTo>
                  <a:lnTo>
                    <a:pt x="21726" y="0"/>
                  </a:lnTo>
                  <a:cubicBezTo>
                    <a:pt x="9732" y="0"/>
                    <a:pt x="8" y="9724"/>
                    <a:pt x="8" y="21719"/>
                  </a:cubicBezTo>
                  <a:cubicBezTo>
                    <a:pt x="-16" y="137887"/>
                    <a:pt x="25" y="675742"/>
                    <a:pt x="8" y="780038"/>
                  </a:cubicBezTo>
                  <a:cubicBezTo>
                    <a:pt x="8" y="792033"/>
                    <a:pt x="9732" y="801757"/>
                    <a:pt x="21726" y="801757"/>
                  </a:cubicBezTo>
                  <a:lnTo>
                    <a:pt x="396656" y="801757"/>
                  </a:lnTo>
                  <a:lnTo>
                    <a:pt x="396656" y="912610"/>
                  </a:lnTo>
                  <a:lnTo>
                    <a:pt x="379591" y="912610"/>
                  </a:lnTo>
                  <a:cubicBezTo>
                    <a:pt x="350849" y="913722"/>
                    <a:pt x="350725" y="954881"/>
                    <a:pt x="379591" y="956049"/>
                  </a:cubicBezTo>
                  <a:cubicBezTo>
                    <a:pt x="432498" y="956049"/>
                    <a:pt x="578425" y="956049"/>
                    <a:pt x="631342" y="956049"/>
                  </a:cubicBezTo>
                  <a:cubicBezTo>
                    <a:pt x="660082" y="954938"/>
                    <a:pt x="660208" y="913777"/>
                    <a:pt x="631342" y="912610"/>
                  </a:cubicBezTo>
                  <a:lnTo>
                    <a:pt x="614278" y="912610"/>
                  </a:lnTo>
                  <a:lnTo>
                    <a:pt x="614278" y="801757"/>
                  </a:lnTo>
                  <a:lnTo>
                    <a:pt x="989204" y="801757"/>
                  </a:lnTo>
                  <a:cubicBezTo>
                    <a:pt x="1001206" y="801757"/>
                    <a:pt x="1010929" y="792033"/>
                    <a:pt x="1010929" y="780038"/>
                  </a:cubicBezTo>
                  <a:cubicBezTo>
                    <a:pt x="1010920" y="678434"/>
                    <a:pt x="1010939" y="134989"/>
                    <a:pt x="1010929" y="21719"/>
                  </a:cubicBezTo>
                  <a:cubicBezTo>
                    <a:pt x="1010929" y="9724"/>
                    <a:pt x="1001206" y="0"/>
                    <a:pt x="989204" y="0"/>
                  </a:cubicBezTo>
                  <a:close/>
                  <a:moveTo>
                    <a:pt x="43445" y="43438"/>
                  </a:moveTo>
                  <a:lnTo>
                    <a:pt x="967488" y="43438"/>
                  </a:lnTo>
                  <a:lnTo>
                    <a:pt x="967488" y="601634"/>
                  </a:lnTo>
                  <a:lnTo>
                    <a:pt x="43445" y="601634"/>
                  </a:lnTo>
                  <a:lnTo>
                    <a:pt x="43445" y="43438"/>
                  </a:lnTo>
                  <a:close/>
                  <a:moveTo>
                    <a:pt x="570839" y="912610"/>
                  </a:moveTo>
                  <a:lnTo>
                    <a:pt x="440093" y="912610"/>
                  </a:lnTo>
                  <a:lnTo>
                    <a:pt x="440093" y="801757"/>
                  </a:lnTo>
                  <a:lnTo>
                    <a:pt x="570839" y="801757"/>
                  </a:lnTo>
                  <a:lnTo>
                    <a:pt x="570839" y="912610"/>
                  </a:lnTo>
                  <a:close/>
                  <a:moveTo>
                    <a:pt x="967488" y="758319"/>
                  </a:moveTo>
                  <a:cubicBezTo>
                    <a:pt x="701645" y="758319"/>
                    <a:pt x="309245" y="758319"/>
                    <a:pt x="43445" y="758319"/>
                  </a:cubicBezTo>
                  <a:lnTo>
                    <a:pt x="43445" y="645073"/>
                  </a:lnTo>
                  <a:lnTo>
                    <a:pt x="967488" y="645073"/>
                  </a:lnTo>
                  <a:lnTo>
                    <a:pt x="967488" y="758319"/>
                  </a:lnTo>
                  <a:close/>
                </a:path>
              </a:pathLst>
            </a:custGeom>
            <a:solidFill>
              <a:srgbClr val="000000"/>
            </a:solidFill>
            <a:ln w="9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CF91880-33D0-3714-7AF7-098FF1A14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831" y="3908606"/>
            <a:ext cx="408334" cy="290227"/>
            <a:chOff x="8853857" y="7502938"/>
            <a:chExt cx="1080135" cy="767714"/>
          </a:xfrm>
        </p:grpSpPr>
        <p:grpSp>
          <p:nvGrpSpPr>
            <p:cNvPr id="26" name="Graphic 6">
              <a:extLst>
                <a:ext uri="{FF2B5EF4-FFF2-40B4-BE49-F238E27FC236}">
                  <a16:creationId xmlns:a16="http://schemas.microsoft.com/office/drawing/2014/main" id="{C16B7293-C591-7CCA-9FB6-DBA4D33C5346}"/>
                </a:ext>
              </a:extLst>
            </p:cNvPr>
            <p:cNvGrpSpPr/>
            <p:nvPr/>
          </p:nvGrpSpPr>
          <p:grpSpPr>
            <a:xfrm>
              <a:off x="8853857" y="7620095"/>
              <a:ext cx="351483" cy="595312"/>
              <a:chOff x="8853857" y="7620095"/>
              <a:chExt cx="351483" cy="595312"/>
            </a:xfrm>
            <a:solidFill>
              <a:srgbClr val="000000"/>
            </a:solidFill>
          </p:grpSpPr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F5A5F3EB-AA31-A7D1-F3B7-3F9A58586ACB}"/>
                  </a:ext>
                </a:extLst>
              </p:cNvPr>
              <p:cNvSpPr/>
              <p:nvPr/>
            </p:nvSpPr>
            <p:spPr>
              <a:xfrm>
                <a:off x="8941487" y="7620095"/>
                <a:ext cx="254317" cy="251460"/>
              </a:xfrm>
              <a:custGeom>
                <a:avLst/>
                <a:gdLst>
                  <a:gd name="connsiteX0" fmla="*/ 127635 w 254317"/>
                  <a:gd name="connsiteY0" fmla="*/ 251460 h 251460"/>
                  <a:gd name="connsiteX1" fmla="*/ 254318 w 254317"/>
                  <a:gd name="connsiteY1" fmla="*/ 125730 h 251460"/>
                  <a:gd name="connsiteX2" fmla="*/ 127635 w 254317"/>
                  <a:gd name="connsiteY2" fmla="*/ 0 h 251460"/>
                  <a:gd name="connsiteX3" fmla="*/ 0 w 254317"/>
                  <a:gd name="connsiteY3" fmla="*/ 125730 h 251460"/>
                  <a:gd name="connsiteX4" fmla="*/ 127635 w 254317"/>
                  <a:gd name="connsiteY4" fmla="*/ 251460 h 251460"/>
                  <a:gd name="connsiteX5" fmla="*/ 40005 w 254317"/>
                  <a:gd name="connsiteY5" fmla="*/ 125730 h 251460"/>
                  <a:gd name="connsiteX6" fmla="*/ 127635 w 254317"/>
                  <a:gd name="connsiteY6" fmla="*/ 39053 h 251460"/>
                  <a:gd name="connsiteX7" fmla="*/ 215265 w 254317"/>
                  <a:gd name="connsiteY7" fmla="*/ 125730 h 251460"/>
                  <a:gd name="connsiteX8" fmla="*/ 127635 w 254317"/>
                  <a:gd name="connsiteY8" fmla="*/ 212408 h 251460"/>
                  <a:gd name="connsiteX9" fmla="*/ 40005 w 254317"/>
                  <a:gd name="connsiteY9" fmla="*/ 125730 h 251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317" h="251460">
                    <a:moveTo>
                      <a:pt x="127635" y="251460"/>
                    </a:moveTo>
                    <a:cubicBezTo>
                      <a:pt x="198120" y="251460"/>
                      <a:pt x="254318" y="195263"/>
                      <a:pt x="254318" y="125730"/>
                    </a:cubicBezTo>
                    <a:cubicBezTo>
                      <a:pt x="254318" y="56198"/>
                      <a:pt x="197168" y="0"/>
                      <a:pt x="127635" y="0"/>
                    </a:cubicBezTo>
                    <a:cubicBezTo>
                      <a:pt x="57150" y="0"/>
                      <a:pt x="0" y="56198"/>
                      <a:pt x="0" y="125730"/>
                    </a:cubicBezTo>
                    <a:cubicBezTo>
                      <a:pt x="0" y="195263"/>
                      <a:pt x="57150" y="251460"/>
                      <a:pt x="127635" y="251460"/>
                    </a:cubicBezTo>
                    <a:close/>
                    <a:moveTo>
                      <a:pt x="40005" y="125730"/>
                    </a:moveTo>
                    <a:cubicBezTo>
                      <a:pt x="40005" y="78105"/>
                      <a:pt x="79057" y="39053"/>
                      <a:pt x="127635" y="39053"/>
                    </a:cubicBezTo>
                    <a:cubicBezTo>
                      <a:pt x="176213" y="39053"/>
                      <a:pt x="215265" y="78105"/>
                      <a:pt x="215265" y="125730"/>
                    </a:cubicBezTo>
                    <a:cubicBezTo>
                      <a:pt x="215265" y="173355"/>
                      <a:pt x="176213" y="212408"/>
                      <a:pt x="127635" y="212408"/>
                    </a:cubicBezTo>
                    <a:cubicBezTo>
                      <a:pt x="79057" y="212408"/>
                      <a:pt x="40005" y="173355"/>
                      <a:pt x="40005" y="1257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61975726-7EFC-EF83-9C54-5DED71FF1D31}"/>
                  </a:ext>
                </a:extLst>
              </p:cNvPr>
              <p:cNvSpPr/>
              <p:nvPr/>
            </p:nvSpPr>
            <p:spPr>
              <a:xfrm>
                <a:off x="8853857" y="7897273"/>
                <a:ext cx="351483" cy="318135"/>
              </a:xfrm>
              <a:custGeom>
                <a:avLst/>
                <a:gdLst>
                  <a:gd name="connsiteX0" fmla="*/ 343853 w 351483"/>
                  <a:gd name="connsiteY0" fmla="*/ 41910 h 318135"/>
                  <a:gd name="connsiteX1" fmla="*/ 215265 w 351483"/>
                  <a:gd name="connsiteY1" fmla="*/ 0 h 318135"/>
                  <a:gd name="connsiteX2" fmla="*/ 0 w 351483"/>
                  <a:gd name="connsiteY2" fmla="*/ 213360 h 318135"/>
                  <a:gd name="connsiteX3" fmla="*/ 0 w 351483"/>
                  <a:gd name="connsiteY3" fmla="*/ 270510 h 318135"/>
                  <a:gd name="connsiteX4" fmla="*/ 47625 w 351483"/>
                  <a:gd name="connsiteY4" fmla="*/ 318135 h 318135"/>
                  <a:gd name="connsiteX5" fmla="*/ 264795 w 351483"/>
                  <a:gd name="connsiteY5" fmla="*/ 318135 h 318135"/>
                  <a:gd name="connsiteX6" fmla="*/ 284798 w 351483"/>
                  <a:gd name="connsiteY6" fmla="*/ 298132 h 318135"/>
                  <a:gd name="connsiteX7" fmla="*/ 264795 w 351483"/>
                  <a:gd name="connsiteY7" fmla="*/ 277178 h 318135"/>
                  <a:gd name="connsiteX8" fmla="*/ 47625 w 351483"/>
                  <a:gd name="connsiteY8" fmla="*/ 277178 h 318135"/>
                  <a:gd name="connsiteX9" fmla="*/ 39053 w 351483"/>
                  <a:gd name="connsiteY9" fmla="*/ 269557 h 318135"/>
                  <a:gd name="connsiteX10" fmla="*/ 39053 w 351483"/>
                  <a:gd name="connsiteY10" fmla="*/ 212407 h 318135"/>
                  <a:gd name="connsiteX11" fmla="*/ 214313 w 351483"/>
                  <a:gd name="connsiteY11" fmla="*/ 39052 h 318135"/>
                  <a:gd name="connsiteX12" fmla="*/ 319088 w 351483"/>
                  <a:gd name="connsiteY12" fmla="*/ 73342 h 318135"/>
                  <a:gd name="connsiteX13" fmla="*/ 346710 w 351483"/>
                  <a:gd name="connsiteY13" fmla="*/ 69532 h 318135"/>
                  <a:gd name="connsiteX14" fmla="*/ 343853 w 351483"/>
                  <a:gd name="connsiteY14" fmla="*/ 41910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51483" h="318135">
                    <a:moveTo>
                      <a:pt x="343853" y="41910"/>
                    </a:moveTo>
                    <a:cubicBezTo>
                      <a:pt x="306705" y="14288"/>
                      <a:pt x="261938" y="0"/>
                      <a:pt x="215265" y="0"/>
                    </a:cubicBezTo>
                    <a:cubicBezTo>
                      <a:pt x="96203" y="0"/>
                      <a:pt x="0" y="95250"/>
                      <a:pt x="0" y="213360"/>
                    </a:cubicBezTo>
                    <a:lnTo>
                      <a:pt x="0" y="270510"/>
                    </a:lnTo>
                    <a:cubicBezTo>
                      <a:pt x="0" y="296228"/>
                      <a:pt x="20955" y="318135"/>
                      <a:pt x="47625" y="318135"/>
                    </a:cubicBezTo>
                    <a:lnTo>
                      <a:pt x="264795" y="318135"/>
                    </a:lnTo>
                    <a:cubicBezTo>
                      <a:pt x="275273" y="318135"/>
                      <a:pt x="284798" y="309563"/>
                      <a:pt x="284798" y="298132"/>
                    </a:cubicBezTo>
                    <a:cubicBezTo>
                      <a:pt x="284798" y="286703"/>
                      <a:pt x="276225" y="277178"/>
                      <a:pt x="264795" y="277178"/>
                    </a:cubicBezTo>
                    <a:lnTo>
                      <a:pt x="47625" y="277178"/>
                    </a:lnTo>
                    <a:cubicBezTo>
                      <a:pt x="42863" y="277178"/>
                      <a:pt x="39053" y="273367"/>
                      <a:pt x="39053" y="269557"/>
                    </a:cubicBezTo>
                    <a:lnTo>
                      <a:pt x="39053" y="212407"/>
                    </a:lnTo>
                    <a:cubicBezTo>
                      <a:pt x="39053" y="117157"/>
                      <a:pt x="118110" y="39052"/>
                      <a:pt x="214313" y="39052"/>
                    </a:cubicBezTo>
                    <a:cubicBezTo>
                      <a:pt x="252413" y="39052"/>
                      <a:pt x="288608" y="50482"/>
                      <a:pt x="319088" y="73342"/>
                    </a:cubicBezTo>
                    <a:cubicBezTo>
                      <a:pt x="327660" y="80010"/>
                      <a:pt x="340043" y="78105"/>
                      <a:pt x="346710" y="69532"/>
                    </a:cubicBezTo>
                    <a:cubicBezTo>
                      <a:pt x="354330" y="60007"/>
                      <a:pt x="352425" y="47625"/>
                      <a:pt x="343853" y="419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7" name="Graphic 6">
              <a:extLst>
                <a:ext uri="{FF2B5EF4-FFF2-40B4-BE49-F238E27FC236}">
                  <a16:creationId xmlns:a16="http://schemas.microsoft.com/office/drawing/2014/main" id="{6E66478E-B5F0-CAC2-ACE8-1466FE4D6825}"/>
                </a:ext>
              </a:extLst>
            </p:cNvPr>
            <p:cNvGrpSpPr/>
            <p:nvPr/>
          </p:nvGrpSpPr>
          <p:grpSpPr>
            <a:xfrm>
              <a:off x="9574657" y="7611523"/>
              <a:ext cx="359335" cy="589597"/>
              <a:chOff x="9574657" y="7611523"/>
              <a:chExt cx="359335" cy="589597"/>
            </a:xfrm>
            <a:solidFill>
              <a:srgbClr val="000000"/>
            </a:solidFill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209F2AF9-E16E-2069-0BD0-14DBB3263BD3}"/>
                  </a:ext>
                </a:extLst>
              </p:cNvPr>
              <p:cNvSpPr/>
              <p:nvPr/>
            </p:nvSpPr>
            <p:spPr>
              <a:xfrm>
                <a:off x="9574657" y="7883938"/>
                <a:ext cx="359335" cy="317182"/>
              </a:xfrm>
              <a:custGeom>
                <a:avLst/>
                <a:gdLst>
                  <a:gd name="connsiteX0" fmla="*/ 144070 w 359335"/>
                  <a:gd name="connsiteY0" fmla="*/ 0 h 317182"/>
                  <a:gd name="connsiteX1" fmla="*/ 7863 w 359335"/>
                  <a:gd name="connsiteY1" fmla="*/ 47625 h 317182"/>
                  <a:gd name="connsiteX2" fmla="*/ 243 w 359335"/>
                  <a:gd name="connsiteY2" fmla="*/ 60960 h 317182"/>
                  <a:gd name="connsiteX3" fmla="*/ 5005 w 359335"/>
                  <a:gd name="connsiteY3" fmla="*/ 75248 h 317182"/>
                  <a:gd name="connsiteX4" fmla="*/ 32628 w 359335"/>
                  <a:gd name="connsiteY4" fmla="*/ 78105 h 317182"/>
                  <a:gd name="connsiteX5" fmla="*/ 144070 w 359335"/>
                  <a:gd name="connsiteY5" fmla="*/ 39052 h 317182"/>
                  <a:gd name="connsiteX6" fmla="*/ 319330 w 359335"/>
                  <a:gd name="connsiteY6" fmla="*/ 212408 h 317182"/>
                  <a:gd name="connsiteX7" fmla="*/ 319330 w 359335"/>
                  <a:gd name="connsiteY7" fmla="*/ 269558 h 317182"/>
                  <a:gd name="connsiteX8" fmla="*/ 310758 w 359335"/>
                  <a:gd name="connsiteY8" fmla="*/ 277178 h 317182"/>
                  <a:gd name="connsiteX9" fmla="*/ 94540 w 359335"/>
                  <a:gd name="connsiteY9" fmla="*/ 277178 h 317182"/>
                  <a:gd name="connsiteX10" fmla="*/ 74538 w 359335"/>
                  <a:gd name="connsiteY10" fmla="*/ 297180 h 317182"/>
                  <a:gd name="connsiteX11" fmla="*/ 94540 w 359335"/>
                  <a:gd name="connsiteY11" fmla="*/ 317183 h 317182"/>
                  <a:gd name="connsiteX12" fmla="*/ 311710 w 359335"/>
                  <a:gd name="connsiteY12" fmla="*/ 317183 h 317182"/>
                  <a:gd name="connsiteX13" fmla="*/ 359335 w 359335"/>
                  <a:gd name="connsiteY13" fmla="*/ 269558 h 317182"/>
                  <a:gd name="connsiteX14" fmla="*/ 359335 w 359335"/>
                  <a:gd name="connsiteY14" fmla="*/ 212408 h 317182"/>
                  <a:gd name="connsiteX15" fmla="*/ 144070 w 359335"/>
                  <a:gd name="connsiteY15" fmla="*/ 0 h 31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9335" h="317182">
                    <a:moveTo>
                      <a:pt x="144070" y="0"/>
                    </a:moveTo>
                    <a:cubicBezTo>
                      <a:pt x="94540" y="0"/>
                      <a:pt x="45963" y="17145"/>
                      <a:pt x="7863" y="47625"/>
                    </a:cubicBezTo>
                    <a:cubicBezTo>
                      <a:pt x="4053" y="50482"/>
                      <a:pt x="1195" y="55245"/>
                      <a:pt x="243" y="60960"/>
                    </a:cubicBezTo>
                    <a:cubicBezTo>
                      <a:pt x="-710" y="65723"/>
                      <a:pt x="1195" y="71438"/>
                      <a:pt x="5005" y="75248"/>
                    </a:cubicBezTo>
                    <a:cubicBezTo>
                      <a:pt x="11673" y="83820"/>
                      <a:pt x="24055" y="84773"/>
                      <a:pt x="32628" y="78105"/>
                    </a:cubicBezTo>
                    <a:cubicBezTo>
                      <a:pt x="64060" y="52388"/>
                      <a:pt x="103113" y="39052"/>
                      <a:pt x="144070" y="39052"/>
                    </a:cubicBezTo>
                    <a:cubicBezTo>
                      <a:pt x="241225" y="39052"/>
                      <a:pt x="319330" y="117158"/>
                      <a:pt x="319330" y="212408"/>
                    </a:cubicBezTo>
                    <a:lnTo>
                      <a:pt x="319330" y="269558"/>
                    </a:lnTo>
                    <a:cubicBezTo>
                      <a:pt x="319330" y="274320"/>
                      <a:pt x="315520" y="277178"/>
                      <a:pt x="310758" y="277178"/>
                    </a:cubicBezTo>
                    <a:lnTo>
                      <a:pt x="94540" y="277178"/>
                    </a:lnTo>
                    <a:cubicBezTo>
                      <a:pt x="84063" y="277178"/>
                      <a:pt x="74538" y="285750"/>
                      <a:pt x="74538" y="297180"/>
                    </a:cubicBezTo>
                    <a:cubicBezTo>
                      <a:pt x="74538" y="308610"/>
                      <a:pt x="83110" y="317183"/>
                      <a:pt x="94540" y="317183"/>
                    </a:cubicBezTo>
                    <a:lnTo>
                      <a:pt x="311710" y="317183"/>
                    </a:lnTo>
                    <a:cubicBezTo>
                      <a:pt x="338380" y="317183"/>
                      <a:pt x="359335" y="296228"/>
                      <a:pt x="359335" y="269558"/>
                    </a:cubicBezTo>
                    <a:lnTo>
                      <a:pt x="359335" y="212408"/>
                    </a:lnTo>
                    <a:cubicBezTo>
                      <a:pt x="359335" y="95250"/>
                      <a:pt x="263133" y="0"/>
                      <a:pt x="1440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FCC10A30-8E05-C977-5E71-BE8D40BCC761}"/>
                  </a:ext>
                </a:extLst>
              </p:cNvPr>
              <p:cNvSpPr/>
              <p:nvPr/>
            </p:nvSpPr>
            <p:spPr>
              <a:xfrm>
                <a:off x="9592045" y="7611523"/>
                <a:ext cx="254317" cy="251459"/>
              </a:xfrm>
              <a:custGeom>
                <a:avLst/>
                <a:gdLst>
                  <a:gd name="connsiteX0" fmla="*/ 126682 w 254317"/>
                  <a:gd name="connsiteY0" fmla="*/ 251460 h 251459"/>
                  <a:gd name="connsiteX1" fmla="*/ 254317 w 254317"/>
                  <a:gd name="connsiteY1" fmla="*/ 125730 h 251459"/>
                  <a:gd name="connsiteX2" fmla="*/ 126682 w 254317"/>
                  <a:gd name="connsiteY2" fmla="*/ 0 h 251459"/>
                  <a:gd name="connsiteX3" fmla="*/ 0 w 254317"/>
                  <a:gd name="connsiteY3" fmla="*/ 125730 h 251459"/>
                  <a:gd name="connsiteX4" fmla="*/ 126682 w 254317"/>
                  <a:gd name="connsiteY4" fmla="*/ 251460 h 251459"/>
                  <a:gd name="connsiteX5" fmla="*/ 39052 w 254317"/>
                  <a:gd name="connsiteY5" fmla="*/ 125730 h 251459"/>
                  <a:gd name="connsiteX6" fmla="*/ 126682 w 254317"/>
                  <a:gd name="connsiteY6" fmla="*/ 39053 h 251459"/>
                  <a:gd name="connsiteX7" fmla="*/ 214313 w 254317"/>
                  <a:gd name="connsiteY7" fmla="*/ 125730 h 251459"/>
                  <a:gd name="connsiteX8" fmla="*/ 126682 w 254317"/>
                  <a:gd name="connsiteY8" fmla="*/ 212408 h 251459"/>
                  <a:gd name="connsiteX9" fmla="*/ 39052 w 254317"/>
                  <a:gd name="connsiteY9" fmla="*/ 125730 h 251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317" h="251459">
                    <a:moveTo>
                      <a:pt x="126682" y="251460"/>
                    </a:moveTo>
                    <a:cubicBezTo>
                      <a:pt x="197167" y="251460"/>
                      <a:pt x="254317" y="195263"/>
                      <a:pt x="254317" y="125730"/>
                    </a:cubicBezTo>
                    <a:cubicBezTo>
                      <a:pt x="254317" y="56197"/>
                      <a:pt x="197167" y="0"/>
                      <a:pt x="126682" y="0"/>
                    </a:cubicBezTo>
                    <a:cubicBezTo>
                      <a:pt x="56197" y="0"/>
                      <a:pt x="0" y="56197"/>
                      <a:pt x="0" y="125730"/>
                    </a:cubicBezTo>
                    <a:cubicBezTo>
                      <a:pt x="0" y="195263"/>
                      <a:pt x="57150" y="251460"/>
                      <a:pt x="126682" y="251460"/>
                    </a:cubicBezTo>
                    <a:close/>
                    <a:moveTo>
                      <a:pt x="39052" y="125730"/>
                    </a:moveTo>
                    <a:cubicBezTo>
                      <a:pt x="39052" y="78105"/>
                      <a:pt x="78105" y="39053"/>
                      <a:pt x="126682" y="39053"/>
                    </a:cubicBezTo>
                    <a:cubicBezTo>
                      <a:pt x="175260" y="39053"/>
                      <a:pt x="214313" y="78105"/>
                      <a:pt x="214313" y="125730"/>
                    </a:cubicBezTo>
                    <a:cubicBezTo>
                      <a:pt x="214313" y="173355"/>
                      <a:pt x="175260" y="212408"/>
                      <a:pt x="126682" y="212408"/>
                    </a:cubicBezTo>
                    <a:cubicBezTo>
                      <a:pt x="78105" y="212408"/>
                      <a:pt x="39052" y="173355"/>
                      <a:pt x="39052" y="1257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c 6">
              <a:extLst>
                <a:ext uri="{FF2B5EF4-FFF2-40B4-BE49-F238E27FC236}">
                  <a16:creationId xmlns:a16="http://schemas.microsoft.com/office/drawing/2014/main" id="{F7BB8A40-C118-4F17-8034-85609C56FBDC}"/>
                </a:ext>
              </a:extLst>
            </p:cNvPr>
            <p:cNvGrpSpPr/>
            <p:nvPr/>
          </p:nvGrpSpPr>
          <p:grpSpPr>
            <a:xfrm>
              <a:off x="9099602" y="7502938"/>
              <a:ext cx="588645" cy="767714"/>
              <a:chOff x="9099602" y="7502938"/>
              <a:chExt cx="588645" cy="767714"/>
            </a:xfrm>
            <a:solidFill>
              <a:srgbClr val="7A003C"/>
            </a:solidFill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4F238B4-AF73-1E5C-AE39-FF4730FD9E1B}"/>
                  </a:ext>
                </a:extLst>
              </p:cNvPr>
              <p:cNvSpPr/>
              <p:nvPr/>
            </p:nvSpPr>
            <p:spPr>
              <a:xfrm>
                <a:off x="9099602" y="7840123"/>
                <a:ext cx="588645" cy="430529"/>
              </a:xfrm>
              <a:custGeom>
                <a:avLst/>
                <a:gdLst>
                  <a:gd name="connsiteX0" fmla="*/ 294323 w 588645"/>
                  <a:gd name="connsiteY0" fmla="*/ 0 h 430529"/>
                  <a:gd name="connsiteX1" fmla="*/ 0 w 588645"/>
                  <a:gd name="connsiteY1" fmla="*/ 291465 h 430529"/>
                  <a:gd name="connsiteX2" fmla="*/ 0 w 588645"/>
                  <a:gd name="connsiteY2" fmla="*/ 371475 h 430529"/>
                  <a:gd name="connsiteX3" fmla="*/ 59055 w 588645"/>
                  <a:gd name="connsiteY3" fmla="*/ 430530 h 430529"/>
                  <a:gd name="connsiteX4" fmla="*/ 529590 w 588645"/>
                  <a:gd name="connsiteY4" fmla="*/ 430530 h 430529"/>
                  <a:gd name="connsiteX5" fmla="*/ 588645 w 588645"/>
                  <a:gd name="connsiteY5" fmla="*/ 371475 h 430529"/>
                  <a:gd name="connsiteX6" fmla="*/ 588645 w 588645"/>
                  <a:gd name="connsiteY6" fmla="*/ 291465 h 430529"/>
                  <a:gd name="connsiteX7" fmla="*/ 294323 w 588645"/>
                  <a:gd name="connsiteY7" fmla="*/ 0 h 430529"/>
                  <a:gd name="connsiteX8" fmla="*/ 549593 w 588645"/>
                  <a:gd name="connsiteY8" fmla="*/ 291465 h 430529"/>
                  <a:gd name="connsiteX9" fmla="*/ 549593 w 588645"/>
                  <a:gd name="connsiteY9" fmla="*/ 371475 h 430529"/>
                  <a:gd name="connsiteX10" fmla="*/ 529590 w 588645"/>
                  <a:gd name="connsiteY10" fmla="*/ 390525 h 430529"/>
                  <a:gd name="connsiteX11" fmla="*/ 59055 w 588645"/>
                  <a:gd name="connsiteY11" fmla="*/ 390525 h 430529"/>
                  <a:gd name="connsiteX12" fmla="*/ 39053 w 588645"/>
                  <a:gd name="connsiteY12" fmla="*/ 371475 h 430529"/>
                  <a:gd name="connsiteX13" fmla="*/ 39053 w 588645"/>
                  <a:gd name="connsiteY13" fmla="*/ 291465 h 430529"/>
                  <a:gd name="connsiteX14" fmla="*/ 294323 w 588645"/>
                  <a:gd name="connsiteY14" fmla="*/ 39052 h 430529"/>
                  <a:gd name="connsiteX15" fmla="*/ 474345 w 588645"/>
                  <a:gd name="connsiteY15" fmla="*/ 113348 h 430529"/>
                  <a:gd name="connsiteX16" fmla="*/ 549593 w 588645"/>
                  <a:gd name="connsiteY16" fmla="*/ 291465 h 430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88645" h="430529">
                    <a:moveTo>
                      <a:pt x="294323" y="0"/>
                    </a:moveTo>
                    <a:cubicBezTo>
                      <a:pt x="131445" y="0"/>
                      <a:pt x="0" y="130492"/>
                      <a:pt x="0" y="291465"/>
                    </a:cubicBezTo>
                    <a:lnTo>
                      <a:pt x="0" y="371475"/>
                    </a:lnTo>
                    <a:cubicBezTo>
                      <a:pt x="0" y="403860"/>
                      <a:pt x="26670" y="430530"/>
                      <a:pt x="59055" y="430530"/>
                    </a:cubicBezTo>
                    <a:lnTo>
                      <a:pt x="529590" y="430530"/>
                    </a:lnTo>
                    <a:cubicBezTo>
                      <a:pt x="561975" y="430530"/>
                      <a:pt x="588645" y="403860"/>
                      <a:pt x="588645" y="371475"/>
                    </a:cubicBezTo>
                    <a:lnTo>
                      <a:pt x="588645" y="291465"/>
                    </a:lnTo>
                    <a:cubicBezTo>
                      <a:pt x="588645" y="130492"/>
                      <a:pt x="457200" y="0"/>
                      <a:pt x="294323" y="0"/>
                    </a:cubicBezTo>
                    <a:close/>
                    <a:moveTo>
                      <a:pt x="549593" y="291465"/>
                    </a:moveTo>
                    <a:lnTo>
                      <a:pt x="549593" y="371475"/>
                    </a:lnTo>
                    <a:cubicBezTo>
                      <a:pt x="549593" y="381953"/>
                      <a:pt x="541020" y="390525"/>
                      <a:pt x="529590" y="390525"/>
                    </a:cubicBezTo>
                    <a:lnTo>
                      <a:pt x="59055" y="390525"/>
                    </a:lnTo>
                    <a:cubicBezTo>
                      <a:pt x="48578" y="390525"/>
                      <a:pt x="39053" y="381953"/>
                      <a:pt x="39053" y="371475"/>
                    </a:cubicBezTo>
                    <a:lnTo>
                      <a:pt x="39053" y="291465"/>
                    </a:lnTo>
                    <a:cubicBezTo>
                      <a:pt x="39053" y="152400"/>
                      <a:pt x="153353" y="39052"/>
                      <a:pt x="294323" y="39052"/>
                    </a:cubicBezTo>
                    <a:cubicBezTo>
                      <a:pt x="361950" y="39052"/>
                      <a:pt x="426720" y="65722"/>
                      <a:pt x="474345" y="113348"/>
                    </a:cubicBezTo>
                    <a:cubicBezTo>
                      <a:pt x="522923" y="160973"/>
                      <a:pt x="549593" y="224790"/>
                      <a:pt x="549593" y="291465"/>
                    </a:cubicBezTo>
                    <a:close/>
                  </a:path>
                </a:pathLst>
              </a:custGeom>
              <a:solidFill>
                <a:srgbClr val="7A00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F2CCE94F-F1A6-C988-FBCE-9C3D27F34B9A}"/>
                  </a:ext>
                </a:extLst>
              </p:cNvPr>
              <p:cNvSpPr/>
              <p:nvPr/>
            </p:nvSpPr>
            <p:spPr>
              <a:xfrm>
                <a:off x="9225332" y="7502938"/>
                <a:ext cx="325755" cy="321944"/>
              </a:xfrm>
              <a:custGeom>
                <a:avLst/>
                <a:gdLst>
                  <a:gd name="connsiteX0" fmla="*/ 162878 w 325755"/>
                  <a:gd name="connsiteY0" fmla="*/ 321945 h 321944"/>
                  <a:gd name="connsiteX1" fmla="*/ 325755 w 325755"/>
                  <a:gd name="connsiteY1" fmla="*/ 160973 h 321944"/>
                  <a:gd name="connsiteX2" fmla="*/ 162878 w 325755"/>
                  <a:gd name="connsiteY2" fmla="*/ 0 h 321944"/>
                  <a:gd name="connsiteX3" fmla="*/ 0 w 325755"/>
                  <a:gd name="connsiteY3" fmla="*/ 160973 h 321944"/>
                  <a:gd name="connsiteX4" fmla="*/ 162878 w 325755"/>
                  <a:gd name="connsiteY4" fmla="*/ 321945 h 321944"/>
                  <a:gd name="connsiteX5" fmla="*/ 39053 w 325755"/>
                  <a:gd name="connsiteY5" fmla="*/ 160973 h 321944"/>
                  <a:gd name="connsiteX6" fmla="*/ 161925 w 325755"/>
                  <a:gd name="connsiteY6" fmla="*/ 39053 h 321944"/>
                  <a:gd name="connsiteX7" fmla="*/ 284797 w 325755"/>
                  <a:gd name="connsiteY7" fmla="*/ 160973 h 321944"/>
                  <a:gd name="connsiteX8" fmla="*/ 161925 w 325755"/>
                  <a:gd name="connsiteY8" fmla="*/ 282893 h 321944"/>
                  <a:gd name="connsiteX9" fmla="*/ 39053 w 325755"/>
                  <a:gd name="connsiteY9" fmla="*/ 160973 h 32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5755" h="321944">
                    <a:moveTo>
                      <a:pt x="162878" y="321945"/>
                    </a:moveTo>
                    <a:cubicBezTo>
                      <a:pt x="252413" y="321945"/>
                      <a:pt x="325755" y="249555"/>
                      <a:pt x="325755" y="160973"/>
                    </a:cubicBezTo>
                    <a:cubicBezTo>
                      <a:pt x="325755" y="72390"/>
                      <a:pt x="252413" y="0"/>
                      <a:pt x="162878" y="0"/>
                    </a:cubicBezTo>
                    <a:cubicBezTo>
                      <a:pt x="73343" y="0"/>
                      <a:pt x="0" y="71438"/>
                      <a:pt x="0" y="160973"/>
                    </a:cubicBezTo>
                    <a:cubicBezTo>
                      <a:pt x="0" y="249555"/>
                      <a:pt x="72390" y="321945"/>
                      <a:pt x="162878" y="321945"/>
                    </a:cubicBezTo>
                    <a:close/>
                    <a:moveTo>
                      <a:pt x="39053" y="160973"/>
                    </a:moveTo>
                    <a:cubicBezTo>
                      <a:pt x="39053" y="94298"/>
                      <a:pt x="94298" y="39053"/>
                      <a:pt x="161925" y="39053"/>
                    </a:cubicBezTo>
                    <a:cubicBezTo>
                      <a:pt x="229553" y="39053"/>
                      <a:pt x="284797" y="93345"/>
                      <a:pt x="284797" y="160973"/>
                    </a:cubicBezTo>
                    <a:cubicBezTo>
                      <a:pt x="284797" y="227648"/>
                      <a:pt x="229553" y="282893"/>
                      <a:pt x="161925" y="282893"/>
                    </a:cubicBezTo>
                    <a:cubicBezTo>
                      <a:pt x="94298" y="282893"/>
                      <a:pt x="39053" y="227648"/>
                      <a:pt x="39053" y="160973"/>
                    </a:cubicBezTo>
                    <a:close/>
                  </a:path>
                </a:pathLst>
              </a:custGeom>
              <a:solidFill>
                <a:srgbClr val="7A003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87B8675-2F57-5A36-48F7-A2E031E0C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62150" y="4976718"/>
            <a:ext cx="369696" cy="329868"/>
            <a:chOff x="7508988" y="7469512"/>
            <a:chExt cx="977928" cy="872576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1E22B78-E447-FED9-C623-5A0F5BE3518D}"/>
                </a:ext>
              </a:extLst>
            </p:cNvPr>
            <p:cNvSpPr/>
            <p:nvPr/>
          </p:nvSpPr>
          <p:spPr>
            <a:xfrm>
              <a:off x="7872822" y="7754396"/>
              <a:ext cx="251459" cy="251460"/>
            </a:xfrm>
            <a:custGeom>
              <a:avLst/>
              <a:gdLst>
                <a:gd name="connsiteX0" fmla="*/ 217170 w 251459"/>
                <a:gd name="connsiteY0" fmla="*/ 91440 h 251460"/>
                <a:gd name="connsiteX1" fmla="*/ 160020 w 251459"/>
                <a:gd name="connsiteY1" fmla="*/ 91440 h 251460"/>
                <a:gd name="connsiteX2" fmla="*/ 160020 w 251459"/>
                <a:gd name="connsiteY2" fmla="*/ 34290 h 251460"/>
                <a:gd name="connsiteX3" fmla="*/ 125730 w 251459"/>
                <a:gd name="connsiteY3" fmla="*/ 0 h 251460"/>
                <a:gd name="connsiteX4" fmla="*/ 91440 w 251459"/>
                <a:gd name="connsiteY4" fmla="*/ 34290 h 251460"/>
                <a:gd name="connsiteX5" fmla="*/ 91440 w 251459"/>
                <a:gd name="connsiteY5" fmla="*/ 91440 h 251460"/>
                <a:gd name="connsiteX6" fmla="*/ 34290 w 251459"/>
                <a:gd name="connsiteY6" fmla="*/ 91440 h 251460"/>
                <a:gd name="connsiteX7" fmla="*/ 0 w 251459"/>
                <a:gd name="connsiteY7" fmla="*/ 125730 h 251460"/>
                <a:gd name="connsiteX8" fmla="*/ 34290 w 251459"/>
                <a:gd name="connsiteY8" fmla="*/ 160020 h 251460"/>
                <a:gd name="connsiteX9" fmla="*/ 91440 w 251459"/>
                <a:gd name="connsiteY9" fmla="*/ 160020 h 251460"/>
                <a:gd name="connsiteX10" fmla="*/ 91440 w 251459"/>
                <a:gd name="connsiteY10" fmla="*/ 217170 h 251460"/>
                <a:gd name="connsiteX11" fmla="*/ 125730 w 251459"/>
                <a:gd name="connsiteY11" fmla="*/ 251460 h 251460"/>
                <a:gd name="connsiteX12" fmla="*/ 160020 w 251459"/>
                <a:gd name="connsiteY12" fmla="*/ 217170 h 251460"/>
                <a:gd name="connsiteX13" fmla="*/ 160020 w 251459"/>
                <a:gd name="connsiteY13" fmla="*/ 160020 h 251460"/>
                <a:gd name="connsiteX14" fmla="*/ 217170 w 251459"/>
                <a:gd name="connsiteY14" fmla="*/ 160020 h 251460"/>
                <a:gd name="connsiteX15" fmla="*/ 251460 w 251459"/>
                <a:gd name="connsiteY15" fmla="*/ 125730 h 251460"/>
                <a:gd name="connsiteX16" fmla="*/ 217170 w 251459"/>
                <a:gd name="connsiteY16" fmla="*/ 91440 h 25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1459" h="251460">
                  <a:moveTo>
                    <a:pt x="217170" y="91440"/>
                  </a:moveTo>
                  <a:lnTo>
                    <a:pt x="160020" y="91440"/>
                  </a:lnTo>
                  <a:lnTo>
                    <a:pt x="160020" y="34290"/>
                  </a:lnTo>
                  <a:cubicBezTo>
                    <a:pt x="160020" y="15240"/>
                    <a:pt x="144780" y="0"/>
                    <a:pt x="125730" y="0"/>
                  </a:cubicBezTo>
                  <a:cubicBezTo>
                    <a:pt x="106680" y="0"/>
                    <a:pt x="91440" y="15240"/>
                    <a:pt x="91440" y="34290"/>
                  </a:cubicBezTo>
                  <a:lnTo>
                    <a:pt x="91440" y="91440"/>
                  </a:lnTo>
                  <a:lnTo>
                    <a:pt x="34290" y="91440"/>
                  </a:lnTo>
                  <a:cubicBezTo>
                    <a:pt x="15240" y="91440"/>
                    <a:pt x="0" y="106680"/>
                    <a:pt x="0" y="125730"/>
                  </a:cubicBezTo>
                  <a:cubicBezTo>
                    <a:pt x="0" y="144780"/>
                    <a:pt x="15240" y="160020"/>
                    <a:pt x="34290" y="160020"/>
                  </a:cubicBezTo>
                  <a:lnTo>
                    <a:pt x="91440" y="160020"/>
                  </a:lnTo>
                  <a:lnTo>
                    <a:pt x="91440" y="217170"/>
                  </a:lnTo>
                  <a:cubicBezTo>
                    <a:pt x="91440" y="236220"/>
                    <a:pt x="106680" y="251460"/>
                    <a:pt x="125730" y="251460"/>
                  </a:cubicBezTo>
                  <a:cubicBezTo>
                    <a:pt x="144780" y="251460"/>
                    <a:pt x="160020" y="236220"/>
                    <a:pt x="160020" y="217170"/>
                  </a:cubicBezTo>
                  <a:lnTo>
                    <a:pt x="160020" y="160020"/>
                  </a:lnTo>
                  <a:lnTo>
                    <a:pt x="217170" y="160020"/>
                  </a:lnTo>
                  <a:cubicBezTo>
                    <a:pt x="236220" y="160020"/>
                    <a:pt x="251460" y="144780"/>
                    <a:pt x="251460" y="125730"/>
                  </a:cubicBezTo>
                  <a:cubicBezTo>
                    <a:pt x="251460" y="106680"/>
                    <a:pt x="236220" y="91440"/>
                    <a:pt x="217170" y="91440"/>
                  </a:cubicBezTo>
                  <a:close/>
                </a:path>
              </a:pathLst>
            </a:custGeom>
            <a:solidFill>
              <a:srgbClr val="7A003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3B33A4A-3E07-33B6-1AB6-081EDDA22781}"/>
                </a:ext>
              </a:extLst>
            </p:cNvPr>
            <p:cNvSpPr/>
            <p:nvPr/>
          </p:nvSpPr>
          <p:spPr>
            <a:xfrm>
              <a:off x="7508988" y="7469512"/>
              <a:ext cx="977928" cy="872576"/>
            </a:xfrm>
            <a:custGeom>
              <a:avLst/>
              <a:gdLst>
                <a:gd name="connsiteX0" fmla="*/ 489564 w 977928"/>
                <a:gd name="connsiteY0" fmla="*/ 872577 h 872576"/>
                <a:gd name="connsiteX1" fmla="*/ 467656 w 977928"/>
                <a:gd name="connsiteY1" fmla="*/ 863052 h 872576"/>
                <a:gd name="connsiteX2" fmla="*/ 87609 w 977928"/>
                <a:gd name="connsiteY2" fmla="*/ 483957 h 872576"/>
                <a:gd name="connsiteX3" fmla="*/ 59034 w 977928"/>
                <a:gd name="connsiteY3" fmla="*/ 102004 h 872576"/>
                <a:gd name="connsiteX4" fmla="*/ 260964 w 977928"/>
                <a:gd name="connsiteY4" fmla="*/ 87 h 872576"/>
                <a:gd name="connsiteX5" fmla="*/ 273346 w 977928"/>
                <a:gd name="connsiteY5" fmla="*/ 87 h 872576"/>
                <a:gd name="connsiteX6" fmla="*/ 470514 w 977928"/>
                <a:gd name="connsiteY6" fmla="*/ 82002 h 872576"/>
                <a:gd name="connsiteX7" fmla="*/ 506709 w 977928"/>
                <a:gd name="connsiteY7" fmla="*/ 82002 h 872576"/>
                <a:gd name="connsiteX8" fmla="*/ 716259 w 977928"/>
                <a:gd name="connsiteY8" fmla="*/ 87 h 872576"/>
                <a:gd name="connsiteX9" fmla="*/ 918189 w 977928"/>
                <a:gd name="connsiteY9" fmla="*/ 102004 h 872576"/>
                <a:gd name="connsiteX10" fmla="*/ 889614 w 977928"/>
                <a:gd name="connsiteY10" fmla="*/ 483957 h 872576"/>
                <a:gd name="connsiteX11" fmla="*/ 509566 w 977928"/>
                <a:gd name="connsiteY11" fmla="*/ 864004 h 872576"/>
                <a:gd name="connsiteX12" fmla="*/ 489564 w 977928"/>
                <a:gd name="connsiteY12" fmla="*/ 872577 h 872576"/>
                <a:gd name="connsiteX13" fmla="*/ 261916 w 977928"/>
                <a:gd name="connsiteY13" fmla="*/ 33424 h 872576"/>
                <a:gd name="connsiteX14" fmla="*/ 84751 w 977928"/>
                <a:gd name="connsiteY14" fmla="*/ 122959 h 872576"/>
                <a:gd name="connsiteX15" fmla="*/ 111421 w 977928"/>
                <a:gd name="connsiteY15" fmla="*/ 460144 h 872576"/>
                <a:gd name="connsiteX16" fmla="*/ 489564 w 977928"/>
                <a:gd name="connsiteY16" fmla="*/ 838287 h 872576"/>
                <a:gd name="connsiteX17" fmla="*/ 867706 w 977928"/>
                <a:gd name="connsiteY17" fmla="*/ 460144 h 872576"/>
                <a:gd name="connsiteX18" fmla="*/ 893424 w 977928"/>
                <a:gd name="connsiteY18" fmla="*/ 122959 h 872576"/>
                <a:gd name="connsiteX19" fmla="*/ 715306 w 977928"/>
                <a:gd name="connsiteY19" fmla="*/ 33424 h 872576"/>
                <a:gd name="connsiteX20" fmla="*/ 530521 w 977928"/>
                <a:gd name="connsiteY20" fmla="*/ 104862 h 872576"/>
                <a:gd name="connsiteX21" fmla="*/ 446701 w 977928"/>
                <a:gd name="connsiteY21" fmla="*/ 104862 h 872576"/>
                <a:gd name="connsiteX22" fmla="*/ 273346 w 977928"/>
                <a:gd name="connsiteY22" fmla="*/ 33424 h 872576"/>
                <a:gd name="connsiteX23" fmla="*/ 261916 w 977928"/>
                <a:gd name="connsiteY23" fmla="*/ 33424 h 872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77928" h="872576">
                  <a:moveTo>
                    <a:pt x="489564" y="872577"/>
                  </a:moveTo>
                  <a:cubicBezTo>
                    <a:pt x="481944" y="872577"/>
                    <a:pt x="474324" y="869719"/>
                    <a:pt x="467656" y="863052"/>
                  </a:cubicBezTo>
                  <a:lnTo>
                    <a:pt x="87609" y="483957"/>
                  </a:lnTo>
                  <a:cubicBezTo>
                    <a:pt x="-17166" y="379182"/>
                    <a:pt x="-29549" y="210589"/>
                    <a:pt x="59034" y="102004"/>
                  </a:cubicBezTo>
                  <a:cubicBezTo>
                    <a:pt x="110469" y="40092"/>
                    <a:pt x="182859" y="3897"/>
                    <a:pt x="260964" y="87"/>
                  </a:cubicBezTo>
                  <a:lnTo>
                    <a:pt x="273346" y="87"/>
                  </a:lnTo>
                  <a:cubicBezTo>
                    <a:pt x="346689" y="87"/>
                    <a:pt x="418126" y="29614"/>
                    <a:pt x="470514" y="82002"/>
                  </a:cubicBezTo>
                  <a:cubicBezTo>
                    <a:pt x="480991" y="92479"/>
                    <a:pt x="497184" y="92479"/>
                    <a:pt x="506709" y="82002"/>
                  </a:cubicBezTo>
                  <a:cubicBezTo>
                    <a:pt x="561001" y="27709"/>
                    <a:pt x="637201" y="-1818"/>
                    <a:pt x="716259" y="87"/>
                  </a:cubicBezTo>
                  <a:cubicBezTo>
                    <a:pt x="795316" y="3897"/>
                    <a:pt x="866754" y="40092"/>
                    <a:pt x="918189" y="102004"/>
                  </a:cubicBezTo>
                  <a:cubicBezTo>
                    <a:pt x="1007724" y="211542"/>
                    <a:pt x="995341" y="379182"/>
                    <a:pt x="889614" y="483957"/>
                  </a:cubicBezTo>
                  <a:lnTo>
                    <a:pt x="509566" y="864004"/>
                  </a:lnTo>
                  <a:cubicBezTo>
                    <a:pt x="504804" y="869719"/>
                    <a:pt x="497184" y="872577"/>
                    <a:pt x="489564" y="872577"/>
                  </a:cubicBezTo>
                  <a:close/>
                  <a:moveTo>
                    <a:pt x="261916" y="33424"/>
                  </a:moveTo>
                  <a:cubicBezTo>
                    <a:pt x="193336" y="36282"/>
                    <a:pt x="130471" y="68667"/>
                    <a:pt x="84751" y="122959"/>
                  </a:cubicBezTo>
                  <a:cubicBezTo>
                    <a:pt x="6646" y="219162"/>
                    <a:pt x="18076" y="366799"/>
                    <a:pt x="111421" y="460144"/>
                  </a:cubicBezTo>
                  <a:lnTo>
                    <a:pt x="489564" y="838287"/>
                  </a:lnTo>
                  <a:lnTo>
                    <a:pt x="867706" y="460144"/>
                  </a:lnTo>
                  <a:cubicBezTo>
                    <a:pt x="961051" y="366799"/>
                    <a:pt x="972481" y="219162"/>
                    <a:pt x="893424" y="122959"/>
                  </a:cubicBezTo>
                  <a:cubicBezTo>
                    <a:pt x="847704" y="68667"/>
                    <a:pt x="784839" y="37234"/>
                    <a:pt x="715306" y="33424"/>
                  </a:cubicBezTo>
                  <a:cubicBezTo>
                    <a:pt x="645774" y="31519"/>
                    <a:pt x="579099" y="57237"/>
                    <a:pt x="530521" y="104862"/>
                  </a:cubicBezTo>
                  <a:cubicBezTo>
                    <a:pt x="507661" y="127722"/>
                    <a:pt x="469561" y="127722"/>
                    <a:pt x="446701" y="104862"/>
                  </a:cubicBezTo>
                  <a:cubicBezTo>
                    <a:pt x="400981" y="59142"/>
                    <a:pt x="338116" y="33424"/>
                    <a:pt x="273346" y="33424"/>
                  </a:cubicBezTo>
                  <a:lnTo>
                    <a:pt x="261916" y="3342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D99DB0E-AD7D-0E2F-7FC8-D7DF0F926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60934" y="5481877"/>
            <a:ext cx="372129" cy="406285"/>
            <a:chOff x="9446584" y="5459814"/>
            <a:chExt cx="984365" cy="1074715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5EFC542-1B63-21B3-C6FA-FE13A0BE624F}"/>
                </a:ext>
              </a:extLst>
            </p:cNvPr>
            <p:cNvGrpSpPr/>
            <p:nvPr/>
          </p:nvGrpSpPr>
          <p:grpSpPr>
            <a:xfrm>
              <a:off x="9596465" y="5459814"/>
              <a:ext cx="707252" cy="706415"/>
              <a:chOff x="9596465" y="5459814"/>
              <a:chExt cx="707252" cy="706415"/>
            </a:xfrm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6CB27E12-5684-511C-C261-C771642C1EC6}"/>
                  </a:ext>
                </a:extLst>
              </p:cNvPr>
              <p:cNvSpPr/>
              <p:nvPr/>
            </p:nvSpPr>
            <p:spPr>
              <a:xfrm>
                <a:off x="9596465" y="5459814"/>
                <a:ext cx="234484" cy="233485"/>
              </a:xfrm>
              <a:custGeom>
                <a:avLst/>
                <a:gdLst>
                  <a:gd name="connsiteX0" fmla="*/ 94536 w 234484"/>
                  <a:gd name="connsiteY0" fmla="*/ 233485 h 233485"/>
                  <a:gd name="connsiteX1" fmla="*/ 92862 w 234484"/>
                  <a:gd name="connsiteY1" fmla="*/ 233485 h 233485"/>
                  <a:gd name="connsiteX2" fmla="*/ 79469 w 234484"/>
                  <a:gd name="connsiteY2" fmla="*/ 225952 h 233485"/>
                  <a:gd name="connsiteX3" fmla="*/ 3298 w 234484"/>
                  <a:gd name="connsiteY3" fmla="*/ 118810 h 233485"/>
                  <a:gd name="connsiteX4" fmla="*/ 4972 w 234484"/>
                  <a:gd name="connsiteY4" fmla="*/ 96210 h 233485"/>
                  <a:gd name="connsiteX5" fmla="*/ 97047 w 234484"/>
                  <a:gd name="connsiteY5" fmla="*/ 4972 h 233485"/>
                  <a:gd name="connsiteX6" fmla="*/ 119647 w 234484"/>
                  <a:gd name="connsiteY6" fmla="*/ 3298 h 233485"/>
                  <a:gd name="connsiteX7" fmla="*/ 226789 w 234484"/>
                  <a:gd name="connsiteY7" fmla="*/ 79469 h 233485"/>
                  <a:gd name="connsiteX8" fmla="*/ 234322 w 234484"/>
                  <a:gd name="connsiteY8" fmla="*/ 92862 h 233485"/>
                  <a:gd name="connsiteX9" fmla="*/ 229300 w 234484"/>
                  <a:gd name="connsiteY9" fmla="*/ 107091 h 233485"/>
                  <a:gd name="connsiteX10" fmla="*/ 107091 w 234484"/>
                  <a:gd name="connsiteY10" fmla="*/ 228463 h 233485"/>
                  <a:gd name="connsiteX11" fmla="*/ 94536 w 234484"/>
                  <a:gd name="connsiteY11" fmla="*/ 233485 h 233485"/>
                  <a:gd name="connsiteX12" fmla="*/ 40965 w 234484"/>
                  <a:gd name="connsiteY12" fmla="*/ 110440 h 233485"/>
                  <a:gd name="connsiteX13" fmla="*/ 96210 w 234484"/>
                  <a:gd name="connsiteY13" fmla="*/ 187448 h 233485"/>
                  <a:gd name="connsiteX14" fmla="*/ 188285 w 234484"/>
                  <a:gd name="connsiteY14" fmla="*/ 95373 h 233485"/>
                  <a:gd name="connsiteX15" fmla="*/ 111277 w 234484"/>
                  <a:gd name="connsiteY15" fmla="*/ 40128 h 233485"/>
                  <a:gd name="connsiteX16" fmla="*/ 40965 w 234484"/>
                  <a:gd name="connsiteY16" fmla="*/ 110440 h 23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4484" h="233485">
                    <a:moveTo>
                      <a:pt x="94536" y="233485"/>
                    </a:moveTo>
                    <a:cubicBezTo>
                      <a:pt x="93699" y="233485"/>
                      <a:pt x="93699" y="233485"/>
                      <a:pt x="92862" y="233485"/>
                    </a:cubicBezTo>
                    <a:cubicBezTo>
                      <a:pt x="87839" y="232648"/>
                      <a:pt x="82817" y="230137"/>
                      <a:pt x="79469" y="225952"/>
                    </a:cubicBezTo>
                    <a:lnTo>
                      <a:pt x="3298" y="118810"/>
                    </a:lnTo>
                    <a:cubicBezTo>
                      <a:pt x="-1725" y="112114"/>
                      <a:pt x="-888" y="102069"/>
                      <a:pt x="4972" y="96210"/>
                    </a:cubicBezTo>
                    <a:lnTo>
                      <a:pt x="97047" y="4972"/>
                    </a:lnTo>
                    <a:cubicBezTo>
                      <a:pt x="102906" y="-888"/>
                      <a:pt x="112951" y="-1725"/>
                      <a:pt x="119647" y="3298"/>
                    </a:cubicBezTo>
                    <a:lnTo>
                      <a:pt x="226789" y="79469"/>
                    </a:lnTo>
                    <a:cubicBezTo>
                      <a:pt x="230974" y="82817"/>
                      <a:pt x="233485" y="87002"/>
                      <a:pt x="234322" y="92862"/>
                    </a:cubicBezTo>
                    <a:cubicBezTo>
                      <a:pt x="235159" y="97884"/>
                      <a:pt x="232648" y="102906"/>
                      <a:pt x="229300" y="107091"/>
                    </a:cubicBezTo>
                    <a:lnTo>
                      <a:pt x="107091" y="228463"/>
                    </a:lnTo>
                    <a:cubicBezTo>
                      <a:pt x="103743" y="231811"/>
                      <a:pt x="98721" y="233485"/>
                      <a:pt x="94536" y="233485"/>
                    </a:cubicBezTo>
                    <a:close/>
                    <a:moveTo>
                      <a:pt x="40965" y="110440"/>
                    </a:moveTo>
                    <a:lnTo>
                      <a:pt x="96210" y="187448"/>
                    </a:lnTo>
                    <a:lnTo>
                      <a:pt x="188285" y="95373"/>
                    </a:lnTo>
                    <a:lnTo>
                      <a:pt x="111277" y="40128"/>
                    </a:lnTo>
                    <a:lnTo>
                      <a:pt x="40965" y="110440"/>
                    </a:lnTo>
                    <a:close/>
                  </a:path>
                </a:pathLst>
              </a:custGeom>
              <a:solidFill>
                <a:srgbClr val="7A003C"/>
              </a:solidFill>
              <a:ln w="83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5A9954E3-61AC-1DBA-18FD-24745B406B74}"/>
                  </a:ext>
                </a:extLst>
              </p:cNvPr>
              <p:cNvSpPr/>
              <p:nvPr/>
            </p:nvSpPr>
            <p:spPr>
              <a:xfrm>
                <a:off x="10085249" y="5947761"/>
                <a:ext cx="218468" cy="218468"/>
              </a:xfrm>
              <a:custGeom>
                <a:avLst/>
                <a:gdLst>
                  <a:gd name="connsiteX0" fmla="*/ 108816 w 218468"/>
                  <a:gd name="connsiteY0" fmla="*/ 218469 h 218468"/>
                  <a:gd name="connsiteX1" fmla="*/ 96260 w 218468"/>
                  <a:gd name="connsiteY1" fmla="*/ 213447 h 218468"/>
                  <a:gd name="connsiteX2" fmla="*/ 5022 w 218468"/>
                  <a:gd name="connsiteY2" fmla="*/ 121372 h 218468"/>
                  <a:gd name="connsiteX3" fmla="*/ 0 w 218468"/>
                  <a:gd name="connsiteY3" fmla="*/ 108816 h 218468"/>
                  <a:gd name="connsiteX4" fmla="*/ 5022 w 218468"/>
                  <a:gd name="connsiteY4" fmla="*/ 96260 h 218468"/>
                  <a:gd name="connsiteX5" fmla="*/ 96260 w 218468"/>
                  <a:gd name="connsiteY5" fmla="*/ 5022 h 218468"/>
                  <a:gd name="connsiteX6" fmla="*/ 121372 w 218468"/>
                  <a:gd name="connsiteY6" fmla="*/ 5022 h 218468"/>
                  <a:gd name="connsiteX7" fmla="*/ 213447 w 218468"/>
                  <a:gd name="connsiteY7" fmla="*/ 96260 h 218468"/>
                  <a:gd name="connsiteX8" fmla="*/ 218469 w 218468"/>
                  <a:gd name="connsiteY8" fmla="*/ 108816 h 218468"/>
                  <a:gd name="connsiteX9" fmla="*/ 213447 w 218468"/>
                  <a:gd name="connsiteY9" fmla="*/ 121372 h 218468"/>
                  <a:gd name="connsiteX10" fmla="*/ 121372 w 218468"/>
                  <a:gd name="connsiteY10" fmla="*/ 213447 h 218468"/>
                  <a:gd name="connsiteX11" fmla="*/ 108816 w 218468"/>
                  <a:gd name="connsiteY11" fmla="*/ 218469 h 218468"/>
                  <a:gd name="connsiteX12" fmla="*/ 42689 w 218468"/>
                  <a:gd name="connsiteY12" fmla="*/ 108816 h 218468"/>
                  <a:gd name="connsiteX13" fmla="*/ 108816 w 218468"/>
                  <a:gd name="connsiteY13" fmla="*/ 174942 h 218468"/>
                  <a:gd name="connsiteX14" fmla="*/ 174943 w 218468"/>
                  <a:gd name="connsiteY14" fmla="*/ 108816 h 218468"/>
                  <a:gd name="connsiteX15" fmla="*/ 108816 w 218468"/>
                  <a:gd name="connsiteY15" fmla="*/ 42689 h 218468"/>
                  <a:gd name="connsiteX16" fmla="*/ 42689 w 218468"/>
                  <a:gd name="connsiteY16" fmla="*/ 108816 h 21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8468" h="218468">
                    <a:moveTo>
                      <a:pt x="108816" y="218469"/>
                    </a:moveTo>
                    <a:cubicBezTo>
                      <a:pt x="104631" y="218469"/>
                      <a:pt x="99608" y="216795"/>
                      <a:pt x="96260" y="213447"/>
                    </a:cubicBezTo>
                    <a:lnTo>
                      <a:pt x="5022" y="121372"/>
                    </a:lnTo>
                    <a:cubicBezTo>
                      <a:pt x="1674" y="118023"/>
                      <a:pt x="0" y="113838"/>
                      <a:pt x="0" y="108816"/>
                    </a:cubicBezTo>
                    <a:cubicBezTo>
                      <a:pt x="0" y="103794"/>
                      <a:pt x="1674" y="99608"/>
                      <a:pt x="5022" y="96260"/>
                    </a:cubicBezTo>
                    <a:lnTo>
                      <a:pt x="96260" y="5022"/>
                    </a:lnTo>
                    <a:cubicBezTo>
                      <a:pt x="102957" y="-1674"/>
                      <a:pt x="114675" y="-1674"/>
                      <a:pt x="121372" y="5022"/>
                    </a:cubicBezTo>
                    <a:lnTo>
                      <a:pt x="213447" y="96260"/>
                    </a:lnTo>
                    <a:cubicBezTo>
                      <a:pt x="216795" y="99608"/>
                      <a:pt x="218469" y="103794"/>
                      <a:pt x="218469" y="108816"/>
                    </a:cubicBezTo>
                    <a:cubicBezTo>
                      <a:pt x="218469" y="113838"/>
                      <a:pt x="216795" y="118023"/>
                      <a:pt x="213447" y="121372"/>
                    </a:cubicBezTo>
                    <a:lnTo>
                      <a:pt x="121372" y="213447"/>
                    </a:lnTo>
                    <a:cubicBezTo>
                      <a:pt x="118023" y="216795"/>
                      <a:pt x="113838" y="218469"/>
                      <a:pt x="108816" y="218469"/>
                    </a:cubicBezTo>
                    <a:close/>
                    <a:moveTo>
                      <a:pt x="42689" y="108816"/>
                    </a:moveTo>
                    <a:lnTo>
                      <a:pt x="108816" y="174942"/>
                    </a:lnTo>
                    <a:lnTo>
                      <a:pt x="174943" y="108816"/>
                    </a:lnTo>
                    <a:lnTo>
                      <a:pt x="108816" y="42689"/>
                    </a:lnTo>
                    <a:lnTo>
                      <a:pt x="42689" y="108816"/>
                    </a:lnTo>
                    <a:close/>
                  </a:path>
                </a:pathLst>
              </a:custGeom>
              <a:solidFill>
                <a:srgbClr val="7A003C"/>
              </a:solidFill>
              <a:ln w="83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7" name="Graphic 102">
              <a:extLst>
                <a:ext uri="{FF2B5EF4-FFF2-40B4-BE49-F238E27FC236}">
                  <a16:creationId xmlns:a16="http://schemas.microsoft.com/office/drawing/2014/main" id="{25195CC2-F02F-955C-6361-89FADB668229}"/>
                </a:ext>
              </a:extLst>
            </p:cNvPr>
            <p:cNvGrpSpPr/>
            <p:nvPr/>
          </p:nvGrpSpPr>
          <p:grpSpPr>
            <a:xfrm>
              <a:off x="9446584" y="5523379"/>
              <a:ext cx="984365" cy="1011150"/>
              <a:chOff x="9446584" y="5523379"/>
              <a:chExt cx="984365" cy="1011150"/>
            </a:xfrm>
            <a:solidFill>
              <a:srgbClr val="000000"/>
            </a:solidFill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F9AB1C3C-0175-6841-D6B6-D00FB04B6ABF}"/>
                  </a:ext>
                </a:extLst>
              </p:cNvPr>
              <p:cNvSpPr/>
              <p:nvPr/>
            </p:nvSpPr>
            <p:spPr>
              <a:xfrm>
                <a:off x="9861758" y="6350380"/>
                <a:ext cx="65289" cy="65289"/>
              </a:xfrm>
              <a:custGeom>
                <a:avLst/>
                <a:gdLst>
                  <a:gd name="connsiteX0" fmla="*/ 65290 w 65289"/>
                  <a:gd name="connsiteY0" fmla="*/ 32645 h 65289"/>
                  <a:gd name="connsiteX1" fmla="*/ 32645 w 65289"/>
                  <a:gd name="connsiteY1" fmla="*/ 65290 h 65289"/>
                  <a:gd name="connsiteX2" fmla="*/ 0 w 65289"/>
                  <a:gd name="connsiteY2" fmla="*/ 32645 h 65289"/>
                  <a:gd name="connsiteX3" fmla="*/ 32645 w 65289"/>
                  <a:gd name="connsiteY3" fmla="*/ 0 h 65289"/>
                  <a:gd name="connsiteX4" fmla="*/ 65290 w 65289"/>
                  <a:gd name="connsiteY4" fmla="*/ 32645 h 65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89" h="65289">
                    <a:moveTo>
                      <a:pt x="65290" y="32645"/>
                    </a:moveTo>
                    <a:cubicBezTo>
                      <a:pt x="65290" y="50223"/>
                      <a:pt x="51060" y="65290"/>
                      <a:pt x="32645" y="65290"/>
                    </a:cubicBezTo>
                    <a:cubicBezTo>
                      <a:pt x="15067" y="65290"/>
                      <a:pt x="0" y="51060"/>
                      <a:pt x="0" y="32645"/>
                    </a:cubicBezTo>
                    <a:cubicBezTo>
                      <a:pt x="0" y="15067"/>
                      <a:pt x="14230" y="0"/>
                      <a:pt x="32645" y="0"/>
                    </a:cubicBezTo>
                    <a:cubicBezTo>
                      <a:pt x="51060" y="0"/>
                      <a:pt x="65290" y="15067"/>
                      <a:pt x="65290" y="326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83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088AFCFA-F290-98F5-E99C-08FA3BA9D58B}"/>
                  </a:ext>
                </a:extLst>
              </p:cNvPr>
              <p:cNvSpPr/>
              <p:nvPr/>
            </p:nvSpPr>
            <p:spPr>
              <a:xfrm>
                <a:off x="9446584" y="5523379"/>
                <a:ext cx="984365" cy="1011150"/>
              </a:xfrm>
              <a:custGeom>
                <a:avLst/>
                <a:gdLst>
                  <a:gd name="connsiteX0" fmla="*/ 965950 w 984365"/>
                  <a:gd name="connsiteY0" fmla="*/ 712326 h 1011150"/>
                  <a:gd name="connsiteX1" fmla="*/ 836208 w 984365"/>
                  <a:gd name="connsiteY1" fmla="*/ 712326 h 1011150"/>
                  <a:gd name="connsiteX2" fmla="*/ 750830 w 984365"/>
                  <a:gd name="connsiteY2" fmla="*/ 712326 h 1011150"/>
                  <a:gd name="connsiteX3" fmla="*/ 534872 w 984365"/>
                  <a:gd name="connsiteY3" fmla="*/ 712326 h 1011150"/>
                  <a:gd name="connsiteX4" fmla="*/ 363278 w 984365"/>
                  <a:gd name="connsiteY4" fmla="*/ 712326 h 1011150"/>
                  <a:gd name="connsiteX5" fmla="*/ 362441 w 984365"/>
                  <a:gd name="connsiteY5" fmla="*/ 712326 h 1011150"/>
                  <a:gd name="connsiteX6" fmla="*/ 298825 w 984365"/>
                  <a:gd name="connsiteY6" fmla="*/ 712326 h 1011150"/>
                  <a:gd name="connsiteX7" fmla="*/ 165735 w 984365"/>
                  <a:gd name="connsiteY7" fmla="*/ 579235 h 1011150"/>
                  <a:gd name="connsiteX8" fmla="*/ 298825 w 984365"/>
                  <a:gd name="connsiteY8" fmla="*/ 446145 h 1011150"/>
                  <a:gd name="connsiteX9" fmla="*/ 333144 w 984365"/>
                  <a:gd name="connsiteY9" fmla="*/ 446145 h 1011150"/>
                  <a:gd name="connsiteX10" fmla="*/ 427730 w 984365"/>
                  <a:gd name="connsiteY10" fmla="*/ 489672 h 1011150"/>
                  <a:gd name="connsiteX11" fmla="*/ 482975 w 984365"/>
                  <a:gd name="connsiteY11" fmla="*/ 476279 h 1011150"/>
                  <a:gd name="connsiteX12" fmla="*/ 567517 w 984365"/>
                  <a:gd name="connsiteY12" fmla="*/ 560820 h 1011150"/>
                  <a:gd name="connsiteX13" fmla="*/ 610206 w 984365"/>
                  <a:gd name="connsiteY13" fmla="*/ 578398 h 1011150"/>
                  <a:gd name="connsiteX14" fmla="*/ 652895 w 984365"/>
                  <a:gd name="connsiteY14" fmla="*/ 560820 h 1011150"/>
                  <a:gd name="connsiteX15" fmla="*/ 775104 w 984365"/>
                  <a:gd name="connsiteY15" fmla="*/ 438612 h 1011150"/>
                  <a:gd name="connsiteX16" fmla="*/ 792682 w 984365"/>
                  <a:gd name="connsiteY16" fmla="*/ 395923 h 1011150"/>
                  <a:gd name="connsiteX17" fmla="*/ 775104 w 984365"/>
                  <a:gd name="connsiteY17" fmla="*/ 353233 h 1011150"/>
                  <a:gd name="connsiteX18" fmla="*/ 440286 w 984365"/>
                  <a:gd name="connsiteY18" fmla="*/ 17578 h 1011150"/>
                  <a:gd name="connsiteX19" fmla="*/ 354070 w 984365"/>
                  <a:gd name="connsiteY19" fmla="*/ 17578 h 1011150"/>
                  <a:gd name="connsiteX20" fmla="*/ 231862 w 984365"/>
                  <a:gd name="connsiteY20" fmla="*/ 139787 h 1011150"/>
                  <a:gd name="connsiteX21" fmla="*/ 231862 w 984365"/>
                  <a:gd name="connsiteY21" fmla="*/ 226002 h 1011150"/>
                  <a:gd name="connsiteX22" fmla="*/ 287944 w 984365"/>
                  <a:gd name="connsiteY22" fmla="*/ 282084 h 1011150"/>
                  <a:gd name="connsiteX23" fmla="*/ 0 w 984365"/>
                  <a:gd name="connsiteY23" fmla="*/ 579235 h 1011150"/>
                  <a:gd name="connsiteX24" fmla="*/ 295477 w 984365"/>
                  <a:gd name="connsiteY24" fmla="*/ 877224 h 1011150"/>
                  <a:gd name="connsiteX25" fmla="*/ 262832 w 984365"/>
                  <a:gd name="connsiteY25" fmla="*/ 975995 h 1011150"/>
                  <a:gd name="connsiteX26" fmla="*/ 232699 w 984365"/>
                  <a:gd name="connsiteY26" fmla="*/ 975995 h 1011150"/>
                  <a:gd name="connsiteX27" fmla="*/ 215121 w 984365"/>
                  <a:gd name="connsiteY27" fmla="*/ 993573 h 1011150"/>
                  <a:gd name="connsiteX28" fmla="*/ 232699 w 984365"/>
                  <a:gd name="connsiteY28" fmla="*/ 1011151 h 1011150"/>
                  <a:gd name="connsiteX29" fmla="*/ 276225 w 984365"/>
                  <a:gd name="connsiteY29" fmla="*/ 1011151 h 1011150"/>
                  <a:gd name="connsiteX30" fmla="*/ 621088 w 984365"/>
                  <a:gd name="connsiteY30" fmla="*/ 1011151 h 1011150"/>
                  <a:gd name="connsiteX31" fmla="*/ 664614 w 984365"/>
                  <a:gd name="connsiteY31" fmla="*/ 1011151 h 1011150"/>
                  <a:gd name="connsiteX32" fmla="*/ 682192 w 984365"/>
                  <a:gd name="connsiteY32" fmla="*/ 993573 h 1011150"/>
                  <a:gd name="connsiteX33" fmla="*/ 664614 w 984365"/>
                  <a:gd name="connsiteY33" fmla="*/ 975995 h 1011150"/>
                  <a:gd name="connsiteX34" fmla="*/ 634480 w 984365"/>
                  <a:gd name="connsiteY34" fmla="*/ 975995 h 1011150"/>
                  <a:gd name="connsiteX35" fmla="*/ 602673 w 984365"/>
                  <a:gd name="connsiteY35" fmla="*/ 878061 h 1011150"/>
                  <a:gd name="connsiteX36" fmla="*/ 708141 w 984365"/>
                  <a:gd name="connsiteY36" fmla="*/ 878061 h 1011150"/>
                  <a:gd name="connsiteX37" fmla="*/ 853786 w 984365"/>
                  <a:gd name="connsiteY37" fmla="*/ 748319 h 1011150"/>
                  <a:gd name="connsiteX38" fmla="*/ 966788 w 984365"/>
                  <a:gd name="connsiteY38" fmla="*/ 748319 h 1011150"/>
                  <a:gd name="connsiteX39" fmla="*/ 984366 w 984365"/>
                  <a:gd name="connsiteY39" fmla="*/ 730741 h 1011150"/>
                  <a:gd name="connsiteX40" fmla="*/ 965950 w 984365"/>
                  <a:gd name="connsiteY40" fmla="*/ 712326 h 1011150"/>
                  <a:gd name="connsiteX41" fmla="*/ 358255 w 984365"/>
                  <a:gd name="connsiteY41" fmla="*/ 421871 h 1011150"/>
                  <a:gd name="connsiteX42" fmla="*/ 352396 w 984365"/>
                  <a:gd name="connsiteY42" fmla="*/ 413500 h 1011150"/>
                  <a:gd name="connsiteX43" fmla="*/ 337329 w 984365"/>
                  <a:gd name="connsiteY43" fmla="*/ 363278 h 1011150"/>
                  <a:gd name="connsiteX44" fmla="*/ 352396 w 984365"/>
                  <a:gd name="connsiteY44" fmla="*/ 313055 h 1011150"/>
                  <a:gd name="connsiteX45" fmla="*/ 358255 w 984365"/>
                  <a:gd name="connsiteY45" fmla="*/ 304685 h 1011150"/>
                  <a:gd name="connsiteX46" fmla="*/ 426893 w 984365"/>
                  <a:gd name="connsiteY46" fmla="*/ 272877 h 1011150"/>
                  <a:gd name="connsiteX47" fmla="*/ 517294 w 984365"/>
                  <a:gd name="connsiteY47" fmla="*/ 363278 h 1011150"/>
                  <a:gd name="connsiteX48" fmla="*/ 477116 w 984365"/>
                  <a:gd name="connsiteY48" fmla="*/ 438612 h 1011150"/>
                  <a:gd name="connsiteX49" fmla="*/ 475442 w 984365"/>
                  <a:gd name="connsiteY49" fmla="*/ 439449 h 1011150"/>
                  <a:gd name="connsiteX50" fmla="*/ 426893 w 984365"/>
                  <a:gd name="connsiteY50" fmla="*/ 453679 h 1011150"/>
                  <a:gd name="connsiteX51" fmla="*/ 358255 w 984365"/>
                  <a:gd name="connsiteY51" fmla="*/ 421871 h 1011150"/>
                  <a:gd name="connsiteX52" fmla="*/ 256973 w 984365"/>
                  <a:gd name="connsiteY52" fmla="*/ 164898 h 1011150"/>
                  <a:gd name="connsiteX53" fmla="*/ 379182 w 984365"/>
                  <a:gd name="connsiteY53" fmla="*/ 42689 h 1011150"/>
                  <a:gd name="connsiteX54" fmla="*/ 415175 w 984365"/>
                  <a:gd name="connsiteY54" fmla="*/ 42689 h 1011150"/>
                  <a:gd name="connsiteX55" fmla="*/ 750830 w 984365"/>
                  <a:gd name="connsiteY55" fmla="*/ 378345 h 1011150"/>
                  <a:gd name="connsiteX56" fmla="*/ 758363 w 984365"/>
                  <a:gd name="connsiteY56" fmla="*/ 395923 h 1011150"/>
                  <a:gd name="connsiteX57" fmla="*/ 750830 w 984365"/>
                  <a:gd name="connsiteY57" fmla="*/ 413500 h 1011150"/>
                  <a:gd name="connsiteX58" fmla="*/ 628621 w 984365"/>
                  <a:gd name="connsiteY58" fmla="*/ 535709 h 1011150"/>
                  <a:gd name="connsiteX59" fmla="*/ 592628 w 984365"/>
                  <a:gd name="connsiteY59" fmla="*/ 535709 h 1011150"/>
                  <a:gd name="connsiteX60" fmla="*/ 512272 w 984365"/>
                  <a:gd name="connsiteY60" fmla="*/ 455353 h 1011150"/>
                  <a:gd name="connsiteX61" fmla="*/ 552450 w 984365"/>
                  <a:gd name="connsiteY61" fmla="*/ 363278 h 1011150"/>
                  <a:gd name="connsiteX62" fmla="*/ 426893 w 984365"/>
                  <a:gd name="connsiteY62" fmla="*/ 237721 h 1011150"/>
                  <a:gd name="connsiteX63" fmla="*/ 334818 w 984365"/>
                  <a:gd name="connsiteY63" fmla="*/ 277899 h 1011150"/>
                  <a:gd name="connsiteX64" fmla="*/ 256973 w 984365"/>
                  <a:gd name="connsiteY64" fmla="*/ 200054 h 1011150"/>
                  <a:gd name="connsiteX65" fmla="*/ 256973 w 984365"/>
                  <a:gd name="connsiteY65" fmla="*/ 164898 h 1011150"/>
                  <a:gd name="connsiteX66" fmla="*/ 297988 w 984365"/>
                  <a:gd name="connsiteY66" fmla="*/ 842068 h 1011150"/>
                  <a:gd name="connsiteX67" fmla="*/ 35156 w 984365"/>
                  <a:gd name="connsiteY67" fmla="*/ 579235 h 1011150"/>
                  <a:gd name="connsiteX68" fmla="*/ 297988 w 984365"/>
                  <a:gd name="connsiteY68" fmla="*/ 316403 h 1011150"/>
                  <a:gd name="connsiteX69" fmla="*/ 310544 w 984365"/>
                  <a:gd name="connsiteY69" fmla="*/ 316403 h 1011150"/>
                  <a:gd name="connsiteX70" fmla="*/ 301336 w 984365"/>
                  <a:gd name="connsiteY70" fmla="*/ 363278 h 1011150"/>
                  <a:gd name="connsiteX71" fmla="*/ 310544 w 984365"/>
                  <a:gd name="connsiteY71" fmla="*/ 410152 h 1011150"/>
                  <a:gd name="connsiteX72" fmla="*/ 297988 w 984365"/>
                  <a:gd name="connsiteY72" fmla="*/ 410152 h 1011150"/>
                  <a:gd name="connsiteX73" fmla="*/ 128905 w 984365"/>
                  <a:gd name="connsiteY73" fmla="*/ 579235 h 1011150"/>
                  <a:gd name="connsiteX74" fmla="*/ 297988 w 984365"/>
                  <a:gd name="connsiteY74" fmla="*/ 748319 h 1011150"/>
                  <a:gd name="connsiteX75" fmla="*/ 337329 w 984365"/>
                  <a:gd name="connsiteY75" fmla="*/ 748319 h 1011150"/>
                  <a:gd name="connsiteX76" fmla="*/ 307196 w 984365"/>
                  <a:gd name="connsiteY76" fmla="*/ 842068 h 1011150"/>
                  <a:gd name="connsiteX77" fmla="*/ 297988 w 984365"/>
                  <a:gd name="connsiteY77" fmla="*/ 842068 h 1011150"/>
                  <a:gd name="connsiteX78" fmla="*/ 300499 w 984365"/>
                  <a:gd name="connsiteY78" fmla="*/ 975995 h 1011150"/>
                  <a:gd name="connsiteX79" fmla="*/ 374996 w 984365"/>
                  <a:gd name="connsiteY79" fmla="*/ 748319 h 1011150"/>
                  <a:gd name="connsiteX80" fmla="*/ 521479 w 984365"/>
                  <a:gd name="connsiteY80" fmla="*/ 748319 h 1011150"/>
                  <a:gd name="connsiteX81" fmla="*/ 595976 w 984365"/>
                  <a:gd name="connsiteY81" fmla="*/ 975995 h 1011150"/>
                  <a:gd name="connsiteX82" fmla="*/ 300499 w 984365"/>
                  <a:gd name="connsiteY82" fmla="*/ 975995 h 1011150"/>
                  <a:gd name="connsiteX83" fmla="*/ 707303 w 984365"/>
                  <a:gd name="connsiteY83" fmla="*/ 842068 h 1011150"/>
                  <a:gd name="connsiteX84" fmla="*/ 590117 w 984365"/>
                  <a:gd name="connsiteY84" fmla="*/ 842068 h 1011150"/>
                  <a:gd name="connsiteX85" fmla="*/ 559146 w 984365"/>
                  <a:gd name="connsiteY85" fmla="*/ 748319 h 1011150"/>
                  <a:gd name="connsiteX86" fmla="*/ 749993 w 984365"/>
                  <a:gd name="connsiteY86" fmla="*/ 748319 h 1011150"/>
                  <a:gd name="connsiteX87" fmla="*/ 816956 w 984365"/>
                  <a:gd name="connsiteY87" fmla="*/ 748319 h 1011150"/>
                  <a:gd name="connsiteX88" fmla="*/ 707303 w 984365"/>
                  <a:gd name="connsiteY88" fmla="*/ 842068 h 1011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984365" h="1011150">
                    <a:moveTo>
                      <a:pt x="965950" y="712326"/>
                    </a:moveTo>
                    <a:lnTo>
                      <a:pt x="836208" y="712326"/>
                    </a:lnTo>
                    <a:lnTo>
                      <a:pt x="750830" y="712326"/>
                    </a:lnTo>
                    <a:lnTo>
                      <a:pt x="534872" y="712326"/>
                    </a:lnTo>
                    <a:lnTo>
                      <a:pt x="363278" y="712326"/>
                    </a:lnTo>
                    <a:lnTo>
                      <a:pt x="362441" y="712326"/>
                    </a:lnTo>
                    <a:lnTo>
                      <a:pt x="298825" y="712326"/>
                    </a:lnTo>
                    <a:cubicBezTo>
                      <a:pt x="225165" y="712326"/>
                      <a:pt x="165735" y="652895"/>
                      <a:pt x="165735" y="579235"/>
                    </a:cubicBezTo>
                    <a:cubicBezTo>
                      <a:pt x="165735" y="505575"/>
                      <a:pt x="225165" y="446145"/>
                      <a:pt x="298825" y="446145"/>
                    </a:cubicBezTo>
                    <a:lnTo>
                      <a:pt x="333144" y="446145"/>
                    </a:lnTo>
                    <a:cubicBezTo>
                      <a:pt x="356581" y="472931"/>
                      <a:pt x="390063" y="489672"/>
                      <a:pt x="427730" y="489672"/>
                    </a:cubicBezTo>
                    <a:cubicBezTo>
                      <a:pt x="447819" y="489672"/>
                      <a:pt x="466234" y="484649"/>
                      <a:pt x="482975" y="476279"/>
                    </a:cubicBezTo>
                    <a:lnTo>
                      <a:pt x="567517" y="560820"/>
                    </a:lnTo>
                    <a:cubicBezTo>
                      <a:pt x="579236" y="572539"/>
                      <a:pt x="594302" y="578398"/>
                      <a:pt x="610206" y="578398"/>
                    </a:cubicBezTo>
                    <a:cubicBezTo>
                      <a:pt x="626110" y="578398"/>
                      <a:pt x="642014" y="571702"/>
                      <a:pt x="652895" y="560820"/>
                    </a:cubicBezTo>
                    <a:lnTo>
                      <a:pt x="775104" y="438612"/>
                    </a:lnTo>
                    <a:cubicBezTo>
                      <a:pt x="786823" y="426893"/>
                      <a:pt x="792682" y="411826"/>
                      <a:pt x="792682" y="395923"/>
                    </a:cubicBezTo>
                    <a:cubicBezTo>
                      <a:pt x="792682" y="380019"/>
                      <a:pt x="785986" y="364115"/>
                      <a:pt x="775104" y="353233"/>
                    </a:cubicBezTo>
                    <a:lnTo>
                      <a:pt x="440286" y="17578"/>
                    </a:lnTo>
                    <a:cubicBezTo>
                      <a:pt x="416849" y="-5859"/>
                      <a:pt x="377508" y="-5859"/>
                      <a:pt x="354070" y="17578"/>
                    </a:cubicBezTo>
                    <a:lnTo>
                      <a:pt x="231862" y="139787"/>
                    </a:lnTo>
                    <a:cubicBezTo>
                      <a:pt x="208424" y="163224"/>
                      <a:pt x="208424" y="202565"/>
                      <a:pt x="231862" y="226002"/>
                    </a:cubicBezTo>
                    <a:lnTo>
                      <a:pt x="287944" y="282084"/>
                    </a:lnTo>
                    <a:cubicBezTo>
                      <a:pt x="128068" y="287107"/>
                      <a:pt x="0" y="418523"/>
                      <a:pt x="0" y="579235"/>
                    </a:cubicBezTo>
                    <a:cubicBezTo>
                      <a:pt x="0" y="742459"/>
                      <a:pt x="132253" y="875550"/>
                      <a:pt x="295477" y="877224"/>
                    </a:cubicBezTo>
                    <a:lnTo>
                      <a:pt x="262832" y="975995"/>
                    </a:lnTo>
                    <a:lnTo>
                      <a:pt x="232699" y="975995"/>
                    </a:lnTo>
                    <a:cubicBezTo>
                      <a:pt x="222654" y="975995"/>
                      <a:pt x="215121" y="984365"/>
                      <a:pt x="215121" y="993573"/>
                    </a:cubicBezTo>
                    <a:cubicBezTo>
                      <a:pt x="215121" y="1002780"/>
                      <a:pt x="223491" y="1011151"/>
                      <a:pt x="232699" y="1011151"/>
                    </a:cubicBezTo>
                    <a:lnTo>
                      <a:pt x="276225" y="1011151"/>
                    </a:lnTo>
                    <a:lnTo>
                      <a:pt x="621088" y="1011151"/>
                    </a:lnTo>
                    <a:lnTo>
                      <a:pt x="664614" y="1011151"/>
                    </a:lnTo>
                    <a:cubicBezTo>
                      <a:pt x="674659" y="1011151"/>
                      <a:pt x="682192" y="1002780"/>
                      <a:pt x="682192" y="993573"/>
                    </a:cubicBezTo>
                    <a:cubicBezTo>
                      <a:pt x="682192" y="984365"/>
                      <a:pt x="673822" y="975995"/>
                      <a:pt x="664614" y="975995"/>
                    </a:cubicBezTo>
                    <a:lnTo>
                      <a:pt x="634480" y="975995"/>
                    </a:lnTo>
                    <a:lnTo>
                      <a:pt x="602673" y="878061"/>
                    </a:lnTo>
                    <a:lnTo>
                      <a:pt x="708141" y="878061"/>
                    </a:lnTo>
                    <a:cubicBezTo>
                      <a:pt x="783475" y="878061"/>
                      <a:pt x="845416" y="821142"/>
                      <a:pt x="853786" y="748319"/>
                    </a:cubicBezTo>
                    <a:lnTo>
                      <a:pt x="966788" y="748319"/>
                    </a:lnTo>
                    <a:cubicBezTo>
                      <a:pt x="976832" y="748319"/>
                      <a:pt x="984366" y="739948"/>
                      <a:pt x="984366" y="730741"/>
                    </a:cubicBezTo>
                    <a:cubicBezTo>
                      <a:pt x="984366" y="721533"/>
                      <a:pt x="975995" y="712326"/>
                      <a:pt x="965950" y="712326"/>
                    </a:cubicBezTo>
                    <a:close/>
                    <a:moveTo>
                      <a:pt x="358255" y="421871"/>
                    </a:moveTo>
                    <a:cubicBezTo>
                      <a:pt x="357418" y="418523"/>
                      <a:pt x="354907" y="416012"/>
                      <a:pt x="352396" y="413500"/>
                    </a:cubicBezTo>
                    <a:cubicBezTo>
                      <a:pt x="342352" y="399271"/>
                      <a:pt x="337329" y="381693"/>
                      <a:pt x="337329" y="363278"/>
                    </a:cubicBezTo>
                    <a:cubicBezTo>
                      <a:pt x="337329" y="344863"/>
                      <a:pt x="343189" y="327285"/>
                      <a:pt x="352396" y="313055"/>
                    </a:cubicBezTo>
                    <a:cubicBezTo>
                      <a:pt x="354907" y="311381"/>
                      <a:pt x="357418" y="308033"/>
                      <a:pt x="358255" y="304685"/>
                    </a:cubicBezTo>
                    <a:cubicBezTo>
                      <a:pt x="374996" y="285433"/>
                      <a:pt x="399271" y="272877"/>
                      <a:pt x="426893" y="272877"/>
                    </a:cubicBezTo>
                    <a:cubicBezTo>
                      <a:pt x="476279" y="272877"/>
                      <a:pt x="517294" y="313055"/>
                      <a:pt x="517294" y="363278"/>
                    </a:cubicBezTo>
                    <a:cubicBezTo>
                      <a:pt x="517294" y="394248"/>
                      <a:pt x="501390" y="421871"/>
                      <a:pt x="477116" y="438612"/>
                    </a:cubicBezTo>
                    <a:cubicBezTo>
                      <a:pt x="476279" y="438612"/>
                      <a:pt x="476279" y="439449"/>
                      <a:pt x="475442" y="439449"/>
                    </a:cubicBezTo>
                    <a:cubicBezTo>
                      <a:pt x="461212" y="448656"/>
                      <a:pt x="445308" y="453679"/>
                      <a:pt x="426893" y="453679"/>
                    </a:cubicBezTo>
                    <a:cubicBezTo>
                      <a:pt x="399271" y="453679"/>
                      <a:pt x="374996" y="441123"/>
                      <a:pt x="358255" y="421871"/>
                    </a:cubicBezTo>
                    <a:close/>
                    <a:moveTo>
                      <a:pt x="256973" y="164898"/>
                    </a:moveTo>
                    <a:lnTo>
                      <a:pt x="379182" y="42689"/>
                    </a:lnTo>
                    <a:cubicBezTo>
                      <a:pt x="389226" y="32645"/>
                      <a:pt x="405130" y="32645"/>
                      <a:pt x="415175" y="42689"/>
                    </a:cubicBezTo>
                    <a:lnTo>
                      <a:pt x="750830" y="378345"/>
                    </a:lnTo>
                    <a:cubicBezTo>
                      <a:pt x="755852" y="383367"/>
                      <a:pt x="758363" y="389226"/>
                      <a:pt x="758363" y="395923"/>
                    </a:cubicBezTo>
                    <a:cubicBezTo>
                      <a:pt x="758363" y="402619"/>
                      <a:pt x="755852" y="409315"/>
                      <a:pt x="750830" y="413500"/>
                    </a:cubicBezTo>
                    <a:lnTo>
                      <a:pt x="628621" y="535709"/>
                    </a:lnTo>
                    <a:cubicBezTo>
                      <a:pt x="619414" y="544917"/>
                      <a:pt x="602673" y="544917"/>
                      <a:pt x="592628" y="535709"/>
                    </a:cubicBezTo>
                    <a:lnTo>
                      <a:pt x="512272" y="455353"/>
                    </a:lnTo>
                    <a:cubicBezTo>
                      <a:pt x="537383" y="432753"/>
                      <a:pt x="552450" y="399271"/>
                      <a:pt x="552450" y="363278"/>
                    </a:cubicBezTo>
                    <a:cubicBezTo>
                      <a:pt x="552450" y="293803"/>
                      <a:pt x="496368" y="237721"/>
                      <a:pt x="426893" y="237721"/>
                    </a:cubicBezTo>
                    <a:cubicBezTo>
                      <a:pt x="390900" y="237721"/>
                      <a:pt x="357418" y="253625"/>
                      <a:pt x="334818" y="277899"/>
                    </a:cubicBezTo>
                    <a:lnTo>
                      <a:pt x="256973" y="200054"/>
                    </a:lnTo>
                    <a:cubicBezTo>
                      <a:pt x="246928" y="190846"/>
                      <a:pt x="246928" y="174105"/>
                      <a:pt x="256973" y="164898"/>
                    </a:cubicBezTo>
                    <a:close/>
                    <a:moveTo>
                      <a:pt x="297988" y="842068"/>
                    </a:moveTo>
                    <a:cubicBezTo>
                      <a:pt x="153179" y="842068"/>
                      <a:pt x="35156" y="724044"/>
                      <a:pt x="35156" y="579235"/>
                    </a:cubicBezTo>
                    <a:cubicBezTo>
                      <a:pt x="35156" y="434427"/>
                      <a:pt x="153179" y="316403"/>
                      <a:pt x="297988" y="316403"/>
                    </a:cubicBezTo>
                    <a:lnTo>
                      <a:pt x="310544" y="316403"/>
                    </a:lnTo>
                    <a:cubicBezTo>
                      <a:pt x="304685" y="330633"/>
                      <a:pt x="301336" y="346537"/>
                      <a:pt x="301336" y="363278"/>
                    </a:cubicBezTo>
                    <a:cubicBezTo>
                      <a:pt x="301336" y="380019"/>
                      <a:pt x="304685" y="395923"/>
                      <a:pt x="310544" y="410152"/>
                    </a:cubicBezTo>
                    <a:lnTo>
                      <a:pt x="297988" y="410152"/>
                    </a:lnTo>
                    <a:cubicBezTo>
                      <a:pt x="205076" y="410152"/>
                      <a:pt x="128905" y="485486"/>
                      <a:pt x="128905" y="579235"/>
                    </a:cubicBezTo>
                    <a:cubicBezTo>
                      <a:pt x="128905" y="672148"/>
                      <a:pt x="204239" y="748319"/>
                      <a:pt x="297988" y="748319"/>
                    </a:cubicBezTo>
                    <a:lnTo>
                      <a:pt x="337329" y="748319"/>
                    </a:lnTo>
                    <a:lnTo>
                      <a:pt x="307196" y="842068"/>
                    </a:lnTo>
                    <a:lnTo>
                      <a:pt x="297988" y="842068"/>
                    </a:lnTo>
                    <a:close/>
                    <a:moveTo>
                      <a:pt x="300499" y="975995"/>
                    </a:moveTo>
                    <a:lnTo>
                      <a:pt x="374996" y="748319"/>
                    </a:lnTo>
                    <a:lnTo>
                      <a:pt x="521479" y="748319"/>
                    </a:lnTo>
                    <a:lnTo>
                      <a:pt x="595976" y="975995"/>
                    </a:lnTo>
                    <a:lnTo>
                      <a:pt x="300499" y="975995"/>
                    </a:lnTo>
                    <a:close/>
                    <a:moveTo>
                      <a:pt x="707303" y="842068"/>
                    </a:moveTo>
                    <a:lnTo>
                      <a:pt x="590117" y="842068"/>
                    </a:lnTo>
                    <a:lnTo>
                      <a:pt x="559146" y="748319"/>
                    </a:lnTo>
                    <a:lnTo>
                      <a:pt x="749993" y="748319"/>
                    </a:lnTo>
                    <a:lnTo>
                      <a:pt x="816956" y="748319"/>
                    </a:lnTo>
                    <a:cubicBezTo>
                      <a:pt x="809423" y="801053"/>
                      <a:pt x="762548" y="842068"/>
                      <a:pt x="707303" y="842068"/>
                    </a:cubicBezTo>
                    <a:close/>
                  </a:path>
                </a:pathLst>
              </a:custGeom>
              <a:solidFill>
                <a:srgbClr val="000000"/>
              </a:solidFill>
              <a:ln w="83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8B14888-2F3B-3229-995D-C8F33BB79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522" y="6684168"/>
            <a:ext cx="314952" cy="375796"/>
            <a:chOff x="2791549" y="3626522"/>
            <a:chExt cx="833120" cy="99406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25102BD-E5BE-A398-1402-965553492E16}"/>
                </a:ext>
              </a:extLst>
            </p:cNvPr>
            <p:cNvGrpSpPr/>
            <p:nvPr/>
          </p:nvGrpSpPr>
          <p:grpSpPr>
            <a:xfrm>
              <a:off x="2791549" y="3626522"/>
              <a:ext cx="833120" cy="605905"/>
              <a:chOff x="2791549" y="3626522"/>
              <a:chExt cx="833120" cy="605905"/>
            </a:xfrm>
          </p:grpSpPr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3F61858A-3C57-7768-A09D-F6F828934971}"/>
                  </a:ext>
                </a:extLst>
              </p:cNvPr>
              <p:cNvSpPr/>
              <p:nvPr/>
            </p:nvSpPr>
            <p:spPr>
              <a:xfrm>
                <a:off x="2933558" y="3781786"/>
                <a:ext cx="539634" cy="276444"/>
              </a:xfrm>
              <a:custGeom>
                <a:avLst/>
                <a:gdLst>
                  <a:gd name="connsiteX0" fmla="*/ 18935 w 539634"/>
                  <a:gd name="connsiteY0" fmla="*/ 238575 h 276444"/>
                  <a:gd name="connsiteX1" fmla="*/ 0 w 539634"/>
                  <a:gd name="connsiteY1" fmla="*/ 257510 h 276444"/>
                  <a:gd name="connsiteX2" fmla="*/ 18935 w 539634"/>
                  <a:gd name="connsiteY2" fmla="*/ 276444 h 276444"/>
                  <a:gd name="connsiteX3" fmla="*/ 18935 w 539634"/>
                  <a:gd name="connsiteY3" fmla="*/ 238575 h 276444"/>
                  <a:gd name="connsiteX4" fmla="*/ 520700 w 539634"/>
                  <a:gd name="connsiteY4" fmla="*/ 276444 h 276444"/>
                  <a:gd name="connsiteX5" fmla="*/ 539635 w 539634"/>
                  <a:gd name="connsiteY5" fmla="*/ 257510 h 276444"/>
                  <a:gd name="connsiteX6" fmla="*/ 520700 w 539634"/>
                  <a:gd name="connsiteY6" fmla="*/ 238575 h 276444"/>
                  <a:gd name="connsiteX7" fmla="*/ 520700 w 539634"/>
                  <a:gd name="connsiteY7" fmla="*/ 276444 h 276444"/>
                  <a:gd name="connsiteX8" fmla="*/ 18935 w 539634"/>
                  <a:gd name="connsiteY8" fmla="*/ 0 h 276444"/>
                  <a:gd name="connsiteX9" fmla="*/ 0 w 539634"/>
                  <a:gd name="connsiteY9" fmla="*/ 18935 h 276444"/>
                  <a:gd name="connsiteX10" fmla="*/ 18935 w 539634"/>
                  <a:gd name="connsiteY10" fmla="*/ 37869 h 276444"/>
                  <a:gd name="connsiteX11" fmla="*/ 18935 w 539634"/>
                  <a:gd name="connsiteY11" fmla="*/ 0 h 276444"/>
                  <a:gd name="connsiteX12" fmla="*/ 520700 w 539634"/>
                  <a:gd name="connsiteY12" fmla="*/ 37869 h 276444"/>
                  <a:gd name="connsiteX13" fmla="*/ 539635 w 539634"/>
                  <a:gd name="connsiteY13" fmla="*/ 18935 h 276444"/>
                  <a:gd name="connsiteX14" fmla="*/ 520700 w 539634"/>
                  <a:gd name="connsiteY14" fmla="*/ 0 h 276444"/>
                  <a:gd name="connsiteX15" fmla="*/ 520700 w 539634"/>
                  <a:gd name="connsiteY15" fmla="*/ 37869 h 276444"/>
                  <a:gd name="connsiteX16" fmla="*/ 18935 w 539634"/>
                  <a:gd name="connsiteY16" fmla="*/ 119288 h 276444"/>
                  <a:gd name="connsiteX17" fmla="*/ 0 w 539634"/>
                  <a:gd name="connsiteY17" fmla="*/ 138222 h 276444"/>
                  <a:gd name="connsiteX18" fmla="*/ 18935 w 539634"/>
                  <a:gd name="connsiteY18" fmla="*/ 157157 h 276444"/>
                  <a:gd name="connsiteX19" fmla="*/ 18935 w 539634"/>
                  <a:gd name="connsiteY19" fmla="*/ 119288 h 276444"/>
                  <a:gd name="connsiteX20" fmla="*/ 520700 w 539634"/>
                  <a:gd name="connsiteY20" fmla="*/ 157157 h 276444"/>
                  <a:gd name="connsiteX21" fmla="*/ 539635 w 539634"/>
                  <a:gd name="connsiteY21" fmla="*/ 138222 h 276444"/>
                  <a:gd name="connsiteX22" fmla="*/ 520700 w 539634"/>
                  <a:gd name="connsiteY22" fmla="*/ 119288 h 276444"/>
                  <a:gd name="connsiteX23" fmla="*/ 520700 w 539634"/>
                  <a:gd name="connsiteY23" fmla="*/ 157157 h 276444"/>
                  <a:gd name="connsiteX24" fmla="*/ 18935 w 539634"/>
                  <a:gd name="connsiteY24" fmla="*/ 276444 h 276444"/>
                  <a:gd name="connsiteX25" fmla="*/ 520700 w 539634"/>
                  <a:gd name="connsiteY25" fmla="*/ 276444 h 276444"/>
                  <a:gd name="connsiteX26" fmla="*/ 520700 w 539634"/>
                  <a:gd name="connsiteY26" fmla="*/ 238575 h 276444"/>
                  <a:gd name="connsiteX27" fmla="*/ 18935 w 539634"/>
                  <a:gd name="connsiteY27" fmla="*/ 238575 h 276444"/>
                  <a:gd name="connsiteX28" fmla="*/ 18935 w 539634"/>
                  <a:gd name="connsiteY28" fmla="*/ 276444 h 276444"/>
                  <a:gd name="connsiteX29" fmla="*/ 18935 w 539634"/>
                  <a:gd name="connsiteY29" fmla="*/ 37869 h 276444"/>
                  <a:gd name="connsiteX30" fmla="*/ 520700 w 539634"/>
                  <a:gd name="connsiteY30" fmla="*/ 37869 h 276444"/>
                  <a:gd name="connsiteX31" fmla="*/ 520700 w 539634"/>
                  <a:gd name="connsiteY31" fmla="*/ 0 h 276444"/>
                  <a:gd name="connsiteX32" fmla="*/ 18935 w 539634"/>
                  <a:gd name="connsiteY32" fmla="*/ 0 h 276444"/>
                  <a:gd name="connsiteX33" fmla="*/ 18935 w 539634"/>
                  <a:gd name="connsiteY33" fmla="*/ 37869 h 276444"/>
                  <a:gd name="connsiteX34" fmla="*/ 18935 w 539634"/>
                  <a:gd name="connsiteY34" fmla="*/ 157157 h 276444"/>
                  <a:gd name="connsiteX35" fmla="*/ 520700 w 539634"/>
                  <a:gd name="connsiteY35" fmla="*/ 157157 h 276444"/>
                  <a:gd name="connsiteX36" fmla="*/ 520700 w 539634"/>
                  <a:gd name="connsiteY36" fmla="*/ 119288 h 276444"/>
                  <a:gd name="connsiteX37" fmla="*/ 18935 w 539634"/>
                  <a:gd name="connsiteY37" fmla="*/ 119288 h 276444"/>
                  <a:gd name="connsiteX38" fmla="*/ 18935 w 539634"/>
                  <a:gd name="connsiteY38" fmla="*/ 157157 h 27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539634" h="276444">
                    <a:moveTo>
                      <a:pt x="18935" y="238575"/>
                    </a:moveTo>
                    <a:cubicBezTo>
                      <a:pt x="8521" y="238575"/>
                      <a:pt x="0" y="247096"/>
                      <a:pt x="0" y="257510"/>
                    </a:cubicBezTo>
                    <a:cubicBezTo>
                      <a:pt x="0" y="267924"/>
                      <a:pt x="8521" y="276444"/>
                      <a:pt x="18935" y="276444"/>
                    </a:cubicBezTo>
                    <a:lnTo>
                      <a:pt x="18935" y="238575"/>
                    </a:lnTo>
                    <a:close/>
                    <a:moveTo>
                      <a:pt x="520700" y="276444"/>
                    </a:moveTo>
                    <a:cubicBezTo>
                      <a:pt x="531114" y="276444"/>
                      <a:pt x="539635" y="267924"/>
                      <a:pt x="539635" y="257510"/>
                    </a:cubicBezTo>
                    <a:cubicBezTo>
                      <a:pt x="539635" y="247096"/>
                      <a:pt x="531114" y="238575"/>
                      <a:pt x="520700" y="238575"/>
                    </a:cubicBezTo>
                    <a:lnTo>
                      <a:pt x="520700" y="276444"/>
                    </a:lnTo>
                    <a:close/>
                    <a:moveTo>
                      <a:pt x="18935" y="0"/>
                    </a:moveTo>
                    <a:cubicBezTo>
                      <a:pt x="8521" y="0"/>
                      <a:pt x="0" y="8521"/>
                      <a:pt x="0" y="18935"/>
                    </a:cubicBezTo>
                    <a:cubicBezTo>
                      <a:pt x="0" y="29349"/>
                      <a:pt x="8521" y="37869"/>
                      <a:pt x="18935" y="37869"/>
                    </a:cubicBezTo>
                    <a:lnTo>
                      <a:pt x="18935" y="0"/>
                    </a:lnTo>
                    <a:close/>
                    <a:moveTo>
                      <a:pt x="520700" y="37869"/>
                    </a:moveTo>
                    <a:cubicBezTo>
                      <a:pt x="531114" y="37869"/>
                      <a:pt x="539635" y="29349"/>
                      <a:pt x="539635" y="18935"/>
                    </a:cubicBezTo>
                    <a:cubicBezTo>
                      <a:pt x="539635" y="8521"/>
                      <a:pt x="531114" y="0"/>
                      <a:pt x="520700" y="0"/>
                    </a:cubicBezTo>
                    <a:lnTo>
                      <a:pt x="520700" y="37869"/>
                    </a:lnTo>
                    <a:close/>
                    <a:moveTo>
                      <a:pt x="18935" y="119288"/>
                    </a:moveTo>
                    <a:cubicBezTo>
                      <a:pt x="8521" y="119288"/>
                      <a:pt x="0" y="127808"/>
                      <a:pt x="0" y="138222"/>
                    </a:cubicBezTo>
                    <a:cubicBezTo>
                      <a:pt x="0" y="148636"/>
                      <a:pt x="8521" y="157157"/>
                      <a:pt x="18935" y="157157"/>
                    </a:cubicBezTo>
                    <a:lnTo>
                      <a:pt x="18935" y="119288"/>
                    </a:lnTo>
                    <a:close/>
                    <a:moveTo>
                      <a:pt x="520700" y="157157"/>
                    </a:moveTo>
                    <a:cubicBezTo>
                      <a:pt x="531114" y="157157"/>
                      <a:pt x="539635" y="148636"/>
                      <a:pt x="539635" y="138222"/>
                    </a:cubicBezTo>
                    <a:cubicBezTo>
                      <a:pt x="539635" y="127808"/>
                      <a:pt x="531114" y="119288"/>
                      <a:pt x="520700" y="119288"/>
                    </a:cubicBezTo>
                    <a:lnTo>
                      <a:pt x="520700" y="157157"/>
                    </a:lnTo>
                    <a:close/>
                    <a:moveTo>
                      <a:pt x="18935" y="276444"/>
                    </a:moveTo>
                    <a:lnTo>
                      <a:pt x="520700" y="276444"/>
                    </a:lnTo>
                    <a:lnTo>
                      <a:pt x="520700" y="238575"/>
                    </a:lnTo>
                    <a:lnTo>
                      <a:pt x="18935" y="238575"/>
                    </a:lnTo>
                    <a:lnTo>
                      <a:pt x="18935" y="276444"/>
                    </a:lnTo>
                    <a:close/>
                    <a:moveTo>
                      <a:pt x="18935" y="37869"/>
                    </a:moveTo>
                    <a:lnTo>
                      <a:pt x="520700" y="37869"/>
                    </a:lnTo>
                    <a:lnTo>
                      <a:pt x="520700" y="0"/>
                    </a:lnTo>
                    <a:lnTo>
                      <a:pt x="18935" y="0"/>
                    </a:lnTo>
                    <a:lnTo>
                      <a:pt x="18935" y="37869"/>
                    </a:lnTo>
                    <a:close/>
                    <a:moveTo>
                      <a:pt x="18935" y="157157"/>
                    </a:moveTo>
                    <a:lnTo>
                      <a:pt x="520700" y="157157"/>
                    </a:lnTo>
                    <a:lnTo>
                      <a:pt x="520700" y="119288"/>
                    </a:lnTo>
                    <a:lnTo>
                      <a:pt x="18935" y="119288"/>
                    </a:lnTo>
                    <a:lnTo>
                      <a:pt x="18935" y="157157"/>
                    </a:lnTo>
                    <a:close/>
                  </a:path>
                </a:pathLst>
              </a:custGeom>
              <a:solidFill>
                <a:srgbClr val="000000"/>
              </a:solidFill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B41B0F86-CB5C-3D98-6856-93ABF5D1411A}"/>
                  </a:ext>
                </a:extLst>
              </p:cNvPr>
              <p:cNvSpPr/>
              <p:nvPr/>
            </p:nvSpPr>
            <p:spPr>
              <a:xfrm>
                <a:off x="2791549" y="3626522"/>
                <a:ext cx="833120" cy="605905"/>
              </a:xfrm>
              <a:custGeom>
                <a:avLst/>
                <a:gdLst>
                  <a:gd name="connsiteX0" fmla="*/ 0 w 833120"/>
                  <a:gd name="connsiteY0" fmla="*/ 0 h 605905"/>
                  <a:gd name="connsiteX1" fmla="*/ 0 w 833120"/>
                  <a:gd name="connsiteY1" fmla="*/ 605905 h 605905"/>
                  <a:gd name="connsiteX2" fmla="*/ 296326 w 833120"/>
                  <a:gd name="connsiteY2" fmla="*/ 605905 h 605905"/>
                  <a:gd name="connsiteX3" fmla="*/ 304846 w 833120"/>
                  <a:gd name="connsiteY3" fmla="*/ 565196 h 605905"/>
                  <a:gd name="connsiteX4" fmla="*/ 41656 w 833120"/>
                  <a:gd name="connsiteY4" fmla="*/ 565196 h 605905"/>
                  <a:gd name="connsiteX5" fmla="*/ 41656 w 833120"/>
                  <a:gd name="connsiteY5" fmla="*/ 40709 h 605905"/>
                  <a:gd name="connsiteX6" fmla="*/ 792411 w 833120"/>
                  <a:gd name="connsiteY6" fmla="*/ 40709 h 605905"/>
                  <a:gd name="connsiteX7" fmla="*/ 792411 w 833120"/>
                  <a:gd name="connsiteY7" fmla="*/ 565196 h 605905"/>
                  <a:gd name="connsiteX8" fmla="*/ 523540 w 833120"/>
                  <a:gd name="connsiteY8" fmla="*/ 565196 h 605905"/>
                  <a:gd name="connsiteX9" fmla="*/ 532061 w 833120"/>
                  <a:gd name="connsiteY9" fmla="*/ 605905 h 605905"/>
                  <a:gd name="connsiteX10" fmla="*/ 833120 w 833120"/>
                  <a:gd name="connsiteY10" fmla="*/ 605905 h 605905"/>
                  <a:gd name="connsiteX11" fmla="*/ 833120 w 833120"/>
                  <a:gd name="connsiteY11" fmla="*/ 0 h 605905"/>
                  <a:gd name="connsiteX12" fmla="*/ 0 w 833120"/>
                  <a:gd name="connsiteY12" fmla="*/ 0 h 605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33120" h="605905">
                    <a:moveTo>
                      <a:pt x="0" y="0"/>
                    </a:moveTo>
                    <a:lnTo>
                      <a:pt x="0" y="605905"/>
                    </a:lnTo>
                    <a:lnTo>
                      <a:pt x="296326" y="605905"/>
                    </a:lnTo>
                    <a:cubicBezTo>
                      <a:pt x="297272" y="591705"/>
                      <a:pt x="300113" y="577504"/>
                      <a:pt x="304846" y="565196"/>
                    </a:cubicBezTo>
                    <a:lnTo>
                      <a:pt x="41656" y="565196"/>
                    </a:lnTo>
                    <a:lnTo>
                      <a:pt x="41656" y="40709"/>
                    </a:lnTo>
                    <a:lnTo>
                      <a:pt x="792411" y="40709"/>
                    </a:lnTo>
                    <a:lnTo>
                      <a:pt x="792411" y="565196"/>
                    </a:lnTo>
                    <a:lnTo>
                      <a:pt x="523540" y="565196"/>
                    </a:lnTo>
                    <a:cubicBezTo>
                      <a:pt x="528274" y="577504"/>
                      <a:pt x="532061" y="591705"/>
                      <a:pt x="532061" y="605905"/>
                    </a:cubicBezTo>
                    <a:lnTo>
                      <a:pt x="833120" y="605905"/>
                    </a:lnTo>
                    <a:lnTo>
                      <a:pt x="8331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DF6FD98-7C60-761E-2F2A-59BB9518937B}"/>
                </a:ext>
              </a:extLst>
            </p:cNvPr>
            <p:cNvSpPr/>
            <p:nvPr/>
          </p:nvSpPr>
          <p:spPr>
            <a:xfrm>
              <a:off x="3056632" y="4099886"/>
              <a:ext cx="293485" cy="520700"/>
            </a:xfrm>
            <a:custGeom>
              <a:avLst/>
              <a:gdLst>
                <a:gd name="connsiteX0" fmla="*/ 252776 w 293485"/>
                <a:gd name="connsiteY0" fmla="*/ 224374 h 520700"/>
                <a:gd name="connsiteX1" fmla="*/ 284018 w 293485"/>
                <a:gd name="connsiteY1" fmla="*/ 137275 h 520700"/>
                <a:gd name="connsiteX2" fmla="*/ 146743 w 293485"/>
                <a:gd name="connsiteY2" fmla="*/ 0 h 520700"/>
                <a:gd name="connsiteX3" fmla="*/ 9467 w 293485"/>
                <a:gd name="connsiteY3" fmla="*/ 137275 h 520700"/>
                <a:gd name="connsiteX4" fmla="*/ 42603 w 293485"/>
                <a:gd name="connsiteY4" fmla="*/ 226268 h 520700"/>
                <a:gd name="connsiteX5" fmla="*/ 0 w 293485"/>
                <a:gd name="connsiteY5" fmla="*/ 520700 h 520700"/>
                <a:gd name="connsiteX6" fmla="*/ 146743 w 293485"/>
                <a:gd name="connsiteY6" fmla="*/ 383425 h 520700"/>
                <a:gd name="connsiteX7" fmla="*/ 293485 w 293485"/>
                <a:gd name="connsiteY7" fmla="*/ 520700 h 520700"/>
                <a:gd name="connsiteX8" fmla="*/ 252776 w 293485"/>
                <a:gd name="connsiteY8" fmla="*/ 224374 h 520700"/>
                <a:gd name="connsiteX9" fmla="*/ 146743 w 293485"/>
                <a:gd name="connsiteY9" fmla="*/ 40709 h 520700"/>
                <a:gd name="connsiteX10" fmla="*/ 243309 w 293485"/>
                <a:gd name="connsiteY10" fmla="*/ 137275 h 520700"/>
                <a:gd name="connsiteX11" fmla="*/ 146743 w 293485"/>
                <a:gd name="connsiteY11" fmla="*/ 233842 h 520700"/>
                <a:gd name="connsiteX12" fmla="*/ 50177 w 293485"/>
                <a:gd name="connsiteY12" fmla="*/ 137275 h 520700"/>
                <a:gd name="connsiteX13" fmla="*/ 146743 w 293485"/>
                <a:gd name="connsiteY13" fmla="*/ 40709 h 520700"/>
                <a:gd name="connsiteX14" fmla="*/ 177038 w 293485"/>
                <a:gd name="connsiteY14" fmla="*/ 353129 h 520700"/>
                <a:gd name="connsiteX15" fmla="*/ 149583 w 293485"/>
                <a:gd name="connsiteY15" fmla="*/ 325674 h 520700"/>
                <a:gd name="connsiteX16" fmla="*/ 122128 w 293485"/>
                <a:gd name="connsiteY16" fmla="*/ 353129 h 520700"/>
                <a:gd name="connsiteX17" fmla="*/ 61537 w 293485"/>
                <a:gd name="connsiteY17" fmla="*/ 408039 h 520700"/>
                <a:gd name="connsiteX18" fmla="*/ 83312 w 293485"/>
                <a:gd name="connsiteY18" fmla="*/ 259403 h 520700"/>
                <a:gd name="connsiteX19" fmla="*/ 84259 w 293485"/>
                <a:gd name="connsiteY19" fmla="*/ 259403 h 520700"/>
                <a:gd name="connsiteX20" fmla="*/ 146743 w 293485"/>
                <a:gd name="connsiteY20" fmla="*/ 274551 h 520700"/>
                <a:gd name="connsiteX21" fmla="*/ 209227 w 293485"/>
                <a:gd name="connsiteY21" fmla="*/ 259403 h 520700"/>
                <a:gd name="connsiteX22" fmla="*/ 215854 w 293485"/>
                <a:gd name="connsiteY22" fmla="*/ 259403 h 520700"/>
                <a:gd name="connsiteX23" fmla="*/ 237629 w 293485"/>
                <a:gd name="connsiteY23" fmla="*/ 408039 h 520700"/>
                <a:gd name="connsiteX24" fmla="*/ 177038 w 293485"/>
                <a:gd name="connsiteY24" fmla="*/ 353129 h 52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93485" h="520700">
                  <a:moveTo>
                    <a:pt x="252776" y="224374"/>
                  </a:moveTo>
                  <a:cubicBezTo>
                    <a:pt x="272657" y="200706"/>
                    <a:pt x="284018" y="170411"/>
                    <a:pt x="284018" y="137275"/>
                  </a:cubicBezTo>
                  <a:cubicBezTo>
                    <a:pt x="284018" y="61537"/>
                    <a:pt x="222481" y="0"/>
                    <a:pt x="146743" y="0"/>
                  </a:cubicBezTo>
                  <a:cubicBezTo>
                    <a:pt x="71005" y="0"/>
                    <a:pt x="9467" y="61537"/>
                    <a:pt x="9467" y="137275"/>
                  </a:cubicBezTo>
                  <a:cubicBezTo>
                    <a:pt x="9467" y="171358"/>
                    <a:pt x="21775" y="202600"/>
                    <a:pt x="42603" y="226268"/>
                  </a:cubicBezTo>
                  <a:lnTo>
                    <a:pt x="0" y="520700"/>
                  </a:lnTo>
                  <a:lnTo>
                    <a:pt x="146743" y="383425"/>
                  </a:lnTo>
                  <a:lnTo>
                    <a:pt x="293485" y="520700"/>
                  </a:lnTo>
                  <a:lnTo>
                    <a:pt x="252776" y="224374"/>
                  </a:lnTo>
                  <a:close/>
                  <a:moveTo>
                    <a:pt x="146743" y="40709"/>
                  </a:moveTo>
                  <a:cubicBezTo>
                    <a:pt x="200706" y="40709"/>
                    <a:pt x="243309" y="83312"/>
                    <a:pt x="243309" y="137275"/>
                  </a:cubicBezTo>
                  <a:cubicBezTo>
                    <a:pt x="243309" y="191239"/>
                    <a:pt x="200706" y="233842"/>
                    <a:pt x="146743" y="233842"/>
                  </a:cubicBezTo>
                  <a:cubicBezTo>
                    <a:pt x="92779" y="233842"/>
                    <a:pt x="50177" y="191239"/>
                    <a:pt x="50177" y="137275"/>
                  </a:cubicBezTo>
                  <a:cubicBezTo>
                    <a:pt x="50177" y="83312"/>
                    <a:pt x="92779" y="40709"/>
                    <a:pt x="146743" y="40709"/>
                  </a:cubicBezTo>
                  <a:close/>
                  <a:moveTo>
                    <a:pt x="177038" y="353129"/>
                  </a:moveTo>
                  <a:lnTo>
                    <a:pt x="149583" y="325674"/>
                  </a:lnTo>
                  <a:lnTo>
                    <a:pt x="122128" y="353129"/>
                  </a:lnTo>
                  <a:lnTo>
                    <a:pt x="61537" y="408039"/>
                  </a:lnTo>
                  <a:lnTo>
                    <a:pt x="83312" y="259403"/>
                  </a:lnTo>
                  <a:lnTo>
                    <a:pt x="84259" y="259403"/>
                  </a:lnTo>
                  <a:cubicBezTo>
                    <a:pt x="103193" y="268871"/>
                    <a:pt x="124021" y="274551"/>
                    <a:pt x="146743" y="274551"/>
                  </a:cubicBezTo>
                  <a:cubicBezTo>
                    <a:pt x="169464" y="274551"/>
                    <a:pt x="190292" y="268871"/>
                    <a:pt x="209227" y="259403"/>
                  </a:cubicBezTo>
                  <a:lnTo>
                    <a:pt x="215854" y="259403"/>
                  </a:lnTo>
                  <a:lnTo>
                    <a:pt x="237629" y="408039"/>
                  </a:lnTo>
                  <a:lnTo>
                    <a:pt x="177038" y="353129"/>
                  </a:lnTo>
                  <a:close/>
                </a:path>
              </a:pathLst>
            </a:custGeom>
            <a:solidFill>
              <a:srgbClr val="7A003C"/>
            </a:solidFill>
            <a:ln w="9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7" name="Graphic 46">
            <a:extLst>
              <a:ext uri="{FF2B5EF4-FFF2-40B4-BE49-F238E27FC236}">
                <a16:creationId xmlns:a16="http://schemas.microsoft.com/office/drawing/2014/main" id="{3FC02B65-DB88-9AD3-CE2A-7EE6D2F12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150" y="7192093"/>
            <a:ext cx="417696" cy="41769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7E62C8C-B9B8-2BD5-45B5-E0B0A39FFE16}"/>
              </a:ext>
            </a:extLst>
          </p:cNvPr>
          <p:cNvSpPr txBox="1"/>
          <p:nvPr userDrawn="1"/>
        </p:nvSpPr>
        <p:spPr>
          <a:xfrm>
            <a:off x="438148" y="8656484"/>
            <a:ext cx="5183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3"/>
                </a:solidFill>
              </a:rPr>
              <a:t>* Times Higher Education 2023</a:t>
            </a:r>
          </a:p>
          <a:p>
            <a:r>
              <a:rPr lang="en-US" sz="1200">
                <a:solidFill>
                  <a:schemeClr val="accent3"/>
                </a:solidFill>
              </a:rPr>
              <a:t>‡ Shanghai Ranking's Academic Ranking of World Universities 2023</a:t>
            </a:r>
          </a:p>
          <a:p>
            <a:r>
              <a:rPr lang="en-US" sz="1200">
                <a:solidFill>
                  <a:schemeClr val="accent3"/>
                </a:solidFill>
              </a:rPr>
              <a:t>† Research </a:t>
            </a:r>
            <a:r>
              <a:rPr lang="en-US" sz="1200" err="1">
                <a:solidFill>
                  <a:schemeClr val="accent3"/>
                </a:solidFill>
              </a:rPr>
              <a:t>Infosource</a:t>
            </a:r>
            <a:r>
              <a:rPr lang="en-US" sz="1200">
                <a:solidFill>
                  <a:schemeClr val="accent3"/>
                </a:solidFill>
              </a:rPr>
              <a:t> 2023</a:t>
            </a:r>
            <a:endParaRPr lang="en-US" sz="1200" baseline="30000">
              <a:solidFill>
                <a:schemeClr val="accent3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6AFD4D6-CC7D-9D99-DF02-F294BC8603E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E89E05A3-F6AB-676E-2454-621F509EB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33B25B5-1522-E269-6B4D-E80F42610E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5D599-9721-B464-10AC-237C751ECC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7B01D-192F-BBAD-161B-8D22688A24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</p:spTree>
    <p:extLst>
      <p:ext uri="{BB962C8B-B14F-4D97-AF65-F5344CB8AC3E}">
        <p14:creationId xmlns:p14="http://schemas.microsoft.com/office/powerpoint/2010/main" val="20864906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5 - Brighter 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67">
            <a:extLst>
              <a:ext uri="{FF2B5EF4-FFF2-40B4-BE49-F238E27FC236}">
                <a16:creationId xmlns:a16="http://schemas.microsoft.com/office/drawing/2014/main" id="{2BD07626-E45E-A81D-40C3-0F8C5666C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30" y="440431"/>
            <a:ext cx="19393352" cy="733208"/>
          </a:xfrm>
          <a:prstGeom prst="rect">
            <a:avLst/>
          </a:prstGeom>
        </p:spPr>
        <p:txBody>
          <a:bodyPr/>
          <a:lstStyle>
            <a:lvl1pPr>
              <a:defRPr sz="4400" b="1"/>
            </a:lvl1pPr>
          </a:lstStyle>
          <a:p>
            <a:r>
              <a:rPr lang="en-US" dirty="0"/>
              <a:t>Title goes here on 1 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530" y="1267200"/>
            <a:ext cx="1941773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rgbClr val="7A093C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 dirty="0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6" name="Date Placeholder 3">
            <a:extLst>
              <a:ext uri="{FF2B5EF4-FFF2-40B4-BE49-F238E27FC236}">
                <a16:creationId xmlns:a16="http://schemas.microsoft.com/office/drawing/2014/main" id="{25B13FEC-56D6-BDDA-B11D-2B62FBC10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818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6 - 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2192C-3A69-FE59-73A6-A262DF72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91159-C341-9E42-1ED7-05684802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2A4791-8BB3-D788-EFE9-CDE2FEB0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551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7 - Land Acknowledg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E307E64-9C0E-0EB5-E08F-ED76C1E8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999" y="4520998"/>
            <a:ext cx="14302799" cy="648602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2000" y="5421600"/>
            <a:ext cx="14302799" cy="2805297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 baseline="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endParaRPr lang="en-US" sz="3600" baseline="30000" dirty="0">
              <a:solidFill>
                <a:schemeClr val="bg1"/>
              </a:solidFill>
            </a:endParaRPr>
          </a:p>
        </p:txBody>
      </p:sp>
      <p:grpSp>
        <p:nvGrpSpPr>
          <p:cNvPr id="8" name="Group 7" descr="An icon of a hand holding a sapling.">
            <a:extLst>
              <a:ext uri="{FF2B5EF4-FFF2-40B4-BE49-F238E27FC236}">
                <a16:creationId xmlns:a16="http://schemas.microsoft.com/office/drawing/2014/main" id="{0DECB02C-2326-F95A-1ECA-3D29624B802C}"/>
              </a:ext>
            </a:extLst>
          </p:cNvPr>
          <p:cNvGrpSpPr/>
          <p:nvPr userDrawn="1"/>
        </p:nvGrpSpPr>
        <p:grpSpPr>
          <a:xfrm>
            <a:off x="3429538" y="3189238"/>
            <a:ext cx="1087755" cy="1087754"/>
            <a:chOff x="12372571" y="7209566"/>
            <a:chExt cx="1087755" cy="108775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4FBF782-1048-A071-8D84-1668E5FC19BD}"/>
                </a:ext>
              </a:extLst>
            </p:cNvPr>
            <p:cNvSpPr/>
            <p:nvPr/>
          </p:nvSpPr>
          <p:spPr>
            <a:xfrm>
              <a:off x="12769764" y="7286718"/>
              <a:ext cx="553402" cy="402907"/>
            </a:xfrm>
            <a:custGeom>
              <a:avLst/>
              <a:gdLst>
                <a:gd name="connsiteX0" fmla="*/ 467678 w 553402"/>
                <a:gd name="connsiteY0" fmla="*/ 0 h 402907"/>
                <a:gd name="connsiteX1" fmla="*/ 276225 w 553402"/>
                <a:gd name="connsiteY1" fmla="*/ 120015 h 402907"/>
                <a:gd name="connsiteX2" fmla="*/ 84772 w 553402"/>
                <a:gd name="connsiteY2" fmla="*/ 0 h 402907"/>
                <a:gd name="connsiteX3" fmla="*/ 0 w 553402"/>
                <a:gd name="connsiteY3" fmla="*/ 0 h 402907"/>
                <a:gd name="connsiteX4" fmla="*/ 0 w 553402"/>
                <a:gd name="connsiteY4" fmla="*/ 20955 h 402907"/>
                <a:gd name="connsiteX5" fmla="*/ 212407 w 553402"/>
                <a:gd name="connsiteY5" fmla="*/ 233363 h 402907"/>
                <a:gd name="connsiteX6" fmla="*/ 255270 w 553402"/>
                <a:gd name="connsiteY6" fmla="*/ 233363 h 402907"/>
                <a:gd name="connsiteX7" fmla="*/ 255270 w 553402"/>
                <a:gd name="connsiteY7" fmla="*/ 402908 h 402907"/>
                <a:gd name="connsiteX8" fmla="*/ 298132 w 553402"/>
                <a:gd name="connsiteY8" fmla="*/ 402908 h 402907"/>
                <a:gd name="connsiteX9" fmla="*/ 298132 w 553402"/>
                <a:gd name="connsiteY9" fmla="*/ 233363 h 402907"/>
                <a:gd name="connsiteX10" fmla="*/ 340995 w 553402"/>
                <a:gd name="connsiteY10" fmla="*/ 233363 h 402907"/>
                <a:gd name="connsiteX11" fmla="*/ 553403 w 553402"/>
                <a:gd name="connsiteY11" fmla="*/ 20955 h 402907"/>
                <a:gd name="connsiteX12" fmla="*/ 553403 w 553402"/>
                <a:gd name="connsiteY12" fmla="*/ 0 h 402907"/>
                <a:gd name="connsiteX13" fmla="*/ 468630 w 553402"/>
                <a:gd name="connsiteY13" fmla="*/ 0 h 402907"/>
                <a:gd name="connsiteX14" fmla="*/ 212407 w 553402"/>
                <a:gd name="connsiteY14" fmla="*/ 190500 h 402907"/>
                <a:gd name="connsiteX15" fmla="*/ 43815 w 553402"/>
                <a:gd name="connsiteY15" fmla="*/ 41910 h 402907"/>
                <a:gd name="connsiteX16" fmla="*/ 84772 w 553402"/>
                <a:gd name="connsiteY16" fmla="*/ 41910 h 402907"/>
                <a:gd name="connsiteX17" fmla="*/ 253365 w 553402"/>
                <a:gd name="connsiteY17" fmla="*/ 190500 h 402907"/>
                <a:gd name="connsiteX18" fmla="*/ 212407 w 553402"/>
                <a:gd name="connsiteY18" fmla="*/ 190500 h 402907"/>
                <a:gd name="connsiteX19" fmla="*/ 340042 w 553402"/>
                <a:gd name="connsiteY19" fmla="*/ 190500 h 402907"/>
                <a:gd name="connsiteX20" fmla="*/ 299085 w 553402"/>
                <a:gd name="connsiteY20" fmla="*/ 190500 h 402907"/>
                <a:gd name="connsiteX21" fmla="*/ 467678 w 553402"/>
                <a:gd name="connsiteY21" fmla="*/ 41910 h 402907"/>
                <a:gd name="connsiteX22" fmla="*/ 508635 w 553402"/>
                <a:gd name="connsiteY22" fmla="*/ 41910 h 402907"/>
                <a:gd name="connsiteX23" fmla="*/ 340042 w 553402"/>
                <a:gd name="connsiteY23" fmla="*/ 190500 h 40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3402" h="402907">
                  <a:moveTo>
                    <a:pt x="467678" y="0"/>
                  </a:moveTo>
                  <a:cubicBezTo>
                    <a:pt x="383857" y="0"/>
                    <a:pt x="310515" y="48578"/>
                    <a:pt x="276225" y="120015"/>
                  </a:cubicBezTo>
                  <a:cubicBezTo>
                    <a:pt x="241935" y="49530"/>
                    <a:pt x="168592" y="0"/>
                    <a:pt x="84772" y="0"/>
                  </a:cubicBezTo>
                  <a:lnTo>
                    <a:pt x="0" y="0"/>
                  </a:lnTo>
                  <a:lnTo>
                    <a:pt x="0" y="20955"/>
                  </a:lnTo>
                  <a:cubicBezTo>
                    <a:pt x="0" y="138113"/>
                    <a:pt x="95250" y="233363"/>
                    <a:pt x="212407" y="233363"/>
                  </a:cubicBezTo>
                  <a:lnTo>
                    <a:pt x="255270" y="233363"/>
                  </a:lnTo>
                  <a:lnTo>
                    <a:pt x="255270" y="402908"/>
                  </a:lnTo>
                  <a:lnTo>
                    <a:pt x="298132" y="402908"/>
                  </a:lnTo>
                  <a:lnTo>
                    <a:pt x="298132" y="233363"/>
                  </a:lnTo>
                  <a:lnTo>
                    <a:pt x="340995" y="233363"/>
                  </a:lnTo>
                  <a:cubicBezTo>
                    <a:pt x="458153" y="233363"/>
                    <a:pt x="553403" y="138113"/>
                    <a:pt x="553403" y="20955"/>
                  </a:cubicBezTo>
                  <a:lnTo>
                    <a:pt x="553403" y="0"/>
                  </a:lnTo>
                  <a:lnTo>
                    <a:pt x="468630" y="0"/>
                  </a:lnTo>
                  <a:close/>
                  <a:moveTo>
                    <a:pt x="212407" y="190500"/>
                  </a:moveTo>
                  <a:cubicBezTo>
                    <a:pt x="125730" y="190500"/>
                    <a:pt x="54292" y="125730"/>
                    <a:pt x="43815" y="41910"/>
                  </a:cubicBezTo>
                  <a:lnTo>
                    <a:pt x="84772" y="41910"/>
                  </a:lnTo>
                  <a:cubicBezTo>
                    <a:pt x="171450" y="41910"/>
                    <a:pt x="242888" y="106680"/>
                    <a:pt x="253365" y="190500"/>
                  </a:cubicBezTo>
                  <a:lnTo>
                    <a:pt x="212407" y="190500"/>
                  </a:lnTo>
                  <a:close/>
                  <a:moveTo>
                    <a:pt x="340042" y="190500"/>
                  </a:moveTo>
                  <a:lnTo>
                    <a:pt x="299085" y="190500"/>
                  </a:lnTo>
                  <a:cubicBezTo>
                    <a:pt x="309563" y="106680"/>
                    <a:pt x="381000" y="41910"/>
                    <a:pt x="467678" y="41910"/>
                  </a:cubicBezTo>
                  <a:lnTo>
                    <a:pt x="508635" y="41910"/>
                  </a:lnTo>
                  <a:cubicBezTo>
                    <a:pt x="498157" y="125730"/>
                    <a:pt x="426720" y="190500"/>
                    <a:pt x="340042" y="19050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3ACF959F-56A5-E952-F484-09D13707B923}"/>
                </a:ext>
              </a:extLst>
            </p:cNvPr>
            <p:cNvGrpSpPr/>
            <p:nvPr/>
          </p:nvGrpSpPr>
          <p:grpSpPr>
            <a:xfrm>
              <a:off x="12372571" y="7209566"/>
              <a:ext cx="1087755" cy="1087754"/>
              <a:chOff x="12372571" y="7209566"/>
              <a:chExt cx="1087755" cy="1087754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AA8C2A7-AF14-0681-9645-70B1E1D21E4A}"/>
                  </a:ext>
                </a:extLst>
              </p:cNvPr>
              <p:cNvSpPr/>
              <p:nvPr/>
            </p:nvSpPr>
            <p:spPr>
              <a:xfrm>
                <a:off x="12372571" y="7209566"/>
                <a:ext cx="1087755" cy="1087754"/>
              </a:xfrm>
              <a:custGeom>
                <a:avLst/>
                <a:gdLst>
                  <a:gd name="connsiteX0" fmla="*/ 1087755 w 1087755"/>
                  <a:gd name="connsiteY0" fmla="*/ 0 h 1087754"/>
                  <a:gd name="connsiteX1" fmla="*/ 1087755 w 1087755"/>
                  <a:gd name="connsiteY1" fmla="*/ 1087755 h 1087754"/>
                  <a:gd name="connsiteX2" fmla="*/ 0 w 1087755"/>
                  <a:gd name="connsiteY2" fmla="*/ 1087755 h 1087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7755" h="1087754">
                    <a:moveTo>
                      <a:pt x="1087755" y="0"/>
                    </a:moveTo>
                    <a:lnTo>
                      <a:pt x="1087755" y="1087755"/>
                    </a:lnTo>
                    <a:lnTo>
                      <a:pt x="0" y="1087755"/>
                    </a:lnTo>
                  </a:path>
                </a:pathLst>
              </a:custGeom>
              <a:no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BDA1C6A-BF36-D885-B1B1-203DE44727B8}"/>
                  </a:ext>
                </a:extLst>
              </p:cNvPr>
              <p:cNvSpPr/>
              <p:nvPr/>
            </p:nvSpPr>
            <p:spPr>
              <a:xfrm>
                <a:off x="12383048" y="7669623"/>
                <a:ext cx="1062990" cy="552450"/>
              </a:xfrm>
              <a:custGeom>
                <a:avLst/>
                <a:gdLst>
                  <a:gd name="connsiteX0" fmla="*/ 1048703 w 1062990"/>
                  <a:gd name="connsiteY0" fmla="*/ 261938 h 552450"/>
                  <a:gd name="connsiteX1" fmla="*/ 944880 w 1062990"/>
                  <a:gd name="connsiteY1" fmla="*/ 206693 h 552450"/>
                  <a:gd name="connsiteX2" fmla="*/ 929640 w 1062990"/>
                  <a:gd name="connsiteY2" fmla="*/ 206693 h 552450"/>
                  <a:gd name="connsiteX3" fmla="*/ 661988 w 1062990"/>
                  <a:gd name="connsiteY3" fmla="*/ 0 h 552450"/>
                  <a:gd name="connsiteX4" fmla="*/ 418148 w 1062990"/>
                  <a:gd name="connsiteY4" fmla="*/ 146685 h 552450"/>
                  <a:gd name="connsiteX5" fmla="*/ 343853 w 1062990"/>
                  <a:gd name="connsiteY5" fmla="*/ 127635 h 552450"/>
                  <a:gd name="connsiteX6" fmla="*/ 203835 w 1062990"/>
                  <a:gd name="connsiteY6" fmla="*/ 191452 h 552450"/>
                  <a:gd name="connsiteX7" fmla="*/ 0 w 1062990"/>
                  <a:gd name="connsiteY7" fmla="*/ 191452 h 552450"/>
                  <a:gd name="connsiteX8" fmla="*/ 0 w 1062990"/>
                  <a:gd name="connsiteY8" fmla="*/ 488633 h 552450"/>
                  <a:gd name="connsiteX9" fmla="*/ 209550 w 1062990"/>
                  <a:gd name="connsiteY9" fmla="*/ 488633 h 552450"/>
                  <a:gd name="connsiteX10" fmla="*/ 404813 w 1062990"/>
                  <a:gd name="connsiteY10" fmla="*/ 552450 h 552450"/>
                  <a:gd name="connsiteX11" fmla="*/ 732473 w 1062990"/>
                  <a:gd name="connsiteY11" fmla="*/ 552450 h 552450"/>
                  <a:gd name="connsiteX12" fmla="*/ 738188 w 1062990"/>
                  <a:gd name="connsiteY12" fmla="*/ 547688 h 552450"/>
                  <a:gd name="connsiteX13" fmla="*/ 974408 w 1062990"/>
                  <a:gd name="connsiteY13" fmla="*/ 351473 h 552450"/>
                  <a:gd name="connsiteX14" fmla="*/ 1022985 w 1062990"/>
                  <a:gd name="connsiteY14" fmla="*/ 311468 h 552450"/>
                  <a:gd name="connsiteX15" fmla="*/ 1045845 w 1062990"/>
                  <a:gd name="connsiteY15" fmla="*/ 293370 h 552450"/>
                  <a:gd name="connsiteX16" fmla="*/ 1062990 w 1062990"/>
                  <a:gd name="connsiteY16" fmla="*/ 280035 h 552450"/>
                  <a:gd name="connsiteX17" fmla="*/ 1048703 w 1062990"/>
                  <a:gd name="connsiteY17" fmla="*/ 263843 h 552450"/>
                  <a:gd name="connsiteX18" fmla="*/ 662940 w 1062990"/>
                  <a:gd name="connsiteY18" fmla="*/ 41910 h 552450"/>
                  <a:gd name="connsiteX19" fmla="*/ 887730 w 1062990"/>
                  <a:gd name="connsiteY19" fmla="*/ 212408 h 552450"/>
                  <a:gd name="connsiteX20" fmla="*/ 832485 w 1062990"/>
                  <a:gd name="connsiteY20" fmla="*/ 240983 h 552450"/>
                  <a:gd name="connsiteX21" fmla="*/ 798195 w 1062990"/>
                  <a:gd name="connsiteY21" fmla="*/ 271463 h 552450"/>
                  <a:gd name="connsiteX22" fmla="*/ 746760 w 1062990"/>
                  <a:gd name="connsiteY22" fmla="*/ 318135 h 552450"/>
                  <a:gd name="connsiteX23" fmla="*/ 746760 w 1062990"/>
                  <a:gd name="connsiteY23" fmla="*/ 318135 h 552450"/>
                  <a:gd name="connsiteX24" fmla="*/ 600075 w 1062990"/>
                  <a:gd name="connsiteY24" fmla="*/ 190500 h 552450"/>
                  <a:gd name="connsiteX25" fmla="*/ 481965 w 1062990"/>
                  <a:gd name="connsiteY25" fmla="*/ 190500 h 552450"/>
                  <a:gd name="connsiteX26" fmla="*/ 456248 w 1062990"/>
                  <a:gd name="connsiteY26" fmla="*/ 168593 h 552450"/>
                  <a:gd name="connsiteX27" fmla="*/ 663893 w 1062990"/>
                  <a:gd name="connsiteY27" fmla="*/ 41910 h 552450"/>
                  <a:gd name="connsiteX28" fmla="*/ 191453 w 1062990"/>
                  <a:gd name="connsiteY28" fmla="*/ 445770 h 552450"/>
                  <a:gd name="connsiteX29" fmla="*/ 42863 w 1062990"/>
                  <a:gd name="connsiteY29" fmla="*/ 445770 h 552450"/>
                  <a:gd name="connsiteX30" fmla="*/ 42863 w 1062990"/>
                  <a:gd name="connsiteY30" fmla="*/ 233363 h 552450"/>
                  <a:gd name="connsiteX31" fmla="*/ 191453 w 1062990"/>
                  <a:gd name="connsiteY31" fmla="*/ 233363 h 552450"/>
                  <a:gd name="connsiteX32" fmla="*/ 191453 w 1062990"/>
                  <a:gd name="connsiteY32" fmla="*/ 445770 h 552450"/>
                  <a:gd name="connsiteX33" fmla="*/ 996315 w 1062990"/>
                  <a:gd name="connsiteY33" fmla="*/ 277178 h 552450"/>
                  <a:gd name="connsiteX34" fmla="*/ 946785 w 1062990"/>
                  <a:gd name="connsiteY34" fmla="*/ 318135 h 552450"/>
                  <a:gd name="connsiteX35" fmla="*/ 716280 w 1062990"/>
                  <a:gd name="connsiteY35" fmla="*/ 509588 h 552450"/>
                  <a:gd name="connsiteX36" fmla="*/ 411480 w 1062990"/>
                  <a:gd name="connsiteY36" fmla="*/ 509588 h 552450"/>
                  <a:gd name="connsiteX37" fmla="*/ 234315 w 1062990"/>
                  <a:gd name="connsiteY37" fmla="*/ 451485 h 552450"/>
                  <a:gd name="connsiteX38" fmla="*/ 234315 w 1062990"/>
                  <a:gd name="connsiteY38" fmla="*/ 220980 h 552450"/>
                  <a:gd name="connsiteX39" fmla="*/ 344805 w 1062990"/>
                  <a:gd name="connsiteY39" fmla="*/ 169545 h 552450"/>
                  <a:gd name="connsiteX40" fmla="*/ 456248 w 1062990"/>
                  <a:gd name="connsiteY40" fmla="*/ 225743 h 552450"/>
                  <a:gd name="connsiteX41" fmla="*/ 462915 w 1062990"/>
                  <a:gd name="connsiteY41" fmla="*/ 232410 h 552450"/>
                  <a:gd name="connsiteX42" fmla="*/ 600075 w 1062990"/>
                  <a:gd name="connsiteY42" fmla="*/ 232410 h 552450"/>
                  <a:gd name="connsiteX43" fmla="*/ 703898 w 1062990"/>
                  <a:gd name="connsiteY43" fmla="*/ 317183 h 552450"/>
                  <a:gd name="connsiteX44" fmla="*/ 503873 w 1062990"/>
                  <a:gd name="connsiteY44" fmla="*/ 317183 h 552450"/>
                  <a:gd name="connsiteX45" fmla="*/ 503873 w 1062990"/>
                  <a:gd name="connsiteY45" fmla="*/ 360045 h 552450"/>
                  <a:gd name="connsiteX46" fmla="*/ 762953 w 1062990"/>
                  <a:gd name="connsiteY46" fmla="*/ 360045 h 552450"/>
                  <a:gd name="connsiteX47" fmla="*/ 768668 w 1062990"/>
                  <a:gd name="connsiteY47" fmla="*/ 355283 h 552450"/>
                  <a:gd name="connsiteX48" fmla="*/ 827723 w 1062990"/>
                  <a:gd name="connsiteY48" fmla="*/ 302895 h 552450"/>
                  <a:gd name="connsiteX49" fmla="*/ 860108 w 1062990"/>
                  <a:gd name="connsiteY49" fmla="*/ 274320 h 552450"/>
                  <a:gd name="connsiteX50" fmla="*/ 941070 w 1062990"/>
                  <a:gd name="connsiteY50" fmla="*/ 249555 h 552450"/>
                  <a:gd name="connsiteX51" fmla="*/ 1001078 w 1062990"/>
                  <a:gd name="connsiteY51" fmla="*/ 274320 h 552450"/>
                  <a:gd name="connsiteX52" fmla="*/ 996315 w 1062990"/>
                  <a:gd name="connsiteY52" fmla="*/ 278130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1062990" h="552450">
                    <a:moveTo>
                      <a:pt x="1048703" y="261938"/>
                    </a:moveTo>
                    <a:cubicBezTo>
                      <a:pt x="1022033" y="230505"/>
                      <a:pt x="985838" y="211455"/>
                      <a:pt x="944880" y="206693"/>
                    </a:cubicBezTo>
                    <a:cubicBezTo>
                      <a:pt x="940118" y="206693"/>
                      <a:pt x="935355" y="206693"/>
                      <a:pt x="929640" y="206693"/>
                    </a:cubicBezTo>
                    <a:cubicBezTo>
                      <a:pt x="898208" y="85725"/>
                      <a:pt x="788670" y="0"/>
                      <a:pt x="661988" y="0"/>
                    </a:cubicBezTo>
                    <a:cubicBezTo>
                      <a:pt x="535305" y="0"/>
                      <a:pt x="465773" y="57150"/>
                      <a:pt x="418148" y="146685"/>
                    </a:cubicBezTo>
                    <a:cubicBezTo>
                      <a:pt x="396240" y="136208"/>
                      <a:pt x="371475" y="127635"/>
                      <a:pt x="343853" y="127635"/>
                    </a:cubicBezTo>
                    <a:cubicBezTo>
                      <a:pt x="279083" y="127635"/>
                      <a:pt x="222885" y="174308"/>
                      <a:pt x="203835" y="191452"/>
                    </a:cubicBezTo>
                    <a:lnTo>
                      <a:pt x="0" y="191452"/>
                    </a:lnTo>
                    <a:lnTo>
                      <a:pt x="0" y="488633"/>
                    </a:lnTo>
                    <a:lnTo>
                      <a:pt x="209550" y="488633"/>
                    </a:lnTo>
                    <a:lnTo>
                      <a:pt x="404813" y="552450"/>
                    </a:lnTo>
                    <a:lnTo>
                      <a:pt x="732473" y="552450"/>
                    </a:lnTo>
                    <a:lnTo>
                      <a:pt x="738188" y="547688"/>
                    </a:lnTo>
                    <a:cubicBezTo>
                      <a:pt x="874395" y="434340"/>
                      <a:pt x="939165" y="381000"/>
                      <a:pt x="974408" y="351473"/>
                    </a:cubicBezTo>
                    <a:cubicBezTo>
                      <a:pt x="999173" y="331153"/>
                      <a:pt x="1015365" y="317818"/>
                      <a:pt x="1022985" y="311468"/>
                    </a:cubicBezTo>
                    <a:cubicBezTo>
                      <a:pt x="1027748" y="307658"/>
                      <a:pt x="1034415" y="301943"/>
                      <a:pt x="1045845" y="293370"/>
                    </a:cubicBezTo>
                    <a:lnTo>
                      <a:pt x="1062990" y="280035"/>
                    </a:lnTo>
                    <a:lnTo>
                      <a:pt x="1048703" y="263843"/>
                    </a:lnTo>
                    <a:close/>
                    <a:moveTo>
                      <a:pt x="662940" y="41910"/>
                    </a:moveTo>
                    <a:cubicBezTo>
                      <a:pt x="768668" y="41910"/>
                      <a:pt x="860108" y="112395"/>
                      <a:pt x="887730" y="212408"/>
                    </a:cubicBezTo>
                    <a:cubicBezTo>
                      <a:pt x="867728" y="218123"/>
                      <a:pt x="849630" y="227648"/>
                      <a:pt x="832485" y="240983"/>
                    </a:cubicBezTo>
                    <a:cubicBezTo>
                      <a:pt x="822008" y="249555"/>
                      <a:pt x="810578" y="260033"/>
                      <a:pt x="798195" y="271463"/>
                    </a:cubicBezTo>
                    <a:cubicBezTo>
                      <a:pt x="783908" y="284798"/>
                      <a:pt x="767715" y="300038"/>
                      <a:pt x="746760" y="318135"/>
                    </a:cubicBezTo>
                    <a:lnTo>
                      <a:pt x="746760" y="318135"/>
                    </a:lnTo>
                    <a:cubicBezTo>
                      <a:pt x="736283" y="245745"/>
                      <a:pt x="674370" y="190500"/>
                      <a:pt x="600075" y="190500"/>
                    </a:cubicBezTo>
                    <a:lnTo>
                      <a:pt x="481965" y="190500"/>
                    </a:lnTo>
                    <a:cubicBezTo>
                      <a:pt x="476250" y="184785"/>
                      <a:pt x="467678" y="177165"/>
                      <a:pt x="456248" y="168593"/>
                    </a:cubicBezTo>
                    <a:cubicBezTo>
                      <a:pt x="496253" y="91440"/>
                      <a:pt x="576263" y="41910"/>
                      <a:pt x="663893" y="41910"/>
                    </a:cubicBezTo>
                    <a:close/>
                    <a:moveTo>
                      <a:pt x="191453" y="445770"/>
                    </a:moveTo>
                    <a:lnTo>
                      <a:pt x="42863" y="445770"/>
                    </a:lnTo>
                    <a:lnTo>
                      <a:pt x="42863" y="233363"/>
                    </a:lnTo>
                    <a:lnTo>
                      <a:pt x="191453" y="233363"/>
                    </a:lnTo>
                    <a:lnTo>
                      <a:pt x="191453" y="445770"/>
                    </a:lnTo>
                    <a:close/>
                    <a:moveTo>
                      <a:pt x="996315" y="277178"/>
                    </a:moveTo>
                    <a:cubicBezTo>
                      <a:pt x="988057" y="283528"/>
                      <a:pt x="971550" y="297180"/>
                      <a:pt x="946785" y="318135"/>
                    </a:cubicBezTo>
                    <a:cubicBezTo>
                      <a:pt x="912495" y="346710"/>
                      <a:pt x="848678" y="400050"/>
                      <a:pt x="716280" y="509588"/>
                    </a:cubicBezTo>
                    <a:lnTo>
                      <a:pt x="411480" y="509588"/>
                    </a:lnTo>
                    <a:lnTo>
                      <a:pt x="234315" y="451485"/>
                    </a:lnTo>
                    <a:lnTo>
                      <a:pt x="234315" y="220980"/>
                    </a:lnTo>
                    <a:cubicBezTo>
                      <a:pt x="250508" y="206693"/>
                      <a:pt x="296228" y="169545"/>
                      <a:pt x="344805" y="169545"/>
                    </a:cubicBezTo>
                    <a:cubicBezTo>
                      <a:pt x="393383" y="169545"/>
                      <a:pt x="456248" y="225743"/>
                      <a:pt x="456248" y="225743"/>
                    </a:cubicBezTo>
                    <a:lnTo>
                      <a:pt x="462915" y="232410"/>
                    </a:lnTo>
                    <a:lnTo>
                      <a:pt x="600075" y="232410"/>
                    </a:lnTo>
                    <a:cubicBezTo>
                      <a:pt x="651510" y="232410"/>
                      <a:pt x="694373" y="268605"/>
                      <a:pt x="703898" y="317183"/>
                    </a:cubicBezTo>
                    <a:lnTo>
                      <a:pt x="503873" y="317183"/>
                    </a:lnTo>
                    <a:lnTo>
                      <a:pt x="503873" y="360045"/>
                    </a:lnTo>
                    <a:lnTo>
                      <a:pt x="762953" y="360045"/>
                    </a:lnTo>
                    <a:lnTo>
                      <a:pt x="768668" y="355283"/>
                    </a:lnTo>
                    <a:cubicBezTo>
                      <a:pt x="793433" y="334328"/>
                      <a:pt x="812483" y="317183"/>
                      <a:pt x="827723" y="302895"/>
                    </a:cubicBezTo>
                    <a:cubicBezTo>
                      <a:pt x="840105" y="291465"/>
                      <a:pt x="849630" y="281940"/>
                      <a:pt x="860108" y="274320"/>
                    </a:cubicBezTo>
                    <a:cubicBezTo>
                      <a:pt x="882968" y="255270"/>
                      <a:pt x="911543" y="246698"/>
                      <a:pt x="941070" y="249555"/>
                    </a:cubicBezTo>
                    <a:cubicBezTo>
                      <a:pt x="962978" y="251460"/>
                      <a:pt x="983933" y="260033"/>
                      <a:pt x="1001078" y="274320"/>
                    </a:cubicBezTo>
                    <a:cubicBezTo>
                      <a:pt x="999173" y="275273"/>
                      <a:pt x="998220" y="277178"/>
                      <a:pt x="996315" y="27813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4748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76582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82801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6A45-524F-08F1-9FDF-87202C66C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9802" y="1870605"/>
            <a:ext cx="15238810" cy="3979333"/>
          </a:xfrm>
        </p:spPr>
        <p:txBody>
          <a:bodyPr anchor="b"/>
          <a:lstStyle>
            <a:lvl1pPr algn="ctr">
              <a:defRPr sz="7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68921-CA36-6180-78DB-809E3C61E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9802" y="6003397"/>
            <a:ext cx="15238810" cy="2759603"/>
          </a:xfrm>
        </p:spPr>
        <p:txBody>
          <a:bodyPr/>
          <a:lstStyle>
            <a:lvl1pPr marL="0" indent="0" algn="ctr">
              <a:buNone/>
              <a:defRPr sz="3000"/>
            </a:lvl1pPr>
            <a:lvl2pPr marL="571511" indent="0" algn="ctr">
              <a:buNone/>
              <a:defRPr sz="2500"/>
            </a:lvl2pPr>
            <a:lvl3pPr marL="1143023" indent="0" algn="ctr">
              <a:buNone/>
              <a:defRPr sz="2250"/>
            </a:lvl3pPr>
            <a:lvl4pPr marL="1714534" indent="0" algn="ctr">
              <a:buNone/>
              <a:defRPr sz="2000"/>
            </a:lvl4pPr>
            <a:lvl5pPr marL="2286046" indent="0" algn="ctr">
              <a:buNone/>
              <a:defRPr sz="2000"/>
            </a:lvl5pPr>
            <a:lvl6pPr marL="2857557" indent="0" algn="ctr">
              <a:buNone/>
              <a:defRPr sz="2000"/>
            </a:lvl6pPr>
            <a:lvl7pPr marL="3429069" indent="0" algn="ctr">
              <a:buNone/>
              <a:defRPr sz="2000"/>
            </a:lvl7pPr>
            <a:lvl8pPr marL="4000580" indent="0" algn="ctr">
              <a:buNone/>
              <a:defRPr sz="2000"/>
            </a:lvl8pPr>
            <a:lvl9pPr marL="4572091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6F352-2C44-E0A7-0385-E3E2813C4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D1AEB-F400-1848-A41F-8B6BD3066F6D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8C031-7D25-9F3A-FBC9-8BAB899C6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F4804-2C8E-9A4E-338C-0BDB1F1E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56CD-7AB9-B143-AE54-E65367AD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213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 - Maroon - 2 Column w/ Media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1523848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marR="0" indent="0" algn="l" defTabSz="1523848" rtl="0" eaLnBrk="1" fontAlgn="auto" latinLnBrk="0" hangingPunct="1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B14DC-23EE-FBE4-6AE9-EC06E3E5F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0522227" y="2584174"/>
            <a:ext cx="9358035" cy="6864625"/>
          </a:xfrm>
          <a:prstGeom prst="rect">
            <a:avLst/>
          </a:prstGeom>
        </p:spPr>
        <p:txBody>
          <a:bodyPr/>
          <a:lstStyle>
            <a:lvl1pPr algn="ctr">
              <a:defRPr sz="2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6AFD4D6-CC7D-9D99-DF02-F294BC8603E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B5A15BD-FD3B-A9EB-7651-4C15CB2C1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2792E9C-7E5E-F14F-B049-5BFE22D713B7}" type="datetime4">
              <a:rPr lang="en-CA" smtClean="0"/>
              <a:pPr/>
              <a:t>October 9,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33B25B5-1522-E269-6B4D-E80F42610E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68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0" userDrawn="1">
          <p15:clr>
            <a:srgbClr val="FBAE40"/>
          </p15:clr>
        </p15:guide>
        <p15:guide id="2" pos="6399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b - Maroon - 2 Column w/ Media Left - No Header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0522227" y="2584174"/>
            <a:ext cx="9358035" cy="6864625"/>
          </a:xfrm>
          <a:prstGeom prst="rect">
            <a:avLst/>
          </a:prstGeom>
        </p:spPr>
        <p:txBody>
          <a:bodyPr/>
          <a:lstStyle>
            <a:lvl1pPr algn="ctr">
              <a:defRPr sz="2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F6AF12-7C41-8BE1-F0D0-29655407E7C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B6DC690-5E0E-28AC-904A-0B078C570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2792E9C-7E5E-F14F-B049-5BFE22D713B7}" type="datetime4">
              <a:rPr lang="en-CA" smtClean="0"/>
              <a:pPr/>
              <a:t>October 9,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704A5E-F49B-B7F5-E918-A733AE8352D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517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 - Maroon -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23054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081330-5A28-E4D0-9326-FCD3C8A30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142229-C23E-F804-341D-00160009F1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A262C7-63EC-2138-A464-D796BD3325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154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 - Maroon - 2 Column Text w/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9719213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here,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9719213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10158413" cy="0"/>
          </a:xfrm>
          <a:prstGeom prst="line">
            <a:avLst/>
          </a:prstGeom>
          <a:ln w="222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58413" y="1"/>
            <a:ext cx="10160000" cy="94487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77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b - Maroon - 2 Column Text w/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9719213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here,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9719213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1015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58413" y="0"/>
            <a:ext cx="10160000" cy="10332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541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 - Maroon - 2 Column Text w/ Cen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42E8FF69-497B-08CB-9F38-1BCA485AFF8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9200" y="2044800"/>
            <a:ext cx="19443600" cy="3668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9200" y="6267600"/>
            <a:ext cx="9356400" cy="3178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23054" y="6267600"/>
            <a:ext cx="9356400" cy="3178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C4680B1-AE53-6408-584D-F76A8EC342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33BE9F3-3CB4-B281-8CBC-1E004A930F24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4B0961-0CB2-24FD-9EAE-6C1840B6257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420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 - 2 Column Text w/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68B941-1F2D-5CE2-2A8F-A04A5B1FF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20318413" cy="18817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accent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tx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6598A0-1819-47B7-56E3-087533491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8238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A568A2-3656-239A-0EB8-2314D9BBC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238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01051A9-1F5E-DEBC-460B-258E832421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276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735E75-8212-0D61-84DB-AE4D33228E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76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BC00321-3268-8722-0F55-D1C85C839A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808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D5EB2A8-58F4-5BEB-91C4-7F4F8DCC3C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808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F8063C6-D03F-C455-1413-9CCA72A1C4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08E00E7-D5F9-B47F-C0D8-1415DF8F4E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BB54C7-E8D3-B532-0BB1-8F94C0116B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767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b - 2 Column Text w/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6598A0-1819-47B7-56E3-087533491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8238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A568A2-3656-239A-0EB8-2314D9BBC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238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01051A9-1F5E-DEBC-460B-258E832421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276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735E75-8212-0D61-84DB-AE4D33228E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76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BC00321-3268-8722-0F55-D1C85C839A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80854" y="6190742"/>
            <a:ext cx="5366302" cy="42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D5EB2A8-58F4-5BEB-91C4-7F4F8DCC3C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80854" y="6745356"/>
            <a:ext cx="5366302" cy="15902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F8063C6-D03F-C455-1413-9CCA72A1C4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08E00E7-D5F9-B47F-C0D8-1415DF8F4E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BB54C7-E8D3-B532-0BB1-8F94C0116B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054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4b - 2 Column Text w/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1 line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A568A2-3656-239A-0EB8-2314D9BBC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2400" y="3837600"/>
            <a:ext cx="3769200" cy="5364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3E0BDB4-5A47-F698-9942-26196CF700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04036" y="4108384"/>
            <a:ext cx="4787984" cy="3956861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buNone/>
              <a:defRPr sz="250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6598A0-1819-47B7-56E3-087533491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36800" y="4536000"/>
            <a:ext cx="9079200" cy="30996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66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F8063C6-D03F-C455-1413-9CCA72A1C4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08E00E7-D5F9-B47F-C0D8-1415DF8F4E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BB54C7-E8D3-B532-0BB1-8F94C0116B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896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2 - Maroon -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2584175"/>
            <a:ext cx="9358037" cy="6864614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1B14348-2B66-409B-1DDB-93ED677FDC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14800" y="2394000"/>
            <a:ext cx="3769200" cy="5364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000" b="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Callouts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E3E1CB6-82BF-D96D-69BD-262E1455F8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07200" y="2664000"/>
            <a:ext cx="4788000" cy="3956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250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30CB8F8-C7D1-20C9-2877-A7FB57A968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56200" y="6236337"/>
            <a:ext cx="5486400" cy="311054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>
              <a:defRPr sz="2800">
                <a:solidFill>
                  <a:schemeClr val="accent4"/>
                </a:solidFill>
              </a:defRPr>
            </a:lvl2pPr>
            <a:lvl3pPr>
              <a:defRPr sz="2600">
                <a:solidFill>
                  <a:schemeClr val="accent4"/>
                </a:solidFill>
              </a:defRPr>
            </a:lvl3pPr>
            <a:lvl4pPr>
              <a:defRPr sz="2400">
                <a:solidFill>
                  <a:schemeClr val="accent4"/>
                </a:solidFill>
              </a:defRPr>
            </a:lvl4pPr>
            <a:lvl5pPr>
              <a:defRPr sz="22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Callouts can look like this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081330-5A28-E4D0-9326-FCD3C8A30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142229-C23E-F804-341D-00160009F1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A262C7-63EC-2138-A464-D796BD3325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923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5 - Brighter 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206D1A-FA44-AA97-8AFB-1DE7F68CF0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Creating a Brighter World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6" name="Date Placeholder 3">
            <a:extLst>
              <a:ext uri="{FF2B5EF4-FFF2-40B4-BE49-F238E27FC236}">
                <a16:creationId xmlns:a16="http://schemas.microsoft.com/office/drawing/2014/main" id="{25B13FEC-56D6-BDDA-B11D-2B62FBC10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910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7 - 2 Line Title w/ Copy and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7203600" cy="1472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up to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2185200"/>
            <a:ext cx="7203600" cy="9432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257828"/>
            <a:ext cx="857056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150" y="3535200"/>
            <a:ext cx="7203600" cy="59148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70563" y="0"/>
            <a:ext cx="11747850" cy="944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41E1458-C432-DACF-1B77-6F0178924C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838F34-5806-14A7-4D13-6E52C51997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34D9D2-1CEF-12A6-591D-6FCA71B739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55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8 - 2 Line Title w/ Copy and Full Blee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18400" y="457200"/>
            <a:ext cx="7203600" cy="14724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up to 2 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18400" y="2185200"/>
            <a:ext cx="7203600" cy="9432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218400" y="3535200"/>
            <a:ext cx="7203600" cy="53712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30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8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6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2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747850" y="3257828"/>
            <a:ext cx="857056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79200" cy="944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F526E81-2B2E-2FBE-FBEE-7993015DEE3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424CF3-DC6A-ACF4-BCC0-6999BB1E562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3BC796C-F05B-6EF0-6DA8-13A9D6314B0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034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0 - Divider Slide w/ 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312DC6C-470B-EF98-6369-AEF7DDD3AB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20318413" cy="94487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5200" y="3567599"/>
            <a:ext cx="5202000" cy="20196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15200" y="5799600"/>
            <a:ext cx="5202000" cy="1472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1B45CF-F80F-AF1A-BB60-5E7615EB2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2792E9C-7E5E-F14F-B049-5BFE22D713B7}" type="datetime4">
              <a:rPr lang="en-CA" smtClean="0"/>
              <a:pPr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299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0b - Divider Slide w/ 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312DC6C-470B-EF98-6369-AEF7DDD3AB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31000" y="0"/>
            <a:ext cx="13587413" cy="94487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5200" y="3567599"/>
            <a:ext cx="5202000" cy="20196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15200" y="5799600"/>
            <a:ext cx="5202000" cy="1472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1B45CF-F80F-AF1A-BB60-5E7615EB2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2792E9C-7E5E-F14F-B049-5BFE22D713B7}" type="datetime4">
              <a:rPr lang="en-CA" smtClean="0"/>
              <a:pPr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845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0c - Toolkit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8929" y="3567599"/>
            <a:ext cx="10543122" cy="20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8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 dirty="0"/>
              <a:t>Slide title goes here on 2 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8929" y="5799600"/>
            <a:ext cx="10543122" cy="1472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up to 2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76B1-BC79-6A48-84CA-0759CACF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01B45CF-F80F-AF1A-BB60-5E7615EB2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2792E9C-7E5E-F14F-B049-5BFE22D713B7}" type="datetime4">
              <a:rPr lang="en-CA" smtClean="0"/>
              <a:pPr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BF0A4-9A22-175D-1BEC-7D14A9C0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227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6 - Header w/ Open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200" y="457200"/>
            <a:ext cx="19441062" cy="73881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1000"/>
              </a:spcAft>
              <a:defRPr sz="440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150" y="1267200"/>
            <a:ext cx="19442112" cy="57388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881808"/>
            <a:ext cx="20318413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DC5996-BDFE-55CD-CC8A-FA042955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D068AA-C0B4-024E-F068-CFC63BC5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C64306-DF1D-0001-7737-CA0C49A4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224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6 - 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2192C-3A69-FE59-73A6-A262DF72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91159-C341-9E42-1ED7-05684802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2A4791-8BB3-D788-EFE9-CDE2FEB0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637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7 - Land Acknowledg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1CD51DFF-2A6D-7EC7-1E76-C81EC80C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999" y="4520998"/>
            <a:ext cx="14302799" cy="648602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2000" y="5421600"/>
            <a:ext cx="14302799" cy="2805297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3600" baseline="0">
                <a:solidFill>
                  <a:schemeClr val="bg1"/>
                </a:solidFill>
              </a:defRPr>
            </a:lvl1pPr>
            <a:lvl2pPr marL="761924" indent="0" algn="ctr">
              <a:buNone/>
              <a:defRPr sz="3333"/>
            </a:lvl2pPr>
            <a:lvl3pPr marL="1523848" indent="0" algn="ctr">
              <a:buNone/>
              <a:defRPr sz="3000"/>
            </a:lvl3pPr>
            <a:lvl4pPr marL="2285771" indent="0" algn="ctr">
              <a:buNone/>
              <a:defRPr sz="2666"/>
            </a:lvl4pPr>
            <a:lvl5pPr marL="3047695" indent="0" algn="ctr">
              <a:buNone/>
              <a:defRPr sz="2666"/>
            </a:lvl5pPr>
            <a:lvl6pPr marL="3809619" indent="0" algn="ctr">
              <a:buNone/>
              <a:defRPr sz="2666"/>
            </a:lvl6pPr>
            <a:lvl7pPr marL="4571543" indent="0" algn="ctr">
              <a:buNone/>
              <a:defRPr sz="2666"/>
            </a:lvl7pPr>
            <a:lvl8pPr marL="5333467" indent="0" algn="ctr">
              <a:buNone/>
              <a:defRPr sz="2666"/>
            </a:lvl8pPr>
            <a:lvl9pPr marL="6095390" indent="0" algn="ctr">
              <a:buNone/>
              <a:defRPr sz="2666"/>
            </a:lvl9pPr>
          </a:lstStyle>
          <a:p>
            <a:endParaRPr lang="en-US" sz="3600" baseline="30000">
              <a:solidFill>
                <a:schemeClr val="bg1"/>
              </a:solidFill>
            </a:endParaRPr>
          </a:p>
        </p:txBody>
      </p:sp>
      <p:grpSp>
        <p:nvGrpSpPr>
          <p:cNvPr id="8" name="Group 7" descr="An icon of a hand holding a sapling.">
            <a:extLst>
              <a:ext uri="{FF2B5EF4-FFF2-40B4-BE49-F238E27FC236}">
                <a16:creationId xmlns:a16="http://schemas.microsoft.com/office/drawing/2014/main" id="{0DECB02C-2326-F95A-1ECA-3D29624B802C}"/>
              </a:ext>
            </a:extLst>
          </p:cNvPr>
          <p:cNvGrpSpPr/>
          <p:nvPr userDrawn="1"/>
        </p:nvGrpSpPr>
        <p:grpSpPr>
          <a:xfrm>
            <a:off x="3429538" y="3189238"/>
            <a:ext cx="1087755" cy="1087754"/>
            <a:chOff x="12372571" y="7209566"/>
            <a:chExt cx="1087755" cy="108775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4FBF782-1048-A071-8D84-1668E5FC19BD}"/>
                </a:ext>
              </a:extLst>
            </p:cNvPr>
            <p:cNvSpPr/>
            <p:nvPr/>
          </p:nvSpPr>
          <p:spPr>
            <a:xfrm>
              <a:off x="12769764" y="7286718"/>
              <a:ext cx="553402" cy="402907"/>
            </a:xfrm>
            <a:custGeom>
              <a:avLst/>
              <a:gdLst>
                <a:gd name="connsiteX0" fmla="*/ 467678 w 553402"/>
                <a:gd name="connsiteY0" fmla="*/ 0 h 402907"/>
                <a:gd name="connsiteX1" fmla="*/ 276225 w 553402"/>
                <a:gd name="connsiteY1" fmla="*/ 120015 h 402907"/>
                <a:gd name="connsiteX2" fmla="*/ 84772 w 553402"/>
                <a:gd name="connsiteY2" fmla="*/ 0 h 402907"/>
                <a:gd name="connsiteX3" fmla="*/ 0 w 553402"/>
                <a:gd name="connsiteY3" fmla="*/ 0 h 402907"/>
                <a:gd name="connsiteX4" fmla="*/ 0 w 553402"/>
                <a:gd name="connsiteY4" fmla="*/ 20955 h 402907"/>
                <a:gd name="connsiteX5" fmla="*/ 212407 w 553402"/>
                <a:gd name="connsiteY5" fmla="*/ 233363 h 402907"/>
                <a:gd name="connsiteX6" fmla="*/ 255270 w 553402"/>
                <a:gd name="connsiteY6" fmla="*/ 233363 h 402907"/>
                <a:gd name="connsiteX7" fmla="*/ 255270 w 553402"/>
                <a:gd name="connsiteY7" fmla="*/ 402908 h 402907"/>
                <a:gd name="connsiteX8" fmla="*/ 298132 w 553402"/>
                <a:gd name="connsiteY8" fmla="*/ 402908 h 402907"/>
                <a:gd name="connsiteX9" fmla="*/ 298132 w 553402"/>
                <a:gd name="connsiteY9" fmla="*/ 233363 h 402907"/>
                <a:gd name="connsiteX10" fmla="*/ 340995 w 553402"/>
                <a:gd name="connsiteY10" fmla="*/ 233363 h 402907"/>
                <a:gd name="connsiteX11" fmla="*/ 553403 w 553402"/>
                <a:gd name="connsiteY11" fmla="*/ 20955 h 402907"/>
                <a:gd name="connsiteX12" fmla="*/ 553403 w 553402"/>
                <a:gd name="connsiteY12" fmla="*/ 0 h 402907"/>
                <a:gd name="connsiteX13" fmla="*/ 468630 w 553402"/>
                <a:gd name="connsiteY13" fmla="*/ 0 h 402907"/>
                <a:gd name="connsiteX14" fmla="*/ 212407 w 553402"/>
                <a:gd name="connsiteY14" fmla="*/ 190500 h 402907"/>
                <a:gd name="connsiteX15" fmla="*/ 43815 w 553402"/>
                <a:gd name="connsiteY15" fmla="*/ 41910 h 402907"/>
                <a:gd name="connsiteX16" fmla="*/ 84772 w 553402"/>
                <a:gd name="connsiteY16" fmla="*/ 41910 h 402907"/>
                <a:gd name="connsiteX17" fmla="*/ 253365 w 553402"/>
                <a:gd name="connsiteY17" fmla="*/ 190500 h 402907"/>
                <a:gd name="connsiteX18" fmla="*/ 212407 w 553402"/>
                <a:gd name="connsiteY18" fmla="*/ 190500 h 402907"/>
                <a:gd name="connsiteX19" fmla="*/ 340042 w 553402"/>
                <a:gd name="connsiteY19" fmla="*/ 190500 h 402907"/>
                <a:gd name="connsiteX20" fmla="*/ 299085 w 553402"/>
                <a:gd name="connsiteY20" fmla="*/ 190500 h 402907"/>
                <a:gd name="connsiteX21" fmla="*/ 467678 w 553402"/>
                <a:gd name="connsiteY21" fmla="*/ 41910 h 402907"/>
                <a:gd name="connsiteX22" fmla="*/ 508635 w 553402"/>
                <a:gd name="connsiteY22" fmla="*/ 41910 h 402907"/>
                <a:gd name="connsiteX23" fmla="*/ 340042 w 553402"/>
                <a:gd name="connsiteY23" fmla="*/ 190500 h 40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3402" h="402907">
                  <a:moveTo>
                    <a:pt x="467678" y="0"/>
                  </a:moveTo>
                  <a:cubicBezTo>
                    <a:pt x="383857" y="0"/>
                    <a:pt x="310515" y="48578"/>
                    <a:pt x="276225" y="120015"/>
                  </a:cubicBezTo>
                  <a:cubicBezTo>
                    <a:pt x="241935" y="49530"/>
                    <a:pt x="168592" y="0"/>
                    <a:pt x="84772" y="0"/>
                  </a:cubicBezTo>
                  <a:lnTo>
                    <a:pt x="0" y="0"/>
                  </a:lnTo>
                  <a:lnTo>
                    <a:pt x="0" y="20955"/>
                  </a:lnTo>
                  <a:cubicBezTo>
                    <a:pt x="0" y="138113"/>
                    <a:pt x="95250" y="233363"/>
                    <a:pt x="212407" y="233363"/>
                  </a:cubicBezTo>
                  <a:lnTo>
                    <a:pt x="255270" y="233363"/>
                  </a:lnTo>
                  <a:lnTo>
                    <a:pt x="255270" y="402908"/>
                  </a:lnTo>
                  <a:lnTo>
                    <a:pt x="298132" y="402908"/>
                  </a:lnTo>
                  <a:lnTo>
                    <a:pt x="298132" y="233363"/>
                  </a:lnTo>
                  <a:lnTo>
                    <a:pt x="340995" y="233363"/>
                  </a:lnTo>
                  <a:cubicBezTo>
                    <a:pt x="458153" y="233363"/>
                    <a:pt x="553403" y="138113"/>
                    <a:pt x="553403" y="20955"/>
                  </a:cubicBezTo>
                  <a:lnTo>
                    <a:pt x="553403" y="0"/>
                  </a:lnTo>
                  <a:lnTo>
                    <a:pt x="468630" y="0"/>
                  </a:lnTo>
                  <a:close/>
                  <a:moveTo>
                    <a:pt x="212407" y="190500"/>
                  </a:moveTo>
                  <a:cubicBezTo>
                    <a:pt x="125730" y="190500"/>
                    <a:pt x="54292" y="125730"/>
                    <a:pt x="43815" y="41910"/>
                  </a:cubicBezTo>
                  <a:lnTo>
                    <a:pt x="84772" y="41910"/>
                  </a:lnTo>
                  <a:cubicBezTo>
                    <a:pt x="171450" y="41910"/>
                    <a:pt x="242888" y="106680"/>
                    <a:pt x="253365" y="190500"/>
                  </a:cubicBezTo>
                  <a:lnTo>
                    <a:pt x="212407" y="190500"/>
                  </a:lnTo>
                  <a:close/>
                  <a:moveTo>
                    <a:pt x="340042" y="190500"/>
                  </a:moveTo>
                  <a:lnTo>
                    <a:pt x="299085" y="190500"/>
                  </a:lnTo>
                  <a:cubicBezTo>
                    <a:pt x="309563" y="106680"/>
                    <a:pt x="381000" y="41910"/>
                    <a:pt x="467678" y="41910"/>
                  </a:cubicBezTo>
                  <a:lnTo>
                    <a:pt x="508635" y="41910"/>
                  </a:lnTo>
                  <a:cubicBezTo>
                    <a:pt x="498157" y="125730"/>
                    <a:pt x="426720" y="190500"/>
                    <a:pt x="340042" y="19050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3ACF959F-56A5-E952-F484-09D13707B923}"/>
                </a:ext>
              </a:extLst>
            </p:cNvPr>
            <p:cNvGrpSpPr/>
            <p:nvPr/>
          </p:nvGrpSpPr>
          <p:grpSpPr>
            <a:xfrm>
              <a:off x="12372571" y="7209566"/>
              <a:ext cx="1087755" cy="1087754"/>
              <a:chOff x="12372571" y="7209566"/>
              <a:chExt cx="1087755" cy="1087754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AA8C2A7-AF14-0681-9645-70B1E1D21E4A}"/>
                  </a:ext>
                </a:extLst>
              </p:cNvPr>
              <p:cNvSpPr/>
              <p:nvPr/>
            </p:nvSpPr>
            <p:spPr>
              <a:xfrm>
                <a:off x="12372571" y="7209566"/>
                <a:ext cx="1087755" cy="1087754"/>
              </a:xfrm>
              <a:custGeom>
                <a:avLst/>
                <a:gdLst>
                  <a:gd name="connsiteX0" fmla="*/ 1087755 w 1087755"/>
                  <a:gd name="connsiteY0" fmla="*/ 0 h 1087754"/>
                  <a:gd name="connsiteX1" fmla="*/ 1087755 w 1087755"/>
                  <a:gd name="connsiteY1" fmla="*/ 1087755 h 1087754"/>
                  <a:gd name="connsiteX2" fmla="*/ 0 w 1087755"/>
                  <a:gd name="connsiteY2" fmla="*/ 1087755 h 1087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7755" h="1087754">
                    <a:moveTo>
                      <a:pt x="1087755" y="0"/>
                    </a:moveTo>
                    <a:lnTo>
                      <a:pt x="1087755" y="1087755"/>
                    </a:lnTo>
                    <a:lnTo>
                      <a:pt x="0" y="1087755"/>
                    </a:lnTo>
                  </a:path>
                </a:pathLst>
              </a:custGeom>
              <a:no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BDA1C6A-BF36-D885-B1B1-203DE44727B8}"/>
                  </a:ext>
                </a:extLst>
              </p:cNvPr>
              <p:cNvSpPr/>
              <p:nvPr/>
            </p:nvSpPr>
            <p:spPr>
              <a:xfrm>
                <a:off x="12383048" y="7669623"/>
                <a:ext cx="1062990" cy="552450"/>
              </a:xfrm>
              <a:custGeom>
                <a:avLst/>
                <a:gdLst>
                  <a:gd name="connsiteX0" fmla="*/ 1048703 w 1062990"/>
                  <a:gd name="connsiteY0" fmla="*/ 261938 h 552450"/>
                  <a:gd name="connsiteX1" fmla="*/ 944880 w 1062990"/>
                  <a:gd name="connsiteY1" fmla="*/ 206693 h 552450"/>
                  <a:gd name="connsiteX2" fmla="*/ 929640 w 1062990"/>
                  <a:gd name="connsiteY2" fmla="*/ 206693 h 552450"/>
                  <a:gd name="connsiteX3" fmla="*/ 661988 w 1062990"/>
                  <a:gd name="connsiteY3" fmla="*/ 0 h 552450"/>
                  <a:gd name="connsiteX4" fmla="*/ 418148 w 1062990"/>
                  <a:gd name="connsiteY4" fmla="*/ 146685 h 552450"/>
                  <a:gd name="connsiteX5" fmla="*/ 343853 w 1062990"/>
                  <a:gd name="connsiteY5" fmla="*/ 127635 h 552450"/>
                  <a:gd name="connsiteX6" fmla="*/ 203835 w 1062990"/>
                  <a:gd name="connsiteY6" fmla="*/ 191452 h 552450"/>
                  <a:gd name="connsiteX7" fmla="*/ 0 w 1062990"/>
                  <a:gd name="connsiteY7" fmla="*/ 191452 h 552450"/>
                  <a:gd name="connsiteX8" fmla="*/ 0 w 1062990"/>
                  <a:gd name="connsiteY8" fmla="*/ 488633 h 552450"/>
                  <a:gd name="connsiteX9" fmla="*/ 209550 w 1062990"/>
                  <a:gd name="connsiteY9" fmla="*/ 488633 h 552450"/>
                  <a:gd name="connsiteX10" fmla="*/ 404813 w 1062990"/>
                  <a:gd name="connsiteY10" fmla="*/ 552450 h 552450"/>
                  <a:gd name="connsiteX11" fmla="*/ 732473 w 1062990"/>
                  <a:gd name="connsiteY11" fmla="*/ 552450 h 552450"/>
                  <a:gd name="connsiteX12" fmla="*/ 738188 w 1062990"/>
                  <a:gd name="connsiteY12" fmla="*/ 547688 h 552450"/>
                  <a:gd name="connsiteX13" fmla="*/ 974408 w 1062990"/>
                  <a:gd name="connsiteY13" fmla="*/ 351473 h 552450"/>
                  <a:gd name="connsiteX14" fmla="*/ 1022985 w 1062990"/>
                  <a:gd name="connsiteY14" fmla="*/ 311468 h 552450"/>
                  <a:gd name="connsiteX15" fmla="*/ 1045845 w 1062990"/>
                  <a:gd name="connsiteY15" fmla="*/ 293370 h 552450"/>
                  <a:gd name="connsiteX16" fmla="*/ 1062990 w 1062990"/>
                  <a:gd name="connsiteY16" fmla="*/ 280035 h 552450"/>
                  <a:gd name="connsiteX17" fmla="*/ 1048703 w 1062990"/>
                  <a:gd name="connsiteY17" fmla="*/ 263843 h 552450"/>
                  <a:gd name="connsiteX18" fmla="*/ 662940 w 1062990"/>
                  <a:gd name="connsiteY18" fmla="*/ 41910 h 552450"/>
                  <a:gd name="connsiteX19" fmla="*/ 887730 w 1062990"/>
                  <a:gd name="connsiteY19" fmla="*/ 212408 h 552450"/>
                  <a:gd name="connsiteX20" fmla="*/ 832485 w 1062990"/>
                  <a:gd name="connsiteY20" fmla="*/ 240983 h 552450"/>
                  <a:gd name="connsiteX21" fmla="*/ 798195 w 1062990"/>
                  <a:gd name="connsiteY21" fmla="*/ 271463 h 552450"/>
                  <a:gd name="connsiteX22" fmla="*/ 746760 w 1062990"/>
                  <a:gd name="connsiteY22" fmla="*/ 318135 h 552450"/>
                  <a:gd name="connsiteX23" fmla="*/ 746760 w 1062990"/>
                  <a:gd name="connsiteY23" fmla="*/ 318135 h 552450"/>
                  <a:gd name="connsiteX24" fmla="*/ 600075 w 1062990"/>
                  <a:gd name="connsiteY24" fmla="*/ 190500 h 552450"/>
                  <a:gd name="connsiteX25" fmla="*/ 481965 w 1062990"/>
                  <a:gd name="connsiteY25" fmla="*/ 190500 h 552450"/>
                  <a:gd name="connsiteX26" fmla="*/ 456248 w 1062990"/>
                  <a:gd name="connsiteY26" fmla="*/ 168593 h 552450"/>
                  <a:gd name="connsiteX27" fmla="*/ 663893 w 1062990"/>
                  <a:gd name="connsiteY27" fmla="*/ 41910 h 552450"/>
                  <a:gd name="connsiteX28" fmla="*/ 191453 w 1062990"/>
                  <a:gd name="connsiteY28" fmla="*/ 445770 h 552450"/>
                  <a:gd name="connsiteX29" fmla="*/ 42863 w 1062990"/>
                  <a:gd name="connsiteY29" fmla="*/ 445770 h 552450"/>
                  <a:gd name="connsiteX30" fmla="*/ 42863 w 1062990"/>
                  <a:gd name="connsiteY30" fmla="*/ 233363 h 552450"/>
                  <a:gd name="connsiteX31" fmla="*/ 191453 w 1062990"/>
                  <a:gd name="connsiteY31" fmla="*/ 233363 h 552450"/>
                  <a:gd name="connsiteX32" fmla="*/ 191453 w 1062990"/>
                  <a:gd name="connsiteY32" fmla="*/ 445770 h 552450"/>
                  <a:gd name="connsiteX33" fmla="*/ 996315 w 1062990"/>
                  <a:gd name="connsiteY33" fmla="*/ 277178 h 552450"/>
                  <a:gd name="connsiteX34" fmla="*/ 946785 w 1062990"/>
                  <a:gd name="connsiteY34" fmla="*/ 318135 h 552450"/>
                  <a:gd name="connsiteX35" fmla="*/ 716280 w 1062990"/>
                  <a:gd name="connsiteY35" fmla="*/ 509588 h 552450"/>
                  <a:gd name="connsiteX36" fmla="*/ 411480 w 1062990"/>
                  <a:gd name="connsiteY36" fmla="*/ 509588 h 552450"/>
                  <a:gd name="connsiteX37" fmla="*/ 234315 w 1062990"/>
                  <a:gd name="connsiteY37" fmla="*/ 451485 h 552450"/>
                  <a:gd name="connsiteX38" fmla="*/ 234315 w 1062990"/>
                  <a:gd name="connsiteY38" fmla="*/ 220980 h 552450"/>
                  <a:gd name="connsiteX39" fmla="*/ 344805 w 1062990"/>
                  <a:gd name="connsiteY39" fmla="*/ 169545 h 552450"/>
                  <a:gd name="connsiteX40" fmla="*/ 456248 w 1062990"/>
                  <a:gd name="connsiteY40" fmla="*/ 225743 h 552450"/>
                  <a:gd name="connsiteX41" fmla="*/ 462915 w 1062990"/>
                  <a:gd name="connsiteY41" fmla="*/ 232410 h 552450"/>
                  <a:gd name="connsiteX42" fmla="*/ 600075 w 1062990"/>
                  <a:gd name="connsiteY42" fmla="*/ 232410 h 552450"/>
                  <a:gd name="connsiteX43" fmla="*/ 703898 w 1062990"/>
                  <a:gd name="connsiteY43" fmla="*/ 317183 h 552450"/>
                  <a:gd name="connsiteX44" fmla="*/ 503873 w 1062990"/>
                  <a:gd name="connsiteY44" fmla="*/ 317183 h 552450"/>
                  <a:gd name="connsiteX45" fmla="*/ 503873 w 1062990"/>
                  <a:gd name="connsiteY45" fmla="*/ 360045 h 552450"/>
                  <a:gd name="connsiteX46" fmla="*/ 762953 w 1062990"/>
                  <a:gd name="connsiteY46" fmla="*/ 360045 h 552450"/>
                  <a:gd name="connsiteX47" fmla="*/ 768668 w 1062990"/>
                  <a:gd name="connsiteY47" fmla="*/ 355283 h 552450"/>
                  <a:gd name="connsiteX48" fmla="*/ 827723 w 1062990"/>
                  <a:gd name="connsiteY48" fmla="*/ 302895 h 552450"/>
                  <a:gd name="connsiteX49" fmla="*/ 860108 w 1062990"/>
                  <a:gd name="connsiteY49" fmla="*/ 274320 h 552450"/>
                  <a:gd name="connsiteX50" fmla="*/ 941070 w 1062990"/>
                  <a:gd name="connsiteY50" fmla="*/ 249555 h 552450"/>
                  <a:gd name="connsiteX51" fmla="*/ 1001078 w 1062990"/>
                  <a:gd name="connsiteY51" fmla="*/ 274320 h 552450"/>
                  <a:gd name="connsiteX52" fmla="*/ 996315 w 1062990"/>
                  <a:gd name="connsiteY52" fmla="*/ 278130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1062990" h="552450">
                    <a:moveTo>
                      <a:pt x="1048703" y="261938"/>
                    </a:moveTo>
                    <a:cubicBezTo>
                      <a:pt x="1022033" y="230505"/>
                      <a:pt x="985838" y="211455"/>
                      <a:pt x="944880" y="206693"/>
                    </a:cubicBezTo>
                    <a:cubicBezTo>
                      <a:pt x="940118" y="206693"/>
                      <a:pt x="935355" y="206693"/>
                      <a:pt x="929640" y="206693"/>
                    </a:cubicBezTo>
                    <a:cubicBezTo>
                      <a:pt x="898208" y="85725"/>
                      <a:pt x="788670" y="0"/>
                      <a:pt x="661988" y="0"/>
                    </a:cubicBezTo>
                    <a:cubicBezTo>
                      <a:pt x="535305" y="0"/>
                      <a:pt x="465773" y="57150"/>
                      <a:pt x="418148" y="146685"/>
                    </a:cubicBezTo>
                    <a:cubicBezTo>
                      <a:pt x="396240" y="136208"/>
                      <a:pt x="371475" y="127635"/>
                      <a:pt x="343853" y="127635"/>
                    </a:cubicBezTo>
                    <a:cubicBezTo>
                      <a:pt x="279083" y="127635"/>
                      <a:pt x="222885" y="174308"/>
                      <a:pt x="203835" y="191452"/>
                    </a:cubicBezTo>
                    <a:lnTo>
                      <a:pt x="0" y="191452"/>
                    </a:lnTo>
                    <a:lnTo>
                      <a:pt x="0" y="488633"/>
                    </a:lnTo>
                    <a:lnTo>
                      <a:pt x="209550" y="488633"/>
                    </a:lnTo>
                    <a:lnTo>
                      <a:pt x="404813" y="552450"/>
                    </a:lnTo>
                    <a:lnTo>
                      <a:pt x="732473" y="552450"/>
                    </a:lnTo>
                    <a:lnTo>
                      <a:pt x="738188" y="547688"/>
                    </a:lnTo>
                    <a:cubicBezTo>
                      <a:pt x="874395" y="434340"/>
                      <a:pt x="939165" y="381000"/>
                      <a:pt x="974408" y="351473"/>
                    </a:cubicBezTo>
                    <a:cubicBezTo>
                      <a:pt x="999173" y="331153"/>
                      <a:pt x="1015365" y="317818"/>
                      <a:pt x="1022985" y="311468"/>
                    </a:cubicBezTo>
                    <a:cubicBezTo>
                      <a:pt x="1027748" y="307658"/>
                      <a:pt x="1034415" y="301943"/>
                      <a:pt x="1045845" y="293370"/>
                    </a:cubicBezTo>
                    <a:lnTo>
                      <a:pt x="1062990" y="280035"/>
                    </a:lnTo>
                    <a:lnTo>
                      <a:pt x="1048703" y="263843"/>
                    </a:lnTo>
                    <a:close/>
                    <a:moveTo>
                      <a:pt x="662940" y="41910"/>
                    </a:moveTo>
                    <a:cubicBezTo>
                      <a:pt x="768668" y="41910"/>
                      <a:pt x="860108" y="112395"/>
                      <a:pt x="887730" y="212408"/>
                    </a:cubicBezTo>
                    <a:cubicBezTo>
                      <a:pt x="867728" y="218123"/>
                      <a:pt x="849630" y="227648"/>
                      <a:pt x="832485" y="240983"/>
                    </a:cubicBezTo>
                    <a:cubicBezTo>
                      <a:pt x="822008" y="249555"/>
                      <a:pt x="810578" y="260033"/>
                      <a:pt x="798195" y="271463"/>
                    </a:cubicBezTo>
                    <a:cubicBezTo>
                      <a:pt x="783908" y="284798"/>
                      <a:pt x="767715" y="300038"/>
                      <a:pt x="746760" y="318135"/>
                    </a:cubicBezTo>
                    <a:lnTo>
                      <a:pt x="746760" y="318135"/>
                    </a:lnTo>
                    <a:cubicBezTo>
                      <a:pt x="736283" y="245745"/>
                      <a:pt x="674370" y="190500"/>
                      <a:pt x="600075" y="190500"/>
                    </a:cubicBezTo>
                    <a:lnTo>
                      <a:pt x="481965" y="190500"/>
                    </a:lnTo>
                    <a:cubicBezTo>
                      <a:pt x="476250" y="184785"/>
                      <a:pt x="467678" y="177165"/>
                      <a:pt x="456248" y="168593"/>
                    </a:cubicBezTo>
                    <a:cubicBezTo>
                      <a:pt x="496253" y="91440"/>
                      <a:pt x="576263" y="41910"/>
                      <a:pt x="663893" y="41910"/>
                    </a:cubicBezTo>
                    <a:close/>
                    <a:moveTo>
                      <a:pt x="191453" y="445770"/>
                    </a:moveTo>
                    <a:lnTo>
                      <a:pt x="42863" y="445770"/>
                    </a:lnTo>
                    <a:lnTo>
                      <a:pt x="42863" y="233363"/>
                    </a:lnTo>
                    <a:lnTo>
                      <a:pt x="191453" y="233363"/>
                    </a:lnTo>
                    <a:lnTo>
                      <a:pt x="191453" y="445770"/>
                    </a:lnTo>
                    <a:close/>
                    <a:moveTo>
                      <a:pt x="996315" y="277178"/>
                    </a:moveTo>
                    <a:cubicBezTo>
                      <a:pt x="988057" y="283528"/>
                      <a:pt x="971550" y="297180"/>
                      <a:pt x="946785" y="318135"/>
                    </a:cubicBezTo>
                    <a:cubicBezTo>
                      <a:pt x="912495" y="346710"/>
                      <a:pt x="848678" y="400050"/>
                      <a:pt x="716280" y="509588"/>
                    </a:cubicBezTo>
                    <a:lnTo>
                      <a:pt x="411480" y="509588"/>
                    </a:lnTo>
                    <a:lnTo>
                      <a:pt x="234315" y="451485"/>
                    </a:lnTo>
                    <a:lnTo>
                      <a:pt x="234315" y="220980"/>
                    </a:lnTo>
                    <a:cubicBezTo>
                      <a:pt x="250508" y="206693"/>
                      <a:pt x="296228" y="169545"/>
                      <a:pt x="344805" y="169545"/>
                    </a:cubicBezTo>
                    <a:cubicBezTo>
                      <a:pt x="393383" y="169545"/>
                      <a:pt x="456248" y="225743"/>
                      <a:pt x="456248" y="225743"/>
                    </a:cubicBezTo>
                    <a:lnTo>
                      <a:pt x="462915" y="232410"/>
                    </a:lnTo>
                    <a:lnTo>
                      <a:pt x="600075" y="232410"/>
                    </a:lnTo>
                    <a:cubicBezTo>
                      <a:pt x="651510" y="232410"/>
                      <a:pt x="694373" y="268605"/>
                      <a:pt x="703898" y="317183"/>
                    </a:cubicBezTo>
                    <a:lnTo>
                      <a:pt x="503873" y="317183"/>
                    </a:lnTo>
                    <a:lnTo>
                      <a:pt x="503873" y="360045"/>
                    </a:lnTo>
                    <a:lnTo>
                      <a:pt x="762953" y="360045"/>
                    </a:lnTo>
                    <a:lnTo>
                      <a:pt x="768668" y="355283"/>
                    </a:lnTo>
                    <a:cubicBezTo>
                      <a:pt x="793433" y="334328"/>
                      <a:pt x="812483" y="317183"/>
                      <a:pt x="827723" y="302895"/>
                    </a:cubicBezTo>
                    <a:cubicBezTo>
                      <a:pt x="840105" y="291465"/>
                      <a:pt x="849630" y="281940"/>
                      <a:pt x="860108" y="274320"/>
                    </a:cubicBezTo>
                    <a:cubicBezTo>
                      <a:pt x="882968" y="255270"/>
                      <a:pt x="911543" y="246698"/>
                      <a:pt x="941070" y="249555"/>
                    </a:cubicBezTo>
                    <a:cubicBezTo>
                      <a:pt x="962978" y="251460"/>
                      <a:pt x="983933" y="260033"/>
                      <a:pt x="1001078" y="274320"/>
                    </a:cubicBezTo>
                    <a:cubicBezTo>
                      <a:pt x="999173" y="275273"/>
                      <a:pt x="998220" y="277178"/>
                      <a:pt x="996315" y="27813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06092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92945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0318413" cy="1143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714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26" Type="http://schemas.openxmlformats.org/officeDocument/2006/relationships/image" Target="../media/image6.svg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image" Target="../media/image16.svg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image" Target="../media/image15.png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75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36" r:id="rId2"/>
    <p:sldLayoutId id="2147483673" r:id="rId3"/>
    <p:sldLayoutId id="2147483698" r:id="rId4"/>
    <p:sldLayoutId id="2147483674" r:id="rId5"/>
    <p:sldLayoutId id="2147483699" r:id="rId6"/>
    <p:sldLayoutId id="2147483675" r:id="rId7"/>
  </p:sldLayoutIdLst>
  <p:hf hdr="0"/>
  <p:txStyles>
    <p:titleStyle>
      <a:lvl1pPr algn="l" defTabSz="1523848" rtl="0" eaLnBrk="1" latinLnBrk="0" hangingPunct="1">
        <a:lnSpc>
          <a:spcPct val="90000"/>
        </a:lnSpc>
        <a:spcBef>
          <a:spcPct val="0"/>
        </a:spcBef>
        <a:buNone/>
        <a:defRPr sz="7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62" indent="-380962" algn="l" defTabSz="1523848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4666" kern="1200">
          <a:solidFill>
            <a:schemeClr val="tx1"/>
          </a:solidFill>
          <a:latin typeface="+mn-lt"/>
          <a:ea typeface="+mn-ea"/>
          <a:cs typeface="+mn-cs"/>
        </a:defRPr>
      </a:lvl1pPr>
      <a:lvl2pPr marL="1142886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904810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333" kern="1200">
          <a:solidFill>
            <a:schemeClr val="tx1"/>
          </a:solidFill>
          <a:latin typeface="+mn-lt"/>
          <a:ea typeface="+mn-ea"/>
          <a:cs typeface="+mn-cs"/>
        </a:defRPr>
      </a:lvl3pPr>
      <a:lvl4pPr marL="2666733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428657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4190581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952505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429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476352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1924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848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771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7695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09619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1543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3467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539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6" userDrawn="1">
          <p15:clr>
            <a:srgbClr val="F26B43"/>
          </p15:clr>
        </p15:guide>
        <p15:guide id="2" pos="12523" userDrawn="1">
          <p15:clr>
            <a:srgbClr val="F26B43"/>
          </p15:clr>
        </p15:guide>
        <p15:guide id="3" orient="horz" pos="6911" userDrawn="1">
          <p15:clr>
            <a:srgbClr val="F26B43"/>
          </p15:clr>
        </p15:guide>
        <p15:guide id="4" orient="horz" pos="26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3" descr="McMaster Brighter World Logo">
            <a:extLst>
              <a:ext uri="{FF2B5EF4-FFF2-40B4-BE49-F238E27FC236}">
                <a16:creationId xmlns:a16="http://schemas.microsoft.com/office/drawing/2014/main" id="{BD60C075-AE86-8E05-54F6-84253EC0EDCA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439230" y="10046677"/>
            <a:ext cx="2919093" cy="92453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124C9A-1A6B-0A47-A80A-9BE7F1D1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45877" y="10339754"/>
            <a:ext cx="16672536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F28D3-D67E-618C-8F3A-A8EC1886A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141708" y="10621111"/>
            <a:ext cx="0" cy="35010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B70D333-8933-5D45-A645-E2101C8D0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31000" y="10620000"/>
            <a:ext cx="6856413" cy="377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B6E45-6B27-3FE5-2C5E-F383AA13173A}"/>
              </a:ext>
            </a:extLst>
          </p:cNvPr>
          <p:cNvSpPr txBox="1"/>
          <p:nvPr userDrawn="1"/>
        </p:nvSpPr>
        <p:spPr>
          <a:xfrm>
            <a:off x="14712457" y="10621110"/>
            <a:ext cx="1699850" cy="35010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>
                <a:solidFill>
                  <a:schemeClr val="accent3"/>
                </a:solidFill>
              </a:rPr>
              <a:t>mcmaster.ca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FFE53B8-8EDD-64F7-3BAB-DF15C46C5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3"/>
                </a:solidFill>
              </a:defRPr>
            </a:lvl1pPr>
          </a:lstStyle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C1AF429-5834-A301-2B81-A35534AD3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274400" y="10620000"/>
            <a:ext cx="763538" cy="377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3"/>
                </a:solidFill>
              </a:defRPr>
            </a:lvl1pPr>
          </a:lstStyle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2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70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93" r:id="rId12"/>
    <p:sldLayoutId id="2147483694" r:id="rId13"/>
    <p:sldLayoutId id="2147483695" r:id="rId14"/>
    <p:sldLayoutId id="2147483696" r:id="rId15"/>
    <p:sldLayoutId id="2147483688" r:id="rId16"/>
    <p:sldLayoutId id="2147483691" r:id="rId17"/>
    <p:sldLayoutId id="2147483692" r:id="rId18"/>
    <p:sldLayoutId id="2147483689" r:id="rId19"/>
    <p:sldLayoutId id="2147483690" r:id="rId20"/>
    <p:sldLayoutId id="2147483704" r:id="rId21"/>
    <p:sldLayoutId id="2147483705" r:id="rId22"/>
    <p:sldLayoutId id="2147483741" r:id="rId23"/>
  </p:sldLayoutIdLst>
  <p:hf hdr="0"/>
  <p:txStyles>
    <p:titleStyle>
      <a:lvl1pPr algn="l" defTabSz="1523848" rtl="0" eaLnBrk="1" latinLnBrk="0" hangingPunct="1">
        <a:lnSpc>
          <a:spcPct val="90000"/>
        </a:lnSpc>
        <a:spcBef>
          <a:spcPct val="0"/>
        </a:spcBef>
        <a:buNone/>
        <a:defRPr sz="7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62" indent="-380962" algn="l" defTabSz="1523848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4666" kern="1200">
          <a:solidFill>
            <a:schemeClr val="tx1"/>
          </a:solidFill>
          <a:latin typeface="+mn-lt"/>
          <a:ea typeface="+mn-ea"/>
          <a:cs typeface="+mn-cs"/>
        </a:defRPr>
      </a:lvl1pPr>
      <a:lvl2pPr marL="1142886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904810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333" kern="1200">
          <a:solidFill>
            <a:schemeClr val="tx1"/>
          </a:solidFill>
          <a:latin typeface="+mn-lt"/>
          <a:ea typeface="+mn-ea"/>
          <a:cs typeface="+mn-cs"/>
        </a:defRPr>
      </a:lvl3pPr>
      <a:lvl4pPr marL="2666733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428657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4190581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952505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429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476352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1924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848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771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7695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09619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1543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3467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539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523" userDrawn="1">
          <p15:clr>
            <a:srgbClr val="F26B43"/>
          </p15:clr>
        </p15:guide>
        <p15:guide id="2" pos="276" userDrawn="1">
          <p15:clr>
            <a:srgbClr val="F26B43"/>
          </p15:clr>
        </p15:guide>
        <p15:guide id="3" orient="horz" pos="266" userDrawn="1">
          <p15:clr>
            <a:srgbClr val="F26B43"/>
          </p15:clr>
        </p15:guide>
        <p15:guide id="4" orient="horz" pos="691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124C9A-1A6B-0A47-A80A-9BE7F1D1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45877" y="10339754"/>
            <a:ext cx="16672536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F28D3-D67E-618C-8F3A-A8EC1886A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141708" y="10621111"/>
            <a:ext cx="0" cy="35010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B70D333-8933-5D45-A645-E2101C8D0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31000" y="10620000"/>
            <a:ext cx="6856413" cy="377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B6E45-6B27-3FE5-2C5E-F383AA13173A}"/>
              </a:ext>
            </a:extLst>
          </p:cNvPr>
          <p:cNvSpPr txBox="1"/>
          <p:nvPr userDrawn="1"/>
        </p:nvSpPr>
        <p:spPr>
          <a:xfrm>
            <a:off x="14712457" y="10621110"/>
            <a:ext cx="1699850" cy="35010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mcmaster.ca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FFE53B8-8EDD-64F7-3BAB-DF15C46C5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12307" y="10621112"/>
            <a:ext cx="2572579" cy="3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2792E9C-7E5E-F14F-B049-5BFE22D713B7}" type="datetime4">
              <a:rPr lang="en-CA" smtClean="0"/>
              <a:pPr/>
              <a:t>October 9,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C1AF429-5834-A301-2B81-A35534AD3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274400" y="10620000"/>
            <a:ext cx="763538" cy="377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3" descr="McMaster Brighter World Logo">
            <a:extLst>
              <a:ext uri="{FF2B5EF4-FFF2-40B4-BE49-F238E27FC236}">
                <a16:creationId xmlns:a16="http://schemas.microsoft.com/office/drawing/2014/main" id="{94428B16-60A1-22C3-116E-B4640B101775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439230" y="10046677"/>
            <a:ext cx="2919093" cy="92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8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9" r:id="rId8"/>
    <p:sldLayoutId id="2147483730" r:id="rId9"/>
    <p:sldLayoutId id="2147483732" r:id="rId10"/>
    <p:sldLayoutId id="2147483724" r:id="rId11"/>
    <p:sldLayoutId id="2147483715" r:id="rId12"/>
    <p:sldLayoutId id="2147483716" r:id="rId13"/>
    <p:sldLayoutId id="2147483717" r:id="rId14"/>
    <p:sldLayoutId id="2147483739" r:id="rId15"/>
    <p:sldLayoutId id="2147483740" r:id="rId16"/>
    <p:sldLayoutId id="2147483714" r:id="rId17"/>
    <p:sldLayoutId id="2147483725" r:id="rId18"/>
    <p:sldLayoutId id="2147483726" r:id="rId19"/>
    <p:sldLayoutId id="2147483727" r:id="rId20"/>
    <p:sldLayoutId id="2147483728" r:id="rId21"/>
  </p:sldLayoutIdLst>
  <p:hf hdr="0"/>
  <p:txStyles>
    <p:titleStyle>
      <a:lvl1pPr algn="l" defTabSz="1523848" rtl="0" eaLnBrk="1" latinLnBrk="0" hangingPunct="1">
        <a:lnSpc>
          <a:spcPct val="90000"/>
        </a:lnSpc>
        <a:spcBef>
          <a:spcPct val="0"/>
        </a:spcBef>
        <a:buNone/>
        <a:defRPr sz="7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62" indent="-380962" algn="l" defTabSz="1523848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4666" kern="1200">
          <a:solidFill>
            <a:schemeClr val="tx1"/>
          </a:solidFill>
          <a:latin typeface="+mn-lt"/>
          <a:ea typeface="+mn-ea"/>
          <a:cs typeface="+mn-cs"/>
        </a:defRPr>
      </a:lvl1pPr>
      <a:lvl2pPr marL="1142886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904810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333" kern="1200">
          <a:solidFill>
            <a:schemeClr val="tx1"/>
          </a:solidFill>
          <a:latin typeface="+mn-lt"/>
          <a:ea typeface="+mn-ea"/>
          <a:cs typeface="+mn-cs"/>
        </a:defRPr>
      </a:lvl3pPr>
      <a:lvl4pPr marL="2666733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428657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4190581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952505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429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476352" indent="-380962" algn="l" defTabSz="1523848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1924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848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771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7695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09619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1543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3467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5390" algn="l" defTabSz="152384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911" userDrawn="1">
          <p15:clr>
            <a:srgbClr val="F26B43"/>
          </p15:clr>
        </p15:guide>
        <p15:guide id="2" pos="276" userDrawn="1">
          <p15:clr>
            <a:srgbClr val="F26B43"/>
          </p15:clr>
        </p15:guide>
        <p15:guide id="3" pos="12523" userDrawn="1">
          <p15:clr>
            <a:srgbClr val="F26B43"/>
          </p15:clr>
        </p15:guide>
        <p15:guide id="4" orient="horz" pos="2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9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W-CircleShape">
            <a:extLst>
              <a:ext uri="{FF2B5EF4-FFF2-40B4-BE49-F238E27FC236}">
                <a16:creationId xmlns:a16="http://schemas.microsoft.com/office/drawing/2014/main" id="{E70B4EF9-9B95-047B-FF5C-B61225FA6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99505" y="0"/>
            <a:ext cx="4387409" cy="9352636"/>
          </a:xfrm>
          <a:custGeom>
            <a:avLst/>
            <a:gdLst>
              <a:gd name="connsiteX0" fmla="*/ 157711 w 4387409"/>
              <a:gd name="connsiteY0" fmla="*/ 0 h 9352636"/>
              <a:gd name="connsiteX1" fmla="*/ 2359448 w 4387409"/>
              <a:gd name="connsiteY1" fmla="*/ 0 h 9352636"/>
              <a:gd name="connsiteX2" fmla="*/ 2533410 w 4387409"/>
              <a:gd name="connsiteY2" fmla="*/ 165857 h 9352636"/>
              <a:gd name="connsiteX3" fmla="*/ 4387409 w 4387409"/>
              <a:gd name="connsiteY3" fmla="*/ 4641872 h 9352636"/>
              <a:gd name="connsiteX4" fmla="*/ 2313573 w 4387409"/>
              <a:gd name="connsiteY4" fmla="*/ 9327481 h 9352636"/>
              <a:gd name="connsiteX5" fmla="*/ 2284534 w 4387409"/>
              <a:gd name="connsiteY5" fmla="*/ 9352636 h 9352636"/>
              <a:gd name="connsiteX6" fmla="*/ 0 w 4387409"/>
              <a:gd name="connsiteY6" fmla="*/ 9352636 h 9352636"/>
              <a:gd name="connsiteX7" fmla="*/ 40141 w 4387409"/>
              <a:gd name="connsiteY7" fmla="*/ 9336829 h 9352636"/>
              <a:gd name="connsiteX8" fmla="*/ 1660007 w 4387409"/>
              <a:gd name="connsiteY8" fmla="*/ 8244485 h 9352636"/>
              <a:gd name="connsiteX9" fmla="*/ 2752351 w 4387409"/>
              <a:gd name="connsiteY9" fmla="*/ 6624619 h 9352636"/>
              <a:gd name="connsiteX10" fmla="*/ 3152284 w 4387409"/>
              <a:gd name="connsiteY10" fmla="*/ 4641872 h 9352636"/>
              <a:gd name="connsiteX11" fmla="*/ 2752351 w 4387409"/>
              <a:gd name="connsiteY11" fmla="*/ 2659127 h 9352636"/>
              <a:gd name="connsiteX12" fmla="*/ 1660007 w 4387409"/>
              <a:gd name="connsiteY12" fmla="*/ 1039259 h 9352636"/>
              <a:gd name="connsiteX13" fmla="*/ 264687 w 4387409"/>
              <a:gd name="connsiteY13" fmla="*/ 48301 h 9352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87409" h="9352636">
                <a:moveTo>
                  <a:pt x="157711" y="0"/>
                </a:moveTo>
                <a:lnTo>
                  <a:pt x="2359448" y="0"/>
                </a:lnTo>
                <a:lnTo>
                  <a:pt x="2533410" y="165857"/>
                </a:lnTo>
                <a:cubicBezTo>
                  <a:pt x="3678911" y="1311358"/>
                  <a:pt x="4387409" y="2893862"/>
                  <a:pt x="4387409" y="4641872"/>
                </a:cubicBezTo>
                <a:cubicBezTo>
                  <a:pt x="4387409" y="6499133"/>
                  <a:pt x="3587581" y="8169553"/>
                  <a:pt x="2313573" y="9327481"/>
                </a:cubicBezTo>
                <a:lnTo>
                  <a:pt x="2284534" y="9352636"/>
                </a:lnTo>
                <a:lnTo>
                  <a:pt x="0" y="9352636"/>
                </a:lnTo>
                <a:lnTo>
                  <a:pt x="40141" y="9336829"/>
                </a:lnTo>
                <a:cubicBezTo>
                  <a:pt x="646711" y="9080294"/>
                  <a:pt x="1191647" y="8712844"/>
                  <a:pt x="1660007" y="8244485"/>
                </a:cubicBezTo>
                <a:cubicBezTo>
                  <a:pt x="2128243" y="7776125"/>
                  <a:pt x="2495816" y="7231189"/>
                  <a:pt x="2752351" y="6624619"/>
                </a:cubicBezTo>
                <a:cubicBezTo>
                  <a:pt x="3017779" y="5997299"/>
                  <a:pt x="3152284" y="5330207"/>
                  <a:pt x="3152284" y="4641872"/>
                </a:cubicBezTo>
                <a:cubicBezTo>
                  <a:pt x="3152284" y="3953537"/>
                  <a:pt x="3017655" y="3286447"/>
                  <a:pt x="2752351" y="2659127"/>
                </a:cubicBezTo>
                <a:cubicBezTo>
                  <a:pt x="2495816" y="2052557"/>
                  <a:pt x="2128366" y="1507619"/>
                  <a:pt x="1660007" y="1039259"/>
                </a:cubicBezTo>
                <a:cubicBezTo>
                  <a:pt x="1250192" y="629554"/>
                  <a:pt x="781749" y="296916"/>
                  <a:pt x="264687" y="48301"/>
                </a:cubicBezTo>
                <a:close/>
              </a:path>
            </a:pathLst>
          </a:custGeom>
          <a:solidFill>
            <a:schemeClr val="accent1">
              <a:alpha val="3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8BD6A6-1D42-E972-B941-F0B554434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990" y="3572406"/>
            <a:ext cx="14274909" cy="1653129"/>
          </a:xfrm>
        </p:spPr>
        <p:txBody>
          <a:bodyPr/>
          <a:lstStyle/>
          <a:p>
            <a:r>
              <a:rPr lang="en-US" dirty="0"/>
              <a:t>DNA Sequencing &amp; Genome Assembly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BCCE973-A514-105D-9B0D-04C24EA5C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1990" y="5562703"/>
            <a:ext cx="6597759" cy="1389929"/>
          </a:xfrm>
        </p:spPr>
        <p:txBody>
          <a:bodyPr/>
          <a:lstStyle/>
          <a:p>
            <a:r>
              <a:rPr lang="en-US" dirty="0"/>
              <a:t>BIOCHEM 3BP3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32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E9286E-2D19-AD7C-8249-CE51A1127B0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31DEF6-8CA4-663D-7B8E-729E13C9FB7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DA1597-A5FE-D465-DBBE-966AA75B3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334078"/>
            <a:ext cx="11349538" cy="1032203"/>
          </a:xfrm>
        </p:spPr>
        <p:txBody>
          <a:bodyPr>
            <a:noAutofit/>
          </a:bodyPr>
          <a:lstStyle/>
          <a:p>
            <a:r>
              <a:rPr lang="en-US" sz="6000" dirty="0">
                <a:latin typeface="Raleway" pitchFamily="2" charset="77"/>
              </a:rPr>
              <a:t>Genome 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46DE68-8B56-6AB0-0C23-19AC38FA5A90}"/>
              </a:ext>
            </a:extLst>
          </p:cNvPr>
          <p:cNvSpPr txBox="1"/>
          <p:nvPr/>
        </p:nvSpPr>
        <p:spPr>
          <a:xfrm>
            <a:off x="1785981" y="2621845"/>
            <a:ext cx="16119247" cy="618630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 dirty="0"/>
              <a:t>First genome:</a:t>
            </a:r>
            <a:r>
              <a:rPr lang="en-US" sz="3600" dirty="0"/>
              <a:t> Bacteriophage MS2 in 1976 (3.5 </a:t>
            </a:r>
            <a:r>
              <a:rPr lang="en-US" sz="3600" dirty="0" err="1"/>
              <a:t>Kbp</a:t>
            </a:r>
            <a:r>
              <a:rPr lang="en-US" sz="3600" dirty="0"/>
              <a:t>)</a:t>
            </a:r>
          </a:p>
          <a:p>
            <a:endParaRPr lang="en-US" sz="3600" dirty="0"/>
          </a:p>
          <a:p>
            <a:r>
              <a:rPr lang="en-US" sz="3600" b="1" dirty="0"/>
              <a:t>First bacterial genome:</a:t>
            </a:r>
            <a:r>
              <a:rPr lang="en-US" sz="3600" dirty="0"/>
              <a:t> </a:t>
            </a:r>
            <a:r>
              <a:rPr lang="en-US" sz="3600" i="1" dirty="0" err="1"/>
              <a:t>Haemophilus</a:t>
            </a:r>
            <a:r>
              <a:rPr lang="en-US" sz="3600" i="1" dirty="0"/>
              <a:t> influenzae</a:t>
            </a:r>
            <a:r>
              <a:rPr lang="en-US" sz="3600" dirty="0"/>
              <a:t> in 1995 (1.8 </a:t>
            </a:r>
            <a:r>
              <a:rPr lang="en-US" sz="3600" dirty="0" err="1"/>
              <a:t>Mbp</a:t>
            </a:r>
            <a:r>
              <a:rPr lang="en-US" sz="3600" dirty="0"/>
              <a:t>)</a:t>
            </a:r>
          </a:p>
          <a:p>
            <a:endParaRPr lang="en-US" sz="3600" dirty="0"/>
          </a:p>
          <a:p>
            <a:r>
              <a:rPr lang="en-US" sz="3600" b="1" dirty="0"/>
              <a:t>First eukaryote genome:</a:t>
            </a:r>
            <a:r>
              <a:rPr lang="en-US" sz="3600" dirty="0"/>
              <a:t> </a:t>
            </a:r>
            <a:r>
              <a:rPr lang="en-US" sz="3600" i="1" dirty="0"/>
              <a:t>Saccharomyces cerevisiae</a:t>
            </a:r>
            <a:r>
              <a:rPr lang="en-US" sz="3600" dirty="0"/>
              <a:t> in 1996 (12.1 </a:t>
            </a:r>
            <a:r>
              <a:rPr lang="en-US" sz="3600" dirty="0" err="1"/>
              <a:t>Mbp</a:t>
            </a:r>
            <a:r>
              <a:rPr lang="en-US" sz="3600" dirty="0"/>
              <a:t>)</a:t>
            </a:r>
          </a:p>
          <a:p>
            <a:endParaRPr lang="en-US" sz="3600" dirty="0"/>
          </a:p>
          <a:p>
            <a:r>
              <a:rPr lang="en-US" sz="3600" b="1" dirty="0"/>
              <a:t>First animal genome:</a:t>
            </a:r>
            <a:r>
              <a:rPr lang="en-US" sz="3600" dirty="0"/>
              <a:t> </a:t>
            </a:r>
            <a:r>
              <a:rPr lang="en-US" sz="3600" i="1" dirty="0"/>
              <a:t>Caenorhabditis elegans</a:t>
            </a:r>
            <a:r>
              <a:rPr lang="en-US" sz="3600" dirty="0"/>
              <a:t> in 1998 (100 </a:t>
            </a:r>
            <a:r>
              <a:rPr lang="en-US" sz="3600" dirty="0" err="1"/>
              <a:t>Mbp</a:t>
            </a:r>
            <a:r>
              <a:rPr lang="en-US" sz="3600" dirty="0"/>
              <a:t>)</a:t>
            </a:r>
          </a:p>
          <a:p>
            <a:endParaRPr lang="en-US" sz="3600" dirty="0"/>
          </a:p>
          <a:p>
            <a:r>
              <a:rPr lang="en-US" sz="3600" b="1" dirty="0"/>
              <a:t>First plant genome:</a:t>
            </a:r>
            <a:r>
              <a:rPr lang="en-US" sz="3600" dirty="0"/>
              <a:t> </a:t>
            </a:r>
            <a:r>
              <a:rPr lang="en-US" sz="3600" i="1" dirty="0"/>
              <a:t>Arabidopsis thaliana</a:t>
            </a:r>
            <a:r>
              <a:rPr lang="en-US" sz="3600" dirty="0"/>
              <a:t> in 2000 (119 </a:t>
            </a:r>
            <a:r>
              <a:rPr lang="en-US" sz="3600" dirty="0" err="1"/>
              <a:t>Mbp</a:t>
            </a:r>
            <a:r>
              <a:rPr lang="en-US" sz="3600" dirty="0"/>
              <a:t>)</a:t>
            </a:r>
          </a:p>
          <a:p>
            <a:endParaRPr lang="en-US" sz="3600" dirty="0"/>
          </a:p>
          <a:p>
            <a:r>
              <a:rPr lang="en-US" sz="3600" b="1" dirty="0"/>
              <a:t>Human genome </a:t>
            </a:r>
            <a:r>
              <a:rPr lang="en-US" sz="3600" dirty="0"/>
              <a:t>in 2001 (3.2 billion </a:t>
            </a:r>
            <a:r>
              <a:rPr lang="en-US" sz="3600" dirty="0" err="1"/>
              <a:t>bp</a:t>
            </a:r>
            <a:r>
              <a:rPr lang="en-US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2732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6C3A2-FD2E-0F59-653C-9B3EE6DA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7FF37-0F67-A18A-7999-88CBCDBD0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00" y="685591"/>
            <a:ext cx="19441062" cy="738817"/>
          </a:xfrm>
        </p:spPr>
        <p:txBody>
          <a:bodyPr/>
          <a:lstStyle/>
          <a:p>
            <a:r>
              <a:rPr lang="en-US" dirty="0"/>
              <a:t>The Human Genome: a single “average” reference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F8E5E-45EE-2342-5A68-0ADA38C8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F4A99-3A85-324D-58BE-CA43D684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 descr="Original Reference Genome Sequence">
            <a:extLst>
              <a:ext uri="{FF2B5EF4-FFF2-40B4-BE49-F238E27FC236}">
                <a16:creationId xmlns:a16="http://schemas.microsoft.com/office/drawing/2014/main" id="{5BCC8F2E-1BFB-9D69-7CEE-97E6F44C98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03"/>
          <a:stretch/>
        </p:blipFill>
        <p:spPr bwMode="auto">
          <a:xfrm>
            <a:off x="7792537" y="2355520"/>
            <a:ext cx="12437906" cy="747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266EBE-FD1D-C211-DF6D-98F8ACE4241F}"/>
              </a:ext>
            </a:extLst>
          </p:cNvPr>
          <p:cNvSpPr txBox="1"/>
          <p:nvPr/>
        </p:nvSpPr>
        <p:spPr>
          <a:xfrm>
            <a:off x="439200" y="2987543"/>
            <a:ext cx="80791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 pitchFamily="2" charset="0"/>
              </a:rPr>
              <a:t>The Human Genome Project (1990-2003)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elvetica" pitchFamily="2" charset="0"/>
              </a:rPr>
              <a:t>Original sequence covered 90% and came from 20 volunteers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488F3-CC16-6704-E9D1-3774C1B8A0F8}"/>
              </a:ext>
            </a:extLst>
          </p:cNvPr>
          <p:cNvSpPr txBox="1"/>
          <p:nvPr/>
        </p:nvSpPr>
        <p:spPr>
          <a:xfrm>
            <a:off x="439200" y="5189226"/>
            <a:ext cx="80791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 pitchFamily="2" charset="0"/>
              </a:rPr>
              <a:t>GRCh38 (2013)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elvetica" pitchFamily="2" charset="0"/>
              </a:rPr>
              <a:t>Covered up to 92% of total genome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elvetica" pitchFamily="2" charset="0"/>
              </a:rPr>
              <a:t>Gaps primarily in centromeres &amp; telomeres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B669E-CBF4-7594-D3FC-664B20FF8943}"/>
              </a:ext>
            </a:extLst>
          </p:cNvPr>
          <p:cNvSpPr txBox="1"/>
          <p:nvPr/>
        </p:nvSpPr>
        <p:spPr>
          <a:xfrm>
            <a:off x="439200" y="7689998"/>
            <a:ext cx="80791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 pitchFamily="2" charset="0"/>
              </a:rPr>
              <a:t>Telomere-to-telomere (T2T) (2022)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Helvetica" pitchFamily="2" charset="0"/>
              </a:rPr>
              <a:t>T2T Consortium released first gapless human genome</a:t>
            </a:r>
          </a:p>
        </p:txBody>
      </p:sp>
    </p:spTree>
    <p:extLst>
      <p:ext uri="{BB962C8B-B14F-4D97-AF65-F5344CB8AC3E}">
        <p14:creationId xmlns:p14="http://schemas.microsoft.com/office/powerpoint/2010/main" val="249300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604B-3CE2-4BCA-53C9-0504DFE87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669AA79-8E4B-4193-6574-6DD31311FD39}"/>
              </a:ext>
            </a:extLst>
          </p:cNvPr>
          <p:cNvSpPr/>
          <p:nvPr/>
        </p:nvSpPr>
        <p:spPr>
          <a:xfrm>
            <a:off x="7399867" y="5175387"/>
            <a:ext cx="4746526" cy="4649062"/>
          </a:xfrm>
          <a:prstGeom prst="rect">
            <a:avLst/>
          </a:prstGeom>
          <a:solidFill>
            <a:srgbClr val="FED99A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290EB-6811-15AE-32A1-B37CE80F3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00" y="685591"/>
            <a:ext cx="19441062" cy="738817"/>
          </a:xfrm>
        </p:spPr>
        <p:txBody>
          <a:bodyPr/>
          <a:lstStyle/>
          <a:p>
            <a:r>
              <a:rPr lang="en-US" dirty="0"/>
              <a:t>Genome Assembly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9428A-B220-9C36-EAFF-253CA773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670D-9F3D-EE02-3D3C-5412FB002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DC989D-FCA1-2B2B-F557-A274F47CF83D}"/>
              </a:ext>
            </a:extLst>
          </p:cNvPr>
          <p:cNvSpPr txBox="1"/>
          <p:nvPr/>
        </p:nvSpPr>
        <p:spPr>
          <a:xfrm>
            <a:off x="3742266" y="10643830"/>
            <a:ext cx="4929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microbenotes.com</a:t>
            </a:r>
            <a:r>
              <a:rPr lang="en-US" dirty="0"/>
              <a:t>/</a:t>
            </a:r>
            <a:r>
              <a:rPr lang="en-US" dirty="0" err="1"/>
              <a:t>illumina</a:t>
            </a:r>
            <a:r>
              <a:rPr lang="en-US" dirty="0"/>
              <a:t>-sequencing/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8D6F0-0D1C-70FE-B66F-49FABBE7AE04}"/>
              </a:ext>
            </a:extLst>
          </p:cNvPr>
          <p:cNvSpPr txBox="1"/>
          <p:nvPr/>
        </p:nvSpPr>
        <p:spPr>
          <a:xfrm>
            <a:off x="1665035" y="2593969"/>
            <a:ext cx="18202174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Genome Assembly is the combined laboratory and computational methods used to determine the genome sequence of an organism</a:t>
            </a:r>
          </a:p>
          <a:p>
            <a:endParaRPr lang="en-US" sz="3600" dirty="0"/>
          </a:p>
          <a:p>
            <a:r>
              <a:rPr lang="en-US" sz="3600" dirty="0"/>
              <a:t>Genome Assembly is highly dependent upon DNA sequencing technologies</a:t>
            </a:r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3B9393-1E80-9161-F020-49E5163989A6}"/>
              </a:ext>
            </a:extLst>
          </p:cNvPr>
          <p:cNvSpPr txBox="1"/>
          <p:nvPr/>
        </p:nvSpPr>
        <p:spPr>
          <a:xfrm>
            <a:off x="7546668" y="5300134"/>
            <a:ext cx="52250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Key concepts:</a:t>
            </a:r>
          </a:p>
          <a:p>
            <a:pPr marL="800100" lvl="1" indent="-342900">
              <a:buFont typeface="Arial"/>
              <a:buChar char="•"/>
            </a:pPr>
            <a:r>
              <a:rPr lang="en-US" sz="3600" dirty="0"/>
              <a:t>Read &amp; K-mer</a:t>
            </a:r>
          </a:p>
          <a:p>
            <a:pPr marL="800100" lvl="1" indent="-342900">
              <a:buFont typeface="Arial"/>
              <a:buChar char="•"/>
            </a:pPr>
            <a:r>
              <a:rPr lang="en-US" sz="3600" dirty="0"/>
              <a:t>Phred score</a:t>
            </a:r>
          </a:p>
          <a:p>
            <a:pPr marL="800100" lvl="1" indent="-342900">
              <a:buFont typeface="Arial"/>
              <a:buChar char="•"/>
            </a:pPr>
            <a:r>
              <a:rPr lang="en-US" sz="3600" dirty="0"/>
              <a:t>Mate-Pairs</a:t>
            </a:r>
          </a:p>
          <a:p>
            <a:pPr marL="800100" lvl="1" indent="-342900">
              <a:buFont typeface="Arial"/>
              <a:buChar char="•"/>
            </a:pPr>
            <a:r>
              <a:rPr lang="en-US" sz="3600" dirty="0"/>
              <a:t>Coverage</a:t>
            </a:r>
          </a:p>
          <a:p>
            <a:pPr marL="800100" lvl="1" indent="-342900">
              <a:buFont typeface="Arial"/>
              <a:buChar char="•"/>
            </a:pPr>
            <a:r>
              <a:rPr lang="en-US" sz="3600" dirty="0"/>
              <a:t>Contig</a:t>
            </a:r>
          </a:p>
          <a:p>
            <a:pPr marL="800100" lvl="1" indent="-342900">
              <a:buFont typeface="Arial"/>
              <a:buChar char="•"/>
            </a:pPr>
            <a:r>
              <a:rPr lang="en-US" sz="3600" dirty="0"/>
              <a:t>Scaffold</a:t>
            </a:r>
          </a:p>
          <a:p>
            <a:pPr marL="800100" lvl="1" indent="-342900">
              <a:buFont typeface="Arial"/>
              <a:buChar char="•"/>
            </a:pPr>
            <a:r>
              <a:rPr lang="en-US" sz="3600" dirty="0"/>
              <a:t>Closure &amp; Gaps</a:t>
            </a:r>
          </a:p>
        </p:txBody>
      </p:sp>
    </p:spTree>
    <p:extLst>
      <p:ext uri="{BB962C8B-B14F-4D97-AF65-F5344CB8AC3E}">
        <p14:creationId xmlns:p14="http://schemas.microsoft.com/office/powerpoint/2010/main" val="1683260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3E848-FF7A-C82F-0C2F-29CE91E94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D8288-0FF1-1F7F-69EA-D09235D44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00" y="685591"/>
            <a:ext cx="19441062" cy="738817"/>
          </a:xfrm>
        </p:spPr>
        <p:txBody>
          <a:bodyPr/>
          <a:lstStyle/>
          <a:p>
            <a:r>
              <a:rPr lang="en-US" dirty="0"/>
              <a:t>DNA sequencing: Illumina (short read sequencing)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0A641-F412-FB6B-9B28-D989ACBE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FB403-01BF-2302-4CE2-84B473E4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8D889A-8C69-E504-D523-BF993A72F4A2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1C5EEC-AD53-394A-C7BA-8B9C0EEF0CCB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llumina Sequencing Steps">
            <a:extLst>
              <a:ext uri="{FF2B5EF4-FFF2-40B4-BE49-F238E27FC236}">
                <a16:creationId xmlns:a16="http://schemas.microsoft.com/office/drawing/2014/main" id="{9AF71EBD-A789-64A8-2BEE-C9232017FF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22" r="53766" b="44454"/>
          <a:stretch>
            <a:fillRect/>
          </a:stretch>
        </p:blipFill>
        <p:spPr bwMode="auto">
          <a:xfrm>
            <a:off x="1346427" y="3592807"/>
            <a:ext cx="4241574" cy="4723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llumina Sequencing Steps">
            <a:extLst>
              <a:ext uri="{FF2B5EF4-FFF2-40B4-BE49-F238E27FC236}">
                <a16:creationId xmlns:a16="http://schemas.microsoft.com/office/drawing/2014/main" id="{75CA597D-49EF-14F6-AAF1-FC2ABB253B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00" r="56033"/>
          <a:stretch>
            <a:fillRect/>
          </a:stretch>
        </p:blipFill>
        <p:spPr bwMode="auto">
          <a:xfrm>
            <a:off x="10275058" y="3538531"/>
            <a:ext cx="403361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llumina Sequencing Steps">
            <a:extLst>
              <a:ext uri="{FF2B5EF4-FFF2-40B4-BE49-F238E27FC236}">
                <a16:creationId xmlns:a16="http://schemas.microsoft.com/office/drawing/2014/main" id="{39E5A714-CFF0-F6D8-D2F9-575C7653C1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03" t="14222" b="44454"/>
          <a:stretch>
            <a:fillRect/>
          </a:stretch>
        </p:blipFill>
        <p:spPr bwMode="auto">
          <a:xfrm>
            <a:off x="5554133" y="3592807"/>
            <a:ext cx="5118856" cy="4723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Illumina Sequencing Steps">
            <a:extLst>
              <a:ext uri="{FF2B5EF4-FFF2-40B4-BE49-F238E27FC236}">
                <a16:creationId xmlns:a16="http://schemas.microsoft.com/office/drawing/2014/main" id="{1A5607D3-4BFE-EF21-013E-9C5DA47C22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03" t="56000"/>
          <a:stretch>
            <a:fillRect/>
          </a:stretch>
        </p:blipFill>
        <p:spPr bwMode="auto">
          <a:xfrm>
            <a:off x="14482764" y="3538531"/>
            <a:ext cx="5118856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506FD6-8F7A-1470-5608-F32CA814C295}"/>
              </a:ext>
            </a:extLst>
          </p:cNvPr>
          <p:cNvSpPr txBox="1"/>
          <p:nvPr/>
        </p:nvSpPr>
        <p:spPr>
          <a:xfrm>
            <a:off x="3742266" y="10643830"/>
            <a:ext cx="4929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microbenotes.com</a:t>
            </a:r>
            <a:r>
              <a:rPr lang="en-US" dirty="0"/>
              <a:t>/</a:t>
            </a:r>
            <a:r>
              <a:rPr lang="en-US" dirty="0" err="1"/>
              <a:t>illumina</a:t>
            </a:r>
            <a:r>
              <a:rPr lang="en-US" dirty="0"/>
              <a:t>-sequencing/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2CFD39-8946-3892-5990-76220439B4AC}"/>
              </a:ext>
            </a:extLst>
          </p:cNvPr>
          <p:cNvSpPr txBox="1"/>
          <p:nvPr/>
        </p:nvSpPr>
        <p:spPr>
          <a:xfrm>
            <a:off x="14028193" y="8075235"/>
            <a:ext cx="6009745" cy="33547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DNA sequencing has an error rate, so a single pass is insufficient</a:t>
            </a:r>
          </a:p>
          <a:p>
            <a:endParaRPr lang="en-US" sz="2800" dirty="0"/>
          </a:p>
          <a:p>
            <a:r>
              <a:rPr lang="en-US" sz="2800" dirty="0"/>
              <a:t>Reads are ~250 bp before chemistry breaks down</a:t>
            </a:r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705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2EE67-784F-93A6-7E81-D7712E7E3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7838-B7F6-D6D5-4C09-A1F7487DF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00" y="685591"/>
            <a:ext cx="19441062" cy="738817"/>
          </a:xfrm>
        </p:spPr>
        <p:txBody>
          <a:bodyPr/>
          <a:lstStyle/>
          <a:p>
            <a:r>
              <a:rPr lang="en-US" dirty="0"/>
              <a:t>Genome assembly by overlap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4F6D0-3527-F8FD-EB3F-79F072926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43F32-C317-E8E2-2DF7-34C42BB36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B648CB-072F-7EAD-FEEC-98CAAEF3936F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506224-0ECE-5AA6-659A-0E46EA9EFA38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kevin2.png">
            <a:extLst>
              <a:ext uri="{FF2B5EF4-FFF2-40B4-BE49-F238E27FC236}">
                <a16:creationId xmlns:a16="http://schemas.microsoft.com/office/drawing/2014/main" id="{2EFF57FD-3C42-02C5-A75B-E4326E9A8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119" y="2332719"/>
            <a:ext cx="12156173" cy="74027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4EA6EC-834C-2A8A-00B9-EF41FFC7BD01}"/>
              </a:ext>
            </a:extLst>
          </p:cNvPr>
          <p:cNvSpPr txBox="1"/>
          <p:nvPr/>
        </p:nvSpPr>
        <p:spPr>
          <a:xfrm>
            <a:off x="3773818" y="10642273"/>
            <a:ext cx="49685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http://</a:t>
            </a:r>
            <a:r>
              <a:rPr lang="en-US" sz="1400" dirty="0" err="1"/>
              <a:t>knowgenetics.org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2431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6C030-5B55-9CEB-C547-7E3A1DD56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C546-6637-56B4-7C6E-D12C50433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00" y="685591"/>
            <a:ext cx="19441062" cy="738817"/>
          </a:xfrm>
        </p:spPr>
        <p:txBody>
          <a:bodyPr/>
          <a:lstStyle/>
          <a:p>
            <a:r>
              <a:rPr lang="en-US" dirty="0"/>
              <a:t>PHRED Score: Quality control of sequencing reads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F7084-9983-0956-A3AF-5344D7BF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D56B3-E3A9-14EF-3FD8-DDD1F1C7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65FC87-4138-3045-CEB9-4AED95447D6F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34854F-078D-E5E4-B1F7-2983E2CE8A71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85E6B-4B89-D263-DA31-53D013B6CD2F}"/>
              </a:ext>
            </a:extLst>
          </p:cNvPr>
          <p:cNvSpPr txBox="1"/>
          <p:nvPr/>
        </p:nvSpPr>
        <p:spPr>
          <a:xfrm>
            <a:off x="1373394" y="2357500"/>
            <a:ext cx="17901006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Before you start your assembly, you need to ensure you have high quality data and account for sequencing errors. Sequencing software uses the PHRED score to measure error</a:t>
            </a:r>
          </a:p>
        </p:txBody>
      </p:sp>
      <p:pic>
        <p:nvPicPr>
          <p:cNvPr id="7" name="Picture 6" descr="intro-to-ngs-torsten-seemann-peter-mac-27-jul-2012-21-638.jpg">
            <a:extLst>
              <a:ext uri="{FF2B5EF4-FFF2-40B4-BE49-F238E27FC236}">
                <a16:creationId xmlns:a16="http://schemas.microsoft.com/office/drawing/2014/main" id="{898FCBF2-F090-C1B6-8C59-2CA80E8EF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725" y="3583575"/>
            <a:ext cx="8510794" cy="63897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1098CDE-4EA0-4A56-1FBE-443197F3D439}"/>
              </a:ext>
            </a:extLst>
          </p:cNvPr>
          <p:cNvSpPr/>
          <p:nvPr/>
        </p:nvSpPr>
        <p:spPr>
          <a:xfrm>
            <a:off x="15390183" y="5468839"/>
            <a:ext cx="3884217" cy="1557964"/>
          </a:xfrm>
          <a:prstGeom prst="rect">
            <a:avLst/>
          </a:prstGeom>
          <a:solidFill>
            <a:srgbClr val="FED99A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B43533-A209-B8EA-2A89-26D1516B73A1}"/>
              </a:ext>
            </a:extLst>
          </p:cNvPr>
          <p:cNvSpPr txBox="1"/>
          <p:nvPr/>
        </p:nvSpPr>
        <p:spPr>
          <a:xfrm>
            <a:off x="15636154" y="5641807"/>
            <a:ext cx="38165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How confidence was the sequencer in the base called?</a:t>
            </a:r>
          </a:p>
        </p:txBody>
      </p:sp>
    </p:spTree>
    <p:extLst>
      <p:ext uri="{BB962C8B-B14F-4D97-AF65-F5344CB8AC3E}">
        <p14:creationId xmlns:p14="http://schemas.microsoft.com/office/powerpoint/2010/main" val="2425059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BAE7A-A3B0-50F8-893B-99B1F09CB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64509E-2509-71A4-41B6-CE521217F89C}"/>
              </a:ext>
            </a:extLst>
          </p:cNvPr>
          <p:cNvSpPr/>
          <p:nvPr/>
        </p:nvSpPr>
        <p:spPr>
          <a:xfrm>
            <a:off x="15347652" y="5658570"/>
            <a:ext cx="4301315" cy="1718771"/>
          </a:xfrm>
          <a:prstGeom prst="rect">
            <a:avLst/>
          </a:prstGeom>
          <a:solidFill>
            <a:srgbClr val="FED99A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2ADE7-E26F-E5FD-AD56-40A05773C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00" y="685591"/>
            <a:ext cx="19441062" cy="738817"/>
          </a:xfrm>
        </p:spPr>
        <p:txBody>
          <a:bodyPr/>
          <a:lstStyle/>
          <a:p>
            <a:r>
              <a:rPr lang="en-US" dirty="0"/>
              <a:t>PHRED Score: Quality control of sequencing reads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20D76-C9ED-5445-B183-58B038EFD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3187E-BE3D-D20B-5E86-1C6E08E5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6B9B7A-DBB8-2FA8-674B-43F3E67F35D1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749A3C-9AD6-60DC-925F-D23FB73F8F6E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47C8EA-0EB5-E8F7-A347-8994A9AA9239}"/>
              </a:ext>
            </a:extLst>
          </p:cNvPr>
          <p:cNvSpPr txBox="1"/>
          <p:nvPr/>
        </p:nvSpPr>
        <p:spPr>
          <a:xfrm>
            <a:off x="1373394" y="2357500"/>
            <a:ext cx="17901006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Before you start your assembly, you need to ensure you have high quality data and account for sequencing errors. Sequencing software uses the PHRED score to measure error</a:t>
            </a:r>
          </a:p>
          <a:p>
            <a:endParaRPr lang="en-US" sz="3200" dirty="0"/>
          </a:p>
          <a:p>
            <a:r>
              <a:rPr lang="en-US" sz="3200" dirty="0"/>
              <a:t>Because we sequenced multiple reads at a given site, we can use this information to correct sequencing errors.</a:t>
            </a:r>
          </a:p>
        </p:txBody>
      </p:sp>
      <p:pic>
        <p:nvPicPr>
          <p:cNvPr id="4" name="Picture 9" descr=" Fig1.tiff                                                      0002D5F8Tuscany                        B9267DE4:">
            <a:extLst>
              <a:ext uri="{FF2B5EF4-FFF2-40B4-BE49-F238E27FC236}">
                <a16:creationId xmlns:a16="http://schemas.microsoft.com/office/drawing/2014/main" id="{FBAF56CA-F7B5-F2B0-4715-D4CCBD94B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306" y="4912045"/>
            <a:ext cx="9585800" cy="528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E50D92-B7A4-A256-3628-521E4B95BDA2}"/>
              </a:ext>
            </a:extLst>
          </p:cNvPr>
          <p:cNvSpPr txBox="1"/>
          <p:nvPr/>
        </p:nvSpPr>
        <p:spPr>
          <a:xfrm>
            <a:off x="15593623" y="5831539"/>
            <a:ext cx="38165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 depth of sampling of a genome is called ”fold coverage”</a:t>
            </a:r>
          </a:p>
        </p:txBody>
      </p:sp>
    </p:spTree>
    <p:extLst>
      <p:ext uri="{BB962C8B-B14F-4D97-AF65-F5344CB8AC3E}">
        <p14:creationId xmlns:p14="http://schemas.microsoft.com/office/powerpoint/2010/main" val="3204584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9930A-AA82-C2A5-1800-10DC7BB9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88928-6FE8-1FAC-A02A-EFD154C6D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00" y="685591"/>
            <a:ext cx="19441062" cy="738817"/>
          </a:xfrm>
        </p:spPr>
        <p:txBody>
          <a:bodyPr/>
          <a:lstStyle/>
          <a:p>
            <a:r>
              <a:rPr lang="en-US" dirty="0"/>
              <a:t>Genome assembly by overlap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B2D51-40DE-D2DB-FEFE-04C2CFBCB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45DD3-CA4C-1F0F-DD65-442CF00D1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6BC209-38FA-9A06-AB0B-651FFFBA4CDD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812BB6-D0EF-4C54-9B63-75AC6577D33D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kevin2.png">
            <a:extLst>
              <a:ext uri="{FF2B5EF4-FFF2-40B4-BE49-F238E27FC236}">
                <a16:creationId xmlns:a16="http://schemas.microsoft.com/office/drawing/2014/main" id="{77FCB4E0-3215-4A6E-70A1-F62EB4980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119" y="2332719"/>
            <a:ext cx="12156173" cy="74027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8F96A8-7EF6-57B8-FFC4-AA7C0DB226D2}"/>
              </a:ext>
            </a:extLst>
          </p:cNvPr>
          <p:cNvSpPr txBox="1"/>
          <p:nvPr/>
        </p:nvSpPr>
        <p:spPr>
          <a:xfrm>
            <a:off x="3773818" y="10642273"/>
            <a:ext cx="49685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http://</a:t>
            </a:r>
            <a:r>
              <a:rPr lang="en-US" sz="1400" dirty="0" err="1"/>
              <a:t>knowgenetics.org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58519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F66EC-0F79-64E4-FACE-A176BEA2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DD2C0-8A31-9987-F0DA-0ECF3FD2C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00" y="685591"/>
            <a:ext cx="19441062" cy="738817"/>
          </a:xfrm>
        </p:spPr>
        <p:txBody>
          <a:bodyPr/>
          <a:lstStyle/>
          <a:p>
            <a:r>
              <a:rPr lang="en-US" dirty="0"/>
              <a:t>Problem with greedy assembly: Repeats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25BFB-AD85-E19C-A540-166127B2F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7416B-C2CD-F8D5-C935-DBF3D80B1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EBDF32-FCDC-A49F-788C-988AA2B1B212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2E1DCE-3471-D687-3787-AB192F4F850D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CD7D56-1672-7D62-D254-D6DDFE25011E}"/>
              </a:ext>
            </a:extLst>
          </p:cNvPr>
          <p:cNvSpPr txBox="1"/>
          <p:nvPr/>
        </p:nvSpPr>
        <p:spPr>
          <a:xfrm>
            <a:off x="1042981" y="3300418"/>
            <a:ext cx="10365624" cy="122802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Greedy algorithms merge reads into consensus ‘contig’ sequences</a:t>
            </a:r>
          </a:p>
          <a:p>
            <a:endParaRPr lang="en-US" sz="3600" dirty="0"/>
          </a:p>
          <a:p>
            <a:r>
              <a:rPr lang="en-US" sz="3600" dirty="0"/>
              <a:t>What if reads are similar but from different parts of the genome?</a:t>
            </a:r>
          </a:p>
          <a:p>
            <a:endParaRPr lang="en-US" sz="3600" dirty="0"/>
          </a:p>
          <a:p>
            <a:r>
              <a:rPr lang="en-US" sz="3600" dirty="0"/>
              <a:t>Greedy algorithms are insufficient to handle this problem</a:t>
            </a:r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</p:txBody>
      </p:sp>
      <p:pic>
        <p:nvPicPr>
          <p:cNvPr id="7" name="Picture 9" descr=" Fig4.tiff                                                      0002D5F8Tuscany                        B9267DE4:">
            <a:extLst>
              <a:ext uri="{FF2B5EF4-FFF2-40B4-BE49-F238E27FC236}">
                <a16:creationId xmlns:a16="http://schemas.microsoft.com/office/drawing/2014/main" id="{E13E40B2-6CA2-0AC6-8ABD-C93F53EA6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1486" y="1989439"/>
            <a:ext cx="7872963" cy="8099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534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F2638-4E20-3B3A-45B9-ACAD9250F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7467-5915-57F9-90AC-F1F5B6525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00" y="685591"/>
            <a:ext cx="19441062" cy="738817"/>
          </a:xfrm>
        </p:spPr>
        <p:txBody>
          <a:bodyPr/>
          <a:lstStyle/>
          <a:p>
            <a:r>
              <a:rPr lang="en-US" dirty="0"/>
              <a:t>Bi-directional sequence (aka Mate Pairs)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5ED08-58CC-8F8F-563B-EE6F82660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7750F-1CC5-C717-A0E7-D4D72D5F2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4E56E0-0E08-698F-9E26-2A6019E89F55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41E23E-4CC5-E171-5C7B-7275880DEF5E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Illumina Sequencing Steps">
            <a:extLst>
              <a:ext uri="{FF2B5EF4-FFF2-40B4-BE49-F238E27FC236}">
                <a16:creationId xmlns:a16="http://schemas.microsoft.com/office/drawing/2014/main" id="{757B2363-47C8-52DA-3527-D061FA4C4D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22" r="53766" b="44454"/>
          <a:stretch>
            <a:fillRect/>
          </a:stretch>
        </p:blipFill>
        <p:spPr bwMode="auto">
          <a:xfrm>
            <a:off x="1105787" y="2798187"/>
            <a:ext cx="5821917" cy="64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llumina Sequencing Steps">
            <a:extLst>
              <a:ext uri="{FF2B5EF4-FFF2-40B4-BE49-F238E27FC236}">
                <a16:creationId xmlns:a16="http://schemas.microsoft.com/office/drawing/2014/main" id="{38BD14B6-4B58-8223-17DB-9794B94AB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82" t="47891" r="69560" b="49779"/>
          <a:stretch>
            <a:fillRect/>
          </a:stretch>
        </p:blipFill>
        <p:spPr bwMode="auto">
          <a:xfrm>
            <a:off x="9620532" y="4471852"/>
            <a:ext cx="8078064" cy="156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38D3AEE6-A354-5CBA-0AE2-723F9EC824C6}"/>
              </a:ext>
            </a:extLst>
          </p:cNvPr>
          <p:cNvSpPr/>
          <p:nvPr/>
        </p:nvSpPr>
        <p:spPr>
          <a:xfrm>
            <a:off x="7400260" y="3019647"/>
            <a:ext cx="850605" cy="6261706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4EA015-4704-400E-2845-6B2C8E15F8DA}"/>
              </a:ext>
            </a:extLst>
          </p:cNvPr>
          <p:cNvSpPr txBox="1"/>
          <p:nvPr/>
        </p:nvSpPr>
        <p:spPr>
          <a:xfrm>
            <a:off x="12067549" y="6600257"/>
            <a:ext cx="3816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1500 bp fragment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E8B120-D5AA-9E64-0352-5C0FDF898CCA}"/>
              </a:ext>
            </a:extLst>
          </p:cNvPr>
          <p:cNvCxnSpPr/>
          <p:nvPr/>
        </p:nvCxnSpPr>
        <p:spPr>
          <a:xfrm>
            <a:off x="10526233" y="4657060"/>
            <a:ext cx="202018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EA64F9-5A70-CC84-3F17-C589344F0CFD}"/>
              </a:ext>
            </a:extLst>
          </p:cNvPr>
          <p:cNvCxnSpPr>
            <a:cxnSpLocks/>
          </p:cNvCxnSpPr>
          <p:nvPr/>
        </p:nvCxnSpPr>
        <p:spPr>
          <a:xfrm flipH="1">
            <a:off x="14625110" y="6039770"/>
            <a:ext cx="202018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7BCD786-B611-D7AA-D78E-C1E2A2211778}"/>
              </a:ext>
            </a:extLst>
          </p:cNvPr>
          <p:cNvSpPr txBox="1"/>
          <p:nvPr/>
        </p:nvSpPr>
        <p:spPr>
          <a:xfrm>
            <a:off x="10419908" y="3929999"/>
            <a:ext cx="3816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250 bp read (R1)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95140E-FC51-2B62-BBAD-EDF92E9D7E6A}"/>
              </a:ext>
            </a:extLst>
          </p:cNvPr>
          <p:cNvSpPr txBox="1"/>
          <p:nvPr/>
        </p:nvSpPr>
        <p:spPr>
          <a:xfrm>
            <a:off x="14737013" y="6162209"/>
            <a:ext cx="3816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250 bp read (R2)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2C7D68-FCAF-3129-2037-5AFBD0E7B1DA}"/>
              </a:ext>
            </a:extLst>
          </p:cNvPr>
          <p:cNvSpPr txBox="1"/>
          <p:nvPr/>
        </p:nvSpPr>
        <p:spPr>
          <a:xfrm>
            <a:off x="9442298" y="7500663"/>
            <a:ext cx="10365624" cy="1006429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R1 and R2 are mate pairs where we know the orientation to each other and the distance between them</a:t>
            </a:r>
          </a:p>
          <a:p>
            <a:endParaRPr lang="en-US" sz="3600" dirty="0"/>
          </a:p>
          <a:p>
            <a:r>
              <a:rPr lang="en-US" sz="3600" dirty="0"/>
              <a:t>Geometry constrains the assembly algorithm</a:t>
            </a:r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  <a:p>
            <a:endParaRPr lang="en-US" sz="3600" dirty="0"/>
          </a:p>
          <a:p>
            <a:pPr marL="342900" indent="-342900">
              <a:buFont typeface="Arial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71001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2273B-6C90-EC47-BB9A-AD1E5ED0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48D9D-B3BB-5D4A-0587-176831A91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00" y="685591"/>
            <a:ext cx="19441062" cy="738817"/>
          </a:xfrm>
        </p:spPr>
        <p:txBody>
          <a:bodyPr/>
          <a:lstStyle/>
          <a:p>
            <a:r>
              <a:rPr lang="en-US" dirty="0"/>
              <a:t>Reads to Contigs to Scaffolds to Genomes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08E27-FC7A-2CD3-ACE1-13D016E0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B3FEA-6195-A6B5-9E92-E782989C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060A04-A53B-D4EF-CC22-FE2724D53FA2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2A514F-7A22-A49C-941C-3D69208B737B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4" name="Picture 4" descr="Fig 1">
            <a:extLst>
              <a:ext uri="{FF2B5EF4-FFF2-40B4-BE49-F238E27FC236}">
                <a16:creationId xmlns:a16="http://schemas.microsoft.com/office/drawing/2014/main" id="{7AF7C735-4618-65F3-31B7-A2F724251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393" y="2169200"/>
            <a:ext cx="12068084" cy="7602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12C33A-6320-38F9-3A22-C9687938F856}"/>
              </a:ext>
            </a:extLst>
          </p:cNvPr>
          <p:cNvSpPr txBox="1"/>
          <p:nvPr/>
        </p:nvSpPr>
        <p:spPr>
          <a:xfrm>
            <a:off x="3773818" y="10642273"/>
            <a:ext cx="49685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Ghurye</a:t>
            </a:r>
            <a:r>
              <a:rPr lang="en-US" sz="1400" dirty="0"/>
              <a:t> et al. PLOS Comp Bio 2019</a:t>
            </a:r>
          </a:p>
        </p:txBody>
      </p:sp>
    </p:spTree>
    <p:extLst>
      <p:ext uri="{BB962C8B-B14F-4D97-AF65-F5344CB8AC3E}">
        <p14:creationId xmlns:p14="http://schemas.microsoft.com/office/powerpoint/2010/main" val="375983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9B9FE-4FD5-D5B7-5038-A64F0A07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1545-948A-9221-FF39-AA475CF6A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286403"/>
            <a:ext cx="8726065" cy="738817"/>
          </a:xfrm>
        </p:spPr>
        <p:txBody>
          <a:bodyPr/>
          <a:lstStyle/>
          <a:p>
            <a:r>
              <a:rPr lang="en-US" dirty="0"/>
              <a:t>The A5 microbial genome assembly pipeline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D250B-1FEC-122A-8550-CA24EAB03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2FE8E-0204-2C8E-52F5-BE62E9207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4C7F19-FD73-94CB-38EB-778316B6BF5E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6431FB-208E-CBF7-6D74-FC2A63E83279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5.tiff">
            <a:extLst>
              <a:ext uri="{FF2B5EF4-FFF2-40B4-BE49-F238E27FC236}">
                <a16:creationId xmlns:a16="http://schemas.microsoft.com/office/drawing/2014/main" id="{D9CF2C16-2F27-490E-A01E-245E61C98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494" y="102941"/>
            <a:ext cx="11535920" cy="113487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3C4FD3-881A-93C5-093C-EEBD2E073EA7}"/>
              </a:ext>
            </a:extLst>
          </p:cNvPr>
          <p:cNvSpPr txBox="1"/>
          <p:nvPr/>
        </p:nvSpPr>
        <p:spPr>
          <a:xfrm>
            <a:off x="3813942" y="10620000"/>
            <a:ext cx="49685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Tritt</a:t>
            </a:r>
            <a:r>
              <a:rPr lang="en-US" sz="1400" dirty="0"/>
              <a:t> </a:t>
            </a:r>
            <a:r>
              <a:rPr lang="en-US" sz="1400" i="1" dirty="0"/>
              <a:t>et al</a:t>
            </a:r>
            <a:r>
              <a:rPr lang="en-US" sz="1400" dirty="0"/>
              <a:t>. 2012. </a:t>
            </a:r>
            <a:r>
              <a:rPr lang="en-US" sz="1400" i="1" dirty="0" err="1"/>
              <a:t>PLoS</a:t>
            </a:r>
            <a:r>
              <a:rPr lang="en-US" sz="1400" i="1" dirty="0"/>
              <a:t> One</a:t>
            </a:r>
            <a:r>
              <a:rPr lang="en-US" sz="1400" dirty="0"/>
              <a:t>. 7:e42304.</a:t>
            </a:r>
          </a:p>
        </p:txBody>
      </p:sp>
    </p:spTree>
    <p:extLst>
      <p:ext uri="{BB962C8B-B14F-4D97-AF65-F5344CB8AC3E}">
        <p14:creationId xmlns:p14="http://schemas.microsoft.com/office/powerpoint/2010/main" val="3661964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F0F17-0E5C-2F2A-CEAB-7D66B8A70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EC3EE-1BA7-469A-E4AA-87D8AD329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286403"/>
            <a:ext cx="8726065" cy="738817"/>
          </a:xfrm>
        </p:spPr>
        <p:txBody>
          <a:bodyPr/>
          <a:lstStyle/>
          <a:p>
            <a:r>
              <a:rPr lang="en-US" dirty="0"/>
              <a:t>The A5 microbial genome assembly pipeline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2FA9D-0AC1-30DE-D880-F3E9F16F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8E528-EFB7-9C02-D1AC-54506C18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FDBB8A-A134-8C1B-DD0C-8A75446A159C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157088-E681-F5DF-720A-68943A3C1E90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5.tiff">
            <a:extLst>
              <a:ext uri="{FF2B5EF4-FFF2-40B4-BE49-F238E27FC236}">
                <a16:creationId xmlns:a16="http://schemas.microsoft.com/office/drawing/2014/main" id="{0029FEA7-600E-0BEC-BAE9-722E3D945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494" y="102941"/>
            <a:ext cx="11535920" cy="113487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04F723-C830-546B-3092-95BA79B9C20C}"/>
              </a:ext>
            </a:extLst>
          </p:cNvPr>
          <p:cNvSpPr txBox="1"/>
          <p:nvPr/>
        </p:nvSpPr>
        <p:spPr>
          <a:xfrm>
            <a:off x="3813942" y="10620000"/>
            <a:ext cx="49685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Tritt</a:t>
            </a:r>
            <a:r>
              <a:rPr lang="en-US" sz="1400" dirty="0"/>
              <a:t> </a:t>
            </a:r>
            <a:r>
              <a:rPr lang="en-US" sz="1400" i="1" dirty="0"/>
              <a:t>et al</a:t>
            </a:r>
            <a:r>
              <a:rPr lang="en-US" sz="1400" dirty="0"/>
              <a:t>. 2012. </a:t>
            </a:r>
            <a:r>
              <a:rPr lang="en-US" sz="1400" i="1" dirty="0" err="1"/>
              <a:t>PLoS</a:t>
            </a:r>
            <a:r>
              <a:rPr lang="en-US" sz="1400" i="1" dirty="0"/>
              <a:t> One</a:t>
            </a:r>
            <a:r>
              <a:rPr lang="en-US" sz="1400" dirty="0"/>
              <a:t>. 7:e42304.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1F9698-7E47-C2F6-0939-5CD55C6F502A}"/>
              </a:ext>
            </a:extLst>
          </p:cNvPr>
          <p:cNvSpPr/>
          <p:nvPr/>
        </p:nvSpPr>
        <p:spPr bwMode="auto">
          <a:xfrm>
            <a:off x="9284643" y="100002"/>
            <a:ext cx="10732030" cy="3533393"/>
          </a:xfrm>
          <a:prstGeom prst="rect">
            <a:avLst/>
          </a:prstGeom>
          <a:solidFill>
            <a:schemeClr val="tx2">
              <a:lumMod val="50000"/>
              <a:alpha val="1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C5921A-24EE-5A04-B725-D9670BF5459E}"/>
              </a:ext>
            </a:extLst>
          </p:cNvPr>
          <p:cNvSpPr/>
          <p:nvPr/>
        </p:nvSpPr>
        <p:spPr bwMode="auto">
          <a:xfrm>
            <a:off x="9284643" y="3630455"/>
            <a:ext cx="2912980" cy="2304387"/>
          </a:xfrm>
          <a:prstGeom prst="rect">
            <a:avLst/>
          </a:prstGeom>
          <a:solidFill>
            <a:schemeClr val="tx2">
              <a:lumMod val="50000"/>
              <a:alpha val="1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DE14D1-6DC3-2BCA-1F0A-DB948450BC66}"/>
              </a:ext>
            </a:extLst>
          </p:cNvPr>
          <p:cNvSpPr txBox="1"/>
          <p:nvPr/>
        </p:nvSpPr>
        <p:spPr>
          <a:xfrm>
            <a:off x="1431839" y="2775975"/>
            <a:ext cx="6570667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PHRED trimming, error correction – only use high quality data in genomic pipelines!</a:t>
            </a:r>
          </a:p>
        </p:txBody>
      </p:sp>
    </p:spTree>
    <p:extLst>
      <p:ext uri="{BB962C8B-B14F-4D97-AF65-F5344CB8AC3E}">
        <p14:creationId xmlns:p14="http://schemas.microsoft.com/office/powerpoint/2010/main" val="2131110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D632D-C4D9-3AE2-033F-C78C10B1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1C1A9-9109-4F1C-F4C8-A8C6710CD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286403"/>
            <a:ext cx="8726065" cy="738817"/>
          </a:xfrm>
        </p:spPr>
        <p:txBody>
          <a:bodyPr/>
          <a:lstStyle/>
          <a:p>
            <a:r>
              <a:rPr lang="en-US" dirty="0"/>
              <a:t>The A5 microbial genome assembly pipeline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44D4E-9B28-C726-B405-E301BDF8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7E08B-7E69-0BCC-662D-48B3246B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9BFDD4-B9F4-E624-3398-664ACE7DA211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385D4B-4390-E435-B437-74135E319B4F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5.tiff">
            <a:extLst>
              <a:ext uri="{FF2B5EF4-FFF2-40B4-BE49-F238E27FC236}">
                <a16:creationId xmlns:a16="http://schemas.microsoft.com/office/drawing/2014/main" id="{C378AA68-D389-182B-4B95-054D1F8FD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494" y="102941"/>
            <a:ext cx="11535920" cy="113487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A28F37-8E45-F54F-9C44-5B4022A62F54}"/>
              </a:ext>
            </a:extLst>
          </p:cNvPr>
          <p:cNvSpPr txBox="1"/>
          <p:nvPr/>
        </p:nvSpPr>
        <p:spPr>
          <a:xfrm>
            <a:off x="3813942" y="10620000"/>
            <a:ext cx="49685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Tritt</a:t>
            </a:r>
            <a:r>
              <a:rPr lang="en-US" sz="1400" dirty="0"/>
              <a:t> </a:t>
            </a:r>
            <a:r>
              <a:rPr lang="en-US" sz="1400" i="1" dirty="0"/>
              <a:t>et al</a:t>
            </a:r>
            <a:r>
              <a:rPr lang="en-US" sz="1400" dirty="0"/>
              <a:t>. 2012. </a:t>
            </a:r>
            <a:r>
              <a:rPr lang="en-US" sz="1400" i="1" dirty="0" err="1"/>
              <a:t>PLoS</a:t>
            </a:r>
            <a:r>
              <a:rPr lang="en-US" sz="1400" i="1" dirty="0"/>
              <a:t> One</a:t>
            </a:r>
            <a:r>
              <a:rPr lang="en-US" sz="1400" dirty="0"/>
              <a:t>. 7:e42304.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A71D7B-B097-CF7E-2339-BDD211F2DD10}"/>
              </a:ext>
            </a:extLst>
          </p:cNvPr>
          <p:cNvSpPr/>
          <p:nvPr/>
        </p:nvSpPr>
        <p:spPr bwMode="auto">
          <a:xfrm>
            <a:off x="9284643" y="100002"/>
            <a:ext cx="10732030" cy="3533393"/>
          </a:xfrm>
          <a:prstGeom prst="rect">
            <a:avLst/>
          </a:prstGeom>
          <a:solidFill>
            <a:schemeClr val="tx2">
              <a:lumMod val="50000"/>
              <a:alpha val="1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747245-035A-AF5F-A2B1-DA189CE53156}"/>
              </a:ext>
            </a:extLst>
          </p:cNvPr>
          <p:cNvSpPr/>
          <p:nvPr/>
        </p:nvSpPr>
        <p:spPr bwMode="auto">
          <a:xfrm>
            <a:off x="9284643" y="3630455"/>
            <a:ext cx="2912980" cy="2304387"/>
          </a:xfrm>
          <a:prstGeom prst="rect">
            <a:avLst/>
          </a:prstGeom>
          <a:solidFill>
            <a:schemeClr val="tx2">
              <a:lumMod val="50000"/>
              <a:alpha val="1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CAA57B-A0E6-F10E-7E51-454B35178F77}"/>
              </a:ext>
            </a:extLst>
          </p:cNvPr>
          <p:cNvCxnSpPr/>
          <p:nvPr/>
        </p:nvCxnSpPr>
        <p:spPr>
          <a:xfrm>
            <a:off x="8782494" y="3630455"/>
            <a:ext cx="502149" cy="68636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F7F39D-43E0-605A-19CE-F2BC4998CC44}"/>
              </a:ext>
            </a:extLst>
          </p:cNvPr>
          <p:cNvCxnSpPr/>
          <p:nvPr/>
        </p:nvCxnSpPr>
        <p:spPr>
          <a:xfrm>
            <a:off x="10159206" y="5715000"/>
            <a:ext cx="502149" cy="68636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C26086-437F-299A-BB46-5774410C8F8C}"/>
              </a:ext>
            </a:extLst>
          </p:cNvPr>
          <p:cNvCxnSpPr/>
          <p:nvPr/>
        </p:nvCxnSpPr>
        <p:spPr>
          <a:xfrm>
            <a:off x="12212533" y="5376633"/>
            <a:ext cx="502149" cy="68636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41AF5F1-2861-747F-D234-FE64777E78C2}"/>
              </a:ext>
            </a:extLst>
          </p:cNvPr>
          <p:cNvCxnSpPr/>
          <p:nvPr/>
        </p:nvCxnSpPr>
        <p:spPr>
          <a:xfrm>
            <a:off x="12146393" y="3514370"/>
            <a:ext cx="502149" cy="68636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697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D0153-305E-E1D3-6089-22413589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527AE-6A39-7446-D2CB-51860552C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286403"/>
            <a:ext cx="8726065" cy="738817"/>
          </a:xfrm>
        </p:spPr>
        <p:txBody>
          <a:bodyPr/>
          <a:lstStyle/>
          <a:p>
            <a:r>
              <a:rPr lang="en-US" dirty="0"/>
              <a:t>The A5 microbial genome assembly pipeline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0E1FA-63F3-C595-77EF-279BE0F44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7E2D0-7305-D6A6-400B-B129E269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3279D8-2340-4749-DE85-C79A5FDB208C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2E30A2-E19B-728E-A8F6-47E84E43AE6C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5.tiff">
            <a:extLst>
              <a:ext uri="{FF2B5EF4-FFF2-40B4-BE49-F238E27FC236}">
                <a16:creationId xmlns:a16="http://schemas.microsoft.com/office/drawing/2014/main" id="{FE6341DD-98DB-CAF2-8A8C-8CB17E387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494" y="102941"/>
            <a:ext cx="11535920" cy="113487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5E6D66-1F88-A9AD-3A2C-9446E6FDDAE4}"/>
              </a:ext>
            </a:extLst>
          </p:cNvPr>
          <p:cNvSpPr txBox="1"/>
          <p:nvPr/>
        </p:nvSpPr>
        <p:spPr>
          <a:xfrm>
            <a:off x="3813942" y="10620000"/>
            <a:ext cx="49685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Tritt</a:t>
            </a:r>
            <a:r>
              <a:rPr lang="en-US" sz="1400" dirty="0"/>
              <a:t> </a:t>
            </a:r>
            <a:r>
              <a:rPr lang="en-US" sz="1400" i="1" dirty="0"/>
              <a:t>et al</a:t>
            </a:r>
            <a:r>
              <a:rPr lang="en-US" sz="1400" dirty="0"/>
              <a:t>. 2012. </a:t>
            </a:r>
            <a:r>
              <a:rPr lang="en-US" sz="1400" i="1" dirty="0" err="1"/>
              <a:t>PLoS</a:t>
            </a:r>
            <a:r>
              <a:rPr lang="en-US" sz="1400" i="1" dirty="0"/>
              <a:t> One</a:t>
            </a:r>
            <a:r>
              <a:rPr lang="en-US" sz="1400" dirty="0"/>
              <a:t>. 7:e42304.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92DE74-CD48-2BE3-A140-AE085E3DF810}"/>
              </a:ext>
            </a:extLst>
          </p:cNvPr>
          <p:cNvSpPr txBox="1"/>
          <p:nvPr/>
        </p:nvSpPr>
        <p:spPr>
          <a:xfrm>
            <a:off x="1548310" y="5334677"/>
            <a:ext cx="61209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k-</a:t>
            </a:r>
            <a:r>
              <a:rPr lang="en-US" sz="3600" dirty="0" err="1"/>
              <a:t>mers</a:t>
            </a:r>
            <a:r>
              <a:rPr lang="en-US" sz="3600" dirty="0"/>
              <a:t>, de </a:t>
            </a:r>
            <a:r>
              <a:rPr lang="en-US" sz="3600" dirty="0" err="1"/>
              <a:t>Bruijn</a:t>
            </a:r>
            <a:r>
              <a:rPr lang="en-US" sz="3600" dirty="0"/>
              <a:t> graphs, </a:t>
            </a:r>
            <a:r>
              <a:rPr lang="en-US" sz="3600" dirty="0" err="1"/>
              <a:t>Eulerian</a:t>
            </a:r>
            <a:r>
              <a:rPr lang="en-US" sz="3600" dirty="0"/>
              <a:t> paths, mate-pairs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4028FB-1120-A909-51E3-455A6B42AB87}"/>
              </a:ext>
            </a:extLst>
          </p:cNvPr>
          <p:cNvSpPr/>
          <p:nvPr/>
        </p:nvSpPr>
        <p:spPr bwMode="auto">
          <a:xfrm>
            <a:off x="12146392" y="3521834"/>
            <a:ext cx="7891545" cy="5261030"/>
          </a:xfrm>
          <a:prstGeom prst="rect">
            <a:avLst/>
          </a:prstGeom>
          <a:solidFill>
            <a:schemeClr val="accent5">
              <a:lumMod val="60000"/>
              <a:lumOff val="40000"/>
              <a:alpha val="1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621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65A8-4C3D-D64A-8D2F-02E590163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287E-49CA-25BF-89B4-F56A67AD2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286403"/>
            <a:ext cx="8726065" cy="738817"/>
          </a:xfrm>
        </p:spPr>
        <p:txBody>
          <a:bodyPr/>
          <a:lstStyle/>
          <a:p>
            <a:r>
              <a:rPr lang="en-US" dirty="0"/>
              <a:t>The A5 microbial genome assembly pipeline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29159-873B-36A3-CC10-D00438129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9DDBD-08C5-8007-5878-661BBA684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03F95-091E-A8CE-9337-1D409CE0A348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744585-8CAB-2FC2-0AE8-ED1EE2F4CEC7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5.tiff">
            <a:extLst>
              <a:ext uri="{FF2B5EF4-FFF2-40B4-BE49-F238E27FC236}">
                <a16:creationId xmlns:a16="http://schemas.microsoft.com/office/drawing/2014/main" id="{99CE02FB-170C-4731-AC98-98C229007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493" y="113137"/>
            <a:ext cx="11535920" cy="113487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DB85AB-A83F-6215-5E05-83722819DEE4}"/>
              </a:ext>
            </a:extLst>
          </p:cNvPr>
          <p:cNvSpPr txBox="1"/>
          <p:nvPr/>
        </p:nvSpPr>
        <p:spPr>
          <a:xfrm>
            <a:off x="3813942" y="10620000"/>
            <a:ext cx="49685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Tritt</a:t>
            </a:r>
            <a:r>
              <a:rPr lang="en-US" sz="1400" dirty="0"/>
              <a:t> </a:t>
            </a:r>
            <a:r>
              <a:rPr lang="en-US" sz="1400" i="1" dirty="0"/>
              <a:t>et al</a:t>
            </a:r>
            <a:r>
              <a:rPr lang="en-US" sz="1400" dirty="0"/>
              <a:t>. 2012. </a:t>
            </a:r>
            <a:r>
              <a:rPr lang="en-US" sz="1400" i="1" dirty="0" err="1"/>
              <a:t>PLoS</a:t>
            </a:r>
            <a:r>
              <a:rPr lang="en-US" sz="1400" i="1" dirty="0"/>
              <a:t> One</a:t>
            </a:r>
            <a:r>
              <a:rPr lang="en-US" sz="1400" dirty="0"/>
              <a:t>. 7:e42304.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80FBA1-E5E2-DFD3-9B03-4CEDA1127790}"/>
              </a:ext>
            </a:extLst>
          </p:cNvPr>
          <p:cNvSpPr txBox="1"/>
          <p:nvPr/>
        </p:nvSpPr>
        <p:spPr>
          <a:xfrm>
            <a:off x="1548310" y="5334677"/>
            <a:ext cx="61209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library size estimation; bad mate-pair geometry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F2BC3E-D255-C2DE-327D-686E5223F378}"/>
              </a:ext>
            </a:extLst>
          </p:cNvPr>
          <p:cNvSpPr/>
          <p:nvPr/>
        </p:nvSpPr>
        <p:spPr bwMode="auto">
          <a:xfrm>
            <a:off x="9072008" y="6972314"/>
            <a:ext cx="3346820" cy="3998899"/>
          </a:xfrm>
          <a:prstGeom prst="rect">
            <a:avLst/>
          </a:prstGeom>
          <a:solidFill>
            <a:srgbClr val="008000">
              <a:alpha val="1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9489B5-AE1A-0519-5064-E352CE95DE8E}"/>
              </a:ext>
            </a:extLst>
          </p:cNvPr>
          <p:cNvSpPr/>
          <p:nvPr/>
        </p:nvSpPr>
        <p:spPr bwMode="auto">
          <a:xfrm>
            <a:off x="12418828" y="8897557"/>
            <a:ext cx="7609192" cy="2078994"/>
          </a:xfrm>
          <a:prstGeom prst="rect">
            <a:avLst/>
          </a:prstGeom>
          <a:solidFill>
            <a:srgbClr val="008000">
              <a:alpha val="1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310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FAF71-3D1A-26B6-EBC8-D0C1F0BD4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CFF7-5B09-9A9A-AB7D-65FE468F0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586" y="502223"/>
            <a:ext cx="8726065" cy="738817"/>
          </a:xfrm>
        </p:spPr>
        <p:txBody>
          <a:bodyPr/>
          <a:lstStyle/>
          <a:p>
            <a:r>
              <a:rPr lang="en-US" dirty="0"/>
              <a:t>A5QC / SSPACE ‘Finishing’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5962F-BAD5-AAB1-1D0C-388475553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E2A3E-2D9F-F393-3B63-E21EA8C6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F4118A-206F-5A11-2390-BBB72D417033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C2570-3965-6F67-5FC3-2E93577E93BA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D6BF8-D029-9D5D-9EC8-01EE98CE948D}"/>
              </a:ext>
            </a:extLst>
          </p:cNvPr>
          <p:cNvSpPr txBox="1"/>
          <p:nvPr/>
        </p:nvSpPr>
        <p:spPr>
          <a:xfrm>
            <a:off x="3813942" y="10620000"/>
            <a:ext cx="49685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Tritt</a:t>
            </a:r>
            <a:r>
              <a:rPr lang="en-US" sz="1400" dirty="0"/>
              <a:t> </a:t>
            </a:r>
            <a:r>
              <a:rPr lang="en-US" sz="1400" i="1" dirty="0"/>
              <a:t>et al</a:t>
            </a:r>
            <a:r>
              <a:rPr lang="en-US" sz="1400" dirty="0"/>
              <a:t>. 2012. </a:t>
            </a:r>
            <a:r>
              <a:rPr lang="en-US" sz="1400" i="1" dirty="0" err="1"/>
              <a:t>PLoS</a:t>
            </a:r>
            <a:r>
              <a:rPr lang="en-US" sz="1400" i="1" dirty="0"/>
              <a:t> One</a:t>
            </a:r>
            <a:r>
              <a:rPr lang="en-US" sz="1400" dirty="0"/>
              <a:t>. 7:e42304.</a:t>
            </a:r>
          </a:p>
        </p:txBody>
      </p:sp>
      <p:pic>
        <p:nvPicPr>
          <p:cNvPr id="13" name="Picture 12" descr="A5QC.tiff">
            <a:extLst>
              <a:ext uri="{FF2B5EF4-FFF2-40B4-BE49-F238E27FC236}">
                <a16:creationId xmlns:a16="http://schemas.microsoft.com/office/drawing/2014/main" id="{009A9234-149F-EA56-A282-444C9DE03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303" y="253557"/>
            <a:ext cx="12227110" cy="109228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358BF33-827E-A0DD-0BB4-CA55D9BD1060}"/>
              </a:ext>
            </a:extLst>
          </p:cNvPr>
          <p:cNvSpPr txBox="1"/>
          <p:nvPr/>
        </p:nvSpPr>
        <p:spPr>
          <a:xfrm>
            <a:off x="1548310" y="5334677"/>
            <a:ext cx="61209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library size estimation; bad mate-pair geometry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558AFB-E5EC-4DE3-890C-524BE290FC18}"/>
              </a:ext>
            </a:extLst>
          </p:cNvPr>
          <p:cNvSpPr/>
          <p:nvPr/>
        </p:nvSpPr>
        <p:spPr>
          <a:xfrm>
            <a:off x="8091303" y="4380615"/>
            <a:ext cx="12227110" cy="67958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04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F605D-6A62-39EC-60DD-FDE018754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6A5F9-BE33-AACD-87E2-53C69D99C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586" y="502223"/>
            <a:ext cx="8726065" cy="738817"/>
          </a:xfrm>
        </p:spPr>
        <p:txBody>
          <a:bodyPr/>
          <a:lstStyle/>
          <a:p>
            <a:r>
              <a:rPr lang="en-US" dirty="0"/>
              <a:t>A5QC / SSPACE ‘Finishing’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FA25B-1C14-E121-637B-C3A165EAA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56C29-A869-06EA-230B-9FDBC88E6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DC0FD8-CDF5-CB3F-123D-7F0B29028A16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8D0867-7C6A-7A1B-3A34-7F72B631F259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9D8A48-D297-3DF0-9434-BAC9DDDC2AF3}"/>
              </a:ext>
            </a:extLst>
          </p:cNvPr>
          <p:cNvSpPr txBox="1"/>
          <p:nvPr/>
        </p:nvSpPr>
        <p:spPr>
          <a:xfrm>
            <a:off x="3813942" y="10620000"/>
            <a:ext cx="49685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Tritt</a:t>
            </a:r>
            <a:r>
              <a:rPr lang="en-US" sz="1400" dirty="0"/>
              <a:t> </a:t>
            </a:r>
            <a:r>
              <a:rPr lang="en-US" sz="1400" i="1" dirty="0"/>
              <a:t>et al</a:t>
            </a:r>
            <a:r>
              <a:rPr lang="en-US" sz="1400" dirty="0"/>
              <a:t>. 2012. </a:t>
            </a:r>
            <a:r>
              <a:rPr lang="en-US" sz="1400" i="1" dirty="0" err="1"/>
              <a:t>PLoS</a:t>
            </a:r>
            <a:r>
              <a:rPr lang="en-US" sz="1400" i="1" dirty="0"/>
              <a:t> One</a:t>
            </a:r>
            <a:r>
              <a:rPr lang="en-US" sz="1400" dirty="0"/>
              <a:t>. 7:e42304.</a:t>
            </a:r>
          </a:p>
        </p:txBody>
      </p:sp>
      <p:pic>
        <p:nvPicPr>
          <p:cNvPr id="13" name="Picture 12" descr="A5QC.tiff">
            <a:extLst>
              <a:ext uri="{FF2B5EF4-FFF2-40B4-BE49-F238E27FC236}">
                <a16:creationId xmlns:a16="http://schemas.microsoft.com/office/drawing/2014/main" id="{7E62B2E5-BEBE-013E-4266-746A2D7FE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303" y="253557"/>
            <a:ext cx="12227110" cy="109228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C2E8181-EBE5-3FBF-CDFF-52378BC99592}"/>
              </a:ext>
            </a:extLst>
          </p:cNvPr>
          <p:cNvSpPr txBox="1"/>
          <p:nvPr/>
        </p:nvSpPr>
        <p:spPr>
          <a:xfrm>
            <a:off x="1548310" y="5334677"/>
            <a:ext cx="61209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library size estimation; bad mate-pair geometry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B6DE0D-0C10-BFA7-6D4E-604AE5B9A66E}"/>
              </a:ext>
            </a:extLst>
          </p:cNvPr>
          <p:cNvSpPr/>
          <p:nvPr/>
        </p:nvSpPr>
        <p:spPr>
          <a:xfrm>
            <a:off x="8091303" y="7549115"/>
            <a:ext cx="12227110" cy="3627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24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5AAD9-ADA4-B8F0-535A-DC5C8077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4ABD-B7E9-4D0A-0E2F-9630A419F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586" y="502223"/>
            <a:ext cx="8726065" cy="738817"/>
          </a:xfrm>
        </p:spPr>
        <p:txBody>
          <a:bodyPr/>
          <a:lstStyle/>
          <a:p>
            <a:r>
              <a:rPr lang="en-US" dirty="0"/>
              <a:t>A5QC / SSPACE ‘Finishing’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288FF-10BB-4EE9-DBE3-954CF2DC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4A7B6-E4E7-0D65-1C65-C61D05A9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80334F-65C4-7977-45C7-3ED98D171E5C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F3098A-4D4D-370C-842E-B5B4C133DD73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D7CCE-C388-4FE8-4841-4EEDADFEE123}"/>
              </a:ext>
            </a:extLst>
          </p:cNvPr>
          <p:cNvSpPr txBox="1"/>
          <p:nvPr/>
        </p:nvSpPr>
        <p:spPr>
          <a:xfrm>
            <a:off x="3813942" y="10620000"/>
            <a:ext cx="49685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Tritt</a:t>
            </a:r>
            <a:r>
              <a:rPr lang="en-US" sz="1400" dirty="0"/>
              <a:t> </a:t>
            </a:r>
            <a:r>
              <a:rPr lang="en-US" sz="1400" i="1" dirty="0"/>
              <a:t>et al</a:t>
            </a:r>
            <a:r>
              <a:rPr lang="en-US" sz="1400" dirty="0"/>
              <a:t>. 2012. </a:t>
            </a:r>
            <a:r>
              <a:rPr lang="en-US" sz="1400" i="1" dirty="0" err="1"/>
              <a:t>PLoS</a:t>
            </a:r>
            <a:r>
              <a:rPr lang="en-US" sz="1400" i="1" dirty="0"/>
              <a:t> One</a:t>
            </a:r>
            <a:r>
              <a:rPr lang="en-US" sz="1400" dirty="0"/>
              <a:t>. 7:e42304.</a:t>
            </a:r>
          </a:p>
        </p:txBody>
      </p:sp>
      <p:pic>
        <p:nvPicPr>
          <p:cNvPr id="13" name="Picture 12" descr="A5QC.tiff">
            <a:extLst>
              <a:ext uri="{FF2B5EF4-FFF2-40B4-BE49-F238E27FC236}">
                <a16:creationId xmlns:a16="http://schemas.microsoft.com/office/drawing/2014/main" id="{1495348D-31FE-64E1-57D0-F801A0A74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303" y="253557"/>
            <a:ext cx="12227110" cy="109228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515D37D-AA39-EC83-CA0A-AE9C295FE3EB}"/>
              </a:ext>
            </a:extLst>
          </p:cNvPr>
          <p:cNvSpPr txBox="1"/>
          <p:nvPr/>
        </p:nvSpPr>
        <p:spPr>
          <a:xfrm>
            <a:off x="1548310" y="5334677"/>
            <a:ext cx="61209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library size estimation; bad mate-pair geometry</a:t>
            </a:r>
          </a:p>
        </p:txBody>
      </p:sp>
    </p:spTree>
    <p:extLst>
      <p:ext uri="{BB962C8B-B14F-4D97-AF65-F5344CB8AC3E}">
        <p14:creationId xmlns:p14="http://schemas.microsoft.com/office/powerpoint/2010/main" val="2749190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E7674-52BB-876D-B72A-F69043BB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625D-97EE-A257-4AB8-C3AC792B3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286403"/>
            <a:ext cx="8726065" cy="738817"/>
          </a:xfrm>
        </p:spPr>
        <p:txBody>
          <a:bodyPr/>
          <a:lstStyle/>
          <a:p>
            <a:r>
              <a:rPr lang="en-US" dirty="0"/>
              <a:t>The A5 microbial genome assembly pipeline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5AB64-376E-8952-D78B-B04ACE862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35F97-4448-414C-B556-CAC52AA1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A81B9B-64BA-7FCC-D1D1-533224458072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7834E7-8CE5-B932-A5FD-C3A570AAB441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5.tiff">
            <a:extLst>
              <a:ext uri="{FF2B5EF4-FFF2-40B4-BE49-F238E27FC236}">
                <a16:creationId xmlns:a16="http://schemas.microsoft.com/office/drawing/2014/main" id="{0D52E8F4-3CBA-20AF-12EF-CAFE859B2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494" y="102941"/>
            <a:ext cx="11535920" cy="113487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23F91F-C45A-D408-55DD-4764EFCAE7CA}"/>
              </a:ext>
            </a:extLst>
          </p:cNvPr>
          <p:cNvSpPr txBox="1"/>
          <p:nvPr/>
        </p:nvSpPr>
        <p:spPr>
          <a:xfrm>
            <a:off x="3813942" y="10620000"/>
            <a:ext cx="49685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Tritt</a:t>
            </a:r>
            <a:r>
              <a:rPr lang="en-US" sz="1400" dirty="0"/>
              <a:t> </a:t>
            </a:r>
            <a:r>
              <a:rPr lang="en-US" sz="1400" i="1" dirty="0"/>
              <a:t>et al</a:t>
            </a:r>
            <a:r>
              <a:rPr lang="en-US" sz="1400" dirty="0"/>
              <a:t>. 2012. </a:t>
            </a:r>
            <a:r>
              <a:rPr lang="en-US" sz="1400" i="1" dirty="0" err="1"/>
              <a:t>PLoS</a:t>
            </a:r>
            <a:r>
              <a:rPr lang="en-US" sz="1400" i="1" dirty="0"/>
              <a:t> One</a:t>
            </a:r>
            <a:r>
              <a:rPr lang="en-US" sz="1400" dirty="0"/>
              <a:t>. 7:e42304.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9E366D-750E-8589-CA5E-BB5FE7F017B6}"/>
              </a:ext>
            </a:extLst>
          </p:cNvPr>
          <p:cNvSpPr txBox="1"/>
          <p:nvPr/>
        </p:nvSpPr>
        <p:spPr>
          <a:xfrm>
            <a:off x="1548310" y="5334677"/>
            <a:ext cx="61209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k-</a:t>
            </a:r>
            <a:r>
              <a:rPr lang="en-US" sz="3600" dirty="0" err="1"/>
              <a:t>mers</a:t>
            </a:r>
            <a:r>
              <a:rPr lang="en-US" sz="3600" dirty="0"/>
              <a:t>, de </a:t>
            </a:r>
            <a:r>
              <a:rPr lang="en-US" sz="3600" dirty="0" err="1"/>
              <a:t>Bruijn</a:t>
            </a:r>
            <a:r>
              <a:rPr lang="en-US" sz="3600" dirty="0"/>
              <a:t> graphs, </a:t>
            </a:r>
            <a:r>
              <a:rPr lang="en-US" sz="3600" dirty="0" err="1"/>
              <a:t>Eulerian</a:t>
            </a:r>
            <a:r>
              <a:rPr lang="en-US" sz="3600" dirty="0"/>
              <a:t> paths, mate-pairs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7D9C31-53EB-0D85-F14B-5784A9536DD4}"/>
              </a:ext>
            </a:extLst>
          </p:cNvPr>
          <p:cNvSpPr/>
          <p:nvPr/>
        </p:nvSpPr>
        <p:spPr bwMode="auto">
          <a:xfrm>
            <a:off x="12146392" y="3521834"/>
            <a:ext cx="7891545" cy="5261030"/>
          </a:xfrm>
          <a:prstGeom prst="rect">
            <a:avLst/>
          </a:prstGeom>
          <a:solidFill>
            <a:schemeClr val="accent5">
              <a:lumMod val="60000"/>
              <a:lumOff val="40000"/>
              <a:alpha val="1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376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38D76-3D02-877F-21F6-F7485C57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D7C2-B8A4-AAC7-66F4-8F5038B39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502223"/>
            <a:ext cx="19847721" cy="738817"/>
          </a:xfrm>
        </p:spPr>
        <p:txBody>
          <a:bodyPr/>
          <a:lstStyle/>
          <a:p>
            <a:r>
              <a:rPr lang="en-US" dirty="0" err="1"/>
              <a:t>kmers</a:t>
            </a:r>
            <a:r>
              <a:rPr lang="en-US" dirty="0"/>
              <a:t>, de Bruijn graphs, Eulerian paths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9A7FB-59B5-AC28-F9DF-B294D471F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C29E3-1249-FFE6-5812-0E1BF64A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803FB9-DDFD-9380-CFCE-FA8271492AF5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B3A6DF-1F72-CF06-8EFB-653727EE7265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9F0BE0-5834-A280-9A7B-9EFC1841D5F7}"/>
              </a:ext>
            </a:extLst>
          </p:cNvPr>
          <p:cNvSpPr txBox="1"/>
          <p:nvPr/>
        </p:nvSpPr>
        <p:spPr>
          <a:xfrm>
            <a:off x="541034" y="2652699"/>
            <a:ext cx="10563368" cy="79714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3200" dirty="0"/>
              <a:t>There are a wide variety of k-</a:t>
            </a:r>
            <a:r>
              <a:rPr lang="en-US" sz="3200" dirty="0" err="1"/>
              <a:t>mer</a:t>
            </a:r>
            <a:r>
              <a:rPr lang="en-US" sz="3200" dirty="0"/>
              <a:t> assemblers (e.g. Velvet, A5, SPADES, etc.)</a:t>
            </a:r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r>
              <a:rPr lang="en-US" sz="3200" dirty="0"/>
              <a:t>Some are generalist others are specialist (e.g. A5 is microbial)</a:t>
            </a:r>
          </a:p>
          <a:p>
            <a:pPr marL="800100" lvl="1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r>
              <a:rPr lang="en-US" sz="3200" dirty="0"/>
              <a:t>The </a:t>
            </a:r>
            <a:r>
              <a:rPr lang="en-US" sz="3200" dirty="0" err="1"/>
              <a:t>SPAdes</a:t>
            </a:r>
            <a:r>
              <a:rPr lang="en-US" sz="3200" dirty="0"/>
              <a:t> assembler is considered the best microbial genome assembler </a:t>
            </a:r>
            <a:r>
              <a:rPr lang="mr-IN" sz="3200" dirty="0"/>
              <a:t>–</a:t>
            </a:r>
            <a:r>
              <a:rPr lang="en-US" sz="3200" dirty="0"/>
              <a:t> uses multiple k-</a:t>
            </a:r>
            <a:r>
              <a:rPr lang="en-US" sz="3200" dirty="0" err="1"/>
              <a:t>mer</a:t>
            </a:r>
            <a:r>
              <a:rPr lang="en-US" sz="3200" dirty="0"/>
              <a:t> sizes</a:t>
            </a:r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r>
              <a:rPr lang="en-US" sz="3200" dirty="0"/>
              <a:t>You have seen k-</a:t>
            </a:r>
            <a:r>
              <a:rPr lang="en-US" sz="3200" dirty="0" err="1"/>
              <a:t>mers</a:t>
            </a:r>
            <a:r>
              <a:rPr lang="en-US" sz="3200" dirty="0"/>
              <a:t> before – BLAST word sizes</a:t>
            </a:r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r>
              <a:rPr lang="en-US" sz="3200" dirty="0"/>
              <a:t>A k-</a:t>
            </a:r>
            <a:r>
              <a:rPr lang="en-US" sz="3200" dirty="0" err="1"/>
              <a:t>mer</a:t>
            </a:r>
            <a:r>
              <a:rPr lang="en-US" sz="3200" dirty="0"/>
              <a:t> frequency spectrum is generated for a specific k-</a:t>
            </a:r>
            <a:r>
              <a:rPr lang="en-US" sz="3200" dirty="0" err="1"/>
              <a:t>mer</a:t>
            </a:r>
            <a:r>
              <a:rPr lang="en-US" sz="3200" dirty="0"/>
              <a:t> size</a:t>
            </a:r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endParaRPr lang="en-US" sz="3200" dirty="0"/>
          </a:p>
        </p:txBody>
      </p:sp>
      <p:pic>
        <p:nvPicPr>
          <p:cNvPr id="8" name="Picture 7" descr="kmer.tiff">
            <a:extLst>
              <a:ext uri="{FF2B5EF4-FFF2-40B4-BE49-F238E27FC236}">
                <a16:creationId xmlns:a16="http://schemas.microsoft.com/office/drawing/2014/main" id="{E25DD855-4494-8A1B-0BA7-E69AB7C48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3998" y="0"/>
            <a:ext cx="8404415" cy="1018673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3FAEC23-BF4D-7D6F-C76D-CDEEB8A68FDF}"/>
              </a:ext>
            </a:extLst>
          </p:cNvPr>
          <p:cNvSpPr/>
          <p:nvPr/>
        </p:nvSpPr>
        <p:spPr bwMode="auto">
          <a:xfrm>
            <a:off x="11978399" y="1448652"/>
            <a:ext cx="7847430" cy="603666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115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DB386-2230-2C90-FA5A-E90EBC7A8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AF53-7083-BCBB-608E-87B0B8919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502223"/>
            <a:ext cx="19847721" cy="738817"/>
          </a:xfrm>
        </p:spPr>
        <p:txBody>
          <a:bodyPr/>
          <a:lstStyle/>
          <a:p>
            <a:r>
              <a:rPr lang="en-US" dirty="0" err="1"/>
              <a:t>kmers</a:t>
            </a:r>
            <a:r>
              <a:rPr lang="en-US" dirty="0"/>
              <a:t>, de Bruijn graphs, Eulerian paths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828A6-779F-D02F-BACA-8FBE27FFE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FF856-671E-D883-72E8-0860568FC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E99225-F4C1-CF32-EA04-169CDC469403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7CF74-8532-1F7C-3CF1-1910EA5CA214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BB8FD-D939-9901-E9A4-D0957FBD965F}"/>
              </a:ext>
            </a:extLst>
          </p:cNvPr>
          <p:cNvSpPr txBox="1"/>
          <p:nvPr/>
        </p:nvSpPr>
        <p:spPr>
          <a:xfrm>
            <a:off x="541034" y="2946476"/>
            <a:ext cx="10563368" cy="2062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3200" dirty="0"/>
              <a:t>A </a:t>
            </a:r>
            <a:r>
              <a:rPr lang="en-US" sz="3200" dirty="0" err="1"/>
              <a:t>deBruijn</a:t>
            </a:r>
            <a:r>
              <a:rPr lang="en-US" sz="3200" dirty="0"/>
              <a:t> graph is created from the k-</a:t>
            </a:r>
            <a:r>
              <a:rPr lang="en-US" sz="3200" dirty="0" err="1"/>
              <a:t>mers</a:t>
            </a:r>
            <a:r>
              <a:rPr lang="en-US" sz="3200" dirty="0"/>
              <a:t> of all reads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all k-</a:t>
            </a:r>
            <a:r>
              <a:rPr lang="en-US" sz="3200" dirty="0" err="1"/>
              <a:t>mers</a:t>
            </a:r>
            <a:r>
              <a:rPr lang="en-US" sz="3200" dirty="0"/>
              <a:t> must overlap adjoining k-</a:t>
            </a:r>
            <a:r>
              <a:rPr lang="en-US" sz="3200" dirty="0" err="1"/>
              <a:t>mers</a:t>
            </a:r>
            <a:r>
              <a:rPr lang="en-US" sz="3200" dirty="0"/>
              <a:t> in the genome by </a:t>
            </a:r>
            <a:r>
              <a:rPr lang="en-US" sz="3200" i="1" dirty="0"/>
              <a:t>k</a:t>
            </a:r>
            <a:r>
              <a:rPr lang="en-US" sz="3200" dirty="0"/>
              <a:t>-1</a:t>
            </a:r>
          </a:p>
          <a:p>
            <a:endParaRPr lang="en-US" sz="3200" dirty="0"/>
          </a:p>
        </p:txBody>
      </p:sp>
      <p:pic>
        <p:nvPicPr>
          <p:cNvPr id="8" name="Picture 7" descr="kmer.tiff">
            <a:extLst>
              <a:ext uri="{FF2B5EF4-FFF2-40B4-BE49-F238E27FC236}">
                <a16:creationId xmlns:a16="http://schemas.microsoft.com/office/drawing/2014/main" id="{8865A6F3-C6D2-7A0E-4AA4-FB40B6F83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3998" y="0"/>
            <a:ext cx="8404415" cy="101867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7988392-7809-1708-AF11-CC9B43B1E077}"/>
              </a:ext>
            </a:extLst>
          </p:cNvPr>
          <p:cNvSpPr/>
          <p:nvPr/>
        </p:nvSpPr>
        <p:spPr bwMode="auto">
          <a:xfrm>
            <a:off x="11978399" y="4635795"/>
            <a:ext cx="7847430" cy="284952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8CFC0A-6322-A7CD-E405-7A5FB7AA7D56}"/>
              </a:ext>
            </a:extLst>
          </p:cNvPr>
          <p:cNvCxnSpPr>
            <a:cxnSpLocks/>
          </p:cNvCxnSpPr>
          <p:nvPr/>
        </p:nvCxnSpPr>
        <p:spPr bwMode="auto">
          <a:xfrm flipV="1">
            <a:off x="15463539" y="4510918"/>
            <a:ext cx="1" cy="756398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64DDB85-A046-0D2F-F95C-25D9E0735433}"/>
              </a:ext>
            </a:extLst>
          </p:cNvPr>
          <p:cNvSpPr txBox="1"/>
          <p:nvPr/>
        </p:nvSpPr>
        <p:spPr>
          <a:xfrm>
            <a:off x="14810957" y="5267316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repeat!</a:t>
            </a:r>
          </a:p>
        </p:txBody>
      </p:sp>
    </p:spTree>
    <p:extLst>
      <p:ext uri="{BB962C8B-B14F-4D97-AF65-F5344CB8AC3E}">
        <p14:creationId xmlns:p14="http://schemas.microsoft.com/office/powerpoint/2010/main" val="3840265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6B0C-CFAC-72D6-99A6-A52FE27E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39CB2-FB7F-F15E-79D5-48493AA15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502223"/>
            <a:ext cx="19847721" cy="738817"/>
          </a:xfrm>
        </p:spPr>
        <p:txBody>
          <a:bodyPr/>
          <a:lstStyle/>
          <a:p>
            <a:r>
              <a:rPr lang="en-US" dirty="0" err="1"/>
              <a:t>kmers</a:t>
            </a:r>
            <a:r>
              <a:rPr lang="en-US" dirty="0"/>
              <a:t>, de Bruijn graphs, Eulerian paths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7C0B8-A003-7F33-151B-BE024D12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4948E-808D-B5EB-EE18-2FDEE614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7E0575-B984-15F4-9630-3D9EAB792C03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6258D6-EFC6-8AF5-B054-896EEECCD134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B5D6B-C054-FA59-B1D5-53D3FE053B27}"/>
              </a:ext>
            </a:extLst>
          </p:cNvPr>
          <p:cNvSpPr txBox="1"/>
          <p:nvPr/>
        </p:nvSpPr>
        <p:spPr>
          <a:xfrm>
            <a:off x="541034" y="2946476"/>
            <a:ext cx="10563368" cy="64940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3200" dirty="0"/>
              <a:t>A </a:t>
            </a:r>
            <a:r>
              <a:rPr lang="en-US" sz="3200" dirty="0" err="1"/>
              <a:t>deBruijn</a:t>
            </a:r>
            <a:r>
              <a:rPr lang="en-US" sz="3200" dirty="0"/>
              <a:t> graph is created from the k-</a:t>
            </a:r>
            <a:r>
              <a:rPr lang="en-US" sz="3200" dirty="0" err="1"/>
              <a:t>mers</a:t>
            </a:r>
            <a:r>
              <a:rPr lang="en-US" sz="3200" dirty="0"/>
              <a:t> of all reads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all k-</a:t>
            </a:r>
            <a:r>
              <a:rPr lang="en-US" sz="3200" dirty="0" err="1"/>
              <a:t>mers</a:t>
            </a:r>
            <a:r>
              <a:rPr lang="en-US" sz="3200" dirty="0"/>
              <a:t> must overlap adjoining k-</a:t>
            </a:r>
            <a:r>
              <a:rPr lang="en-US" sz="3200" dirty="0" err="1"/>
              <a:t>mers</a:t>
            </a:r>
            <a:r>
              <a:rPr lang="en-US" sz="3200" dirty="0"/>
              <a:t> in the genome by </a:t>
            </a:r>
            <a:r>
              <a:rPr lang="en-US" sz="3200" i="1" dirty="0"/>
              <a:t>k</a:t>
            </a:r>
            <a:r>
              <a:rPr lang="en-US" sz="3200" dirty="0"/>
              <a:t>-1</a:t>
            </a:r>
          </a:p>
          <a:p>
            <a:endParaRPr lang="en-US" sz="3200" dirty="0"/>
          </a:p>
          <a:p>
            <a:pPr marL="342900" indent="-342900">
              <a:buFont typeface="Arial"/>
              <a:buChar char="•"/>
            </a:pPr>
            <a:r>
              <a:rPr lang="en-US" sz="3200" dirty="0"/>
              <a:t>A </a:t>
            </a:r>
            <a:r>
              <a:rPr lang="en-US" sz="3200" dirty="0" err="1"/>
              <a:t>deBruijn</a:t>
            </a:r>
            <a:r>
              <a:rPr lang="en-US" sz="3200" dirty="0"/>
              <a:t> graph can be used to efficiently find read overlap for forming contigs &amp; resolving repeated sequences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graph theory </a:t>
            </a:r>
            <a:r>
              <a:rPr lang="mr-IN" sz="3200" dirty="0"/>
              <a:t>–</a:t>
            </a:r>
            <a:r>
              <a:rPr lang="en-US" sz="3200" dirty="0"/>
              <a:t> the optimal Eulerian path visits every edge exactly once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repeat regions produce over-abundant k-</a:t>
            </a:r>
            <a:r>
              <a:rPr lang="en-US" sz="3200" dirty="0" err="1"/>
              <a:t>mers</a:t>
            </a:r>
            <a:r>
              <a:rPr lang="en-US" sz="3200" dirty="0"/>
              <a:t> and have identifiable </a:t>
            </a:r>
            <a:r>
              <a:rPr lang="en-US" sz="3200" dirty="0" err="1"/>
              <a:t>deBruijn</a:t>
            </a:r>
            <a:r>
              <a:rPr lang="en-US" sz="3200" dirty="0"/>
              <a:t> graph properties</a:t>
            </a:r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endParaRPr lang="en-US" sz="3200" dirty="0"/>
          </a:p>
        </p:txBody>
      </p:sp>
      <p:pic>
        <p:nvPicPr>
          <p:cNvPr id="8" name="Picture 7" descr="kmer.tiff">
            <a:extLst>
              <a:ext uri="{FF2B5EF4-FFF2-40B4-BE49-F238E27FC236}">
                <a16:creationId xmlns:a16="http://schemas.microsoft.com/office/drawing/2014/main" id="{FC6D1442-221F-DB77-8F09-3F0E96702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3998" y="0"/>
            <a:ext cx="8404415" cy="1018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37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3E0CB-00D6-CEFF-5519-677AC728D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8E9DB-EAAD-DB34-85D0-77CDE09E8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502223"/>
            <a:ext cx="19847721" cy="738817"/>
          </a:xfrm>
        </p:spPr>
        <p:txBody>
          <a:bodyPr/>
          <a:lstStyle/>
          <a:p>
            <a:r>
              <a:rPr lang="en-US" dirty="0" err="1"/>
              <a:t>kmers</a:t>
            </a:r>
            <a:r>
              <a:rPr lang="en-US" dirty="0"/>
              <a:t>, de Bruijn graphs, Eulerian paths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7B1C7-66DA-EB54-5851-2E551136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FF8E3-1A7A-5AFB-9F9A-803C0B91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8999E2-F14E-2D86-BA1F-896E07CA136C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842AAE-FFBD-56E6-CE14-8AF59D42F52F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kmer.tiff">
            <a:extLst>
              <a:ext uri="{FF2B5EF4-FFF2-40B4-BE49-F238E27FC236}">
                <a16:creationId xmlns:a16="http://schemas.microsoft.com/office/drawing/2014/main" id="{85780DEF-6A4D-DC8B-EB07-6AA43D466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3998" y="0"/>
            <a:ext cx="8404415" cy="101867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6F3353-F9F7-2A70-71E1-1FAA17A66EFC}"/>
              </a:ext>
            </a:extLst>
          </p:cNvPr>
          <p:cNvSpPr txBox="1"/>
          <p:nvPr/>
        </p:nvSpPr>
        <p:spPr>
          <a:xfrm>
            <a:off x="651851" y="2683477"/>
            <a:ext cx="10514602" cy="64940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3200" dirty="0"/>
              <a:t>Sequencing error creates ‘novel’ k-</a:t>
            </a:r>
            <a:r>
              <a:rPr lang="en-US" sz="3200" dirty="0" err="1"/>
              <a:t>mers</a:t>
            </a:r>
            <a:r>
              <a:rPr lang="en-US" sz="3200" dirty="0"/>
              <a:t> and complicates the </a:t>
            </a:r>
            <a:r>
              <a:rPr lang="en-US" sz="3200" dirty="0" err="1"/>
              <a:t>deBruijn</a:t>
            </a:r>
            <a:r>
              <a:rPr lang="en-US" sz="3200" dirty="0"/>
              <a:t> graph </a:t>
            </a:r>
            <a:r>
              <a:rPr lang="mr-IN" sz="3200" dirty="0"/>
              <a:t>–</a:t>
            </a:r>
            <a:r>
              <a:rPr lang="en-US" sz="3200" dirty="0"/>
              <a:t> </a:t>
            </a:r>
            <a:r>
              <a:rPr lang="en-US" sz="3200" b="1" dirty="0"/>
              <a:t>genome assembly is thus always preceded by an error trimming &amp; correction step</a:t>
            </a:r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r>
              <a:rPr lang="en-US" sz="3200" dirty="0"/>
              <a:t>The product of k-</a:t>
            </a:r>
            <a:r>
              <a:rPr lang="en-US" sz="3200" dirty="0" err="1"/>
              <a:t>mer</a:t>
            </a:r>
            <a:r>
              <a:rPr lang="en-US" sz="3200" dirty="0"/>
              <a:t> assembly is a robust set of contigs, but what k-</a:t>
            </a:r>
            <a:r>
              <a:rPr lang="en-US" sz="3200" dirty="0" err="1"/>
              <a:t>mer</a:t>
            </a:r>
            <a:r>
              <a:rPr lang="en-US" sz="3200" dirty="0"/>
              <a:t> size to use?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Shorter </a:t>
            </a:r>
            <a:r>
              <a:rPr lang="mr-IN" sz="3200" dirty="0"/>
              <a:t>–</a:t>
            </a:r>
            <a:r>
              <a:rPr lang="en-US" sz="3200" dirty="0"/>
              <a:t> less memory, more complex </a:t>
            </a:r>
            <a:r>
              <a:rPr lang="en-US" sz="3200" dirty="0" err="1"/>
              <a:t>deBruijn</a:t>
            </a:r>
            <a:r>
              <a:rPr lang="en-US" sz="3200" dirty="0"/>
              <a:t> graph, difficulty with small tandem repeats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Longer </a:t>
            </a:r>
            <a:r>
              <a:rPr lang="mr-IN" sz="3200" dirty="0"/>
              <a:t>–</a:t>
            </a:r>
            <a:r>
              <a:rPr lang="en-US" sz="3200" dirty="0"/>
              <a:t> more memory, simpler </a:t>
            </a:r>
            <a:r>
              <a:rPr lang="en-US" sz="3200" dirty="0" err="1"/>
              <a:t>deBruijn</a:t>
            </a:r>
            <a:r>
              <a:rPr lang="en-US" sz="3200" dirty="0"/>
              <a:t> graph, overcome small repeats,  upper maximum due to sequencing gaps, error filtering critical</a:t>
            </a:r>
          </a:p>
          <a:p>
            <a:pPr marL="342900" indent="-342900">
              <a:buFont typeface="Arial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8259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A7C1F-0CF5-6476-6417-325037A8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D0967-3A21-FE12-ACFE-0F471B875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502223"/>
            <a:ext cx="19847721" cy="738817"/>
          </a:xfrm>
        </p:spPr>
        <p:txBody>
          <a:bodyPr/>
          <a:lstStyle/>
          <a:p>
            <a:r>
              <a:rPr lang="en-US" dirty="0"/>
              <a:t>Try this example by hand ...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F1EA8-53D3-54F6-7CC2-253D1FE79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2D7C9-1611-4262-2C84-2F9C7061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A090E5-DCD5-D1F2-9235-4F85325694FC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40B646-4669-2BFD-C1B5-A308843F852D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E3E33-8794-5A83-7022-F38FA7448C89}"/>
              </a:ext>
            </a:extLst>
          </p:cNvPr>
          <p:cNvSpPr txBox="1"/>
          <p:nvPr/>
        </p:nvSpPr>
        <p:spPr>
          <a:xfrm>
            <a:off x="6308372" y="1448652"/>
            <a:ext cx="1051460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Demo video on GitHub!</a:t>
            </a:r>
          </a:p>
        </p:txBody>
      </p:sp>
      <p:pic>
        <p:nvPicPr>
          <p:cNvPr id="4" name="Picture 3" descr="graph.jpg">
            <a:extLst>
              <a:ext uri="{FF2B5EF4-FFF2-40B4-BE49-F238E27FC236}">
                <a16:creationId xmlns:a16="http://schemas.microsoft.com/office/drawing/2014/main" id="{01624557-249B-ABCD-470D-D1941FF8D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260" y="1910869"/>
            <a:ext cx="11761048" cy="83142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0F5F0E-00AF-508E-6AD5-F6EB7C4F2C95}"/>
              </a:ext>
            </a:extLst>
          </p:cNvPr>
          <p:cNvSpPr txBox="1"/>
          <p:nvPr/>
        </p:nvSpPr>
        <p:spPr>
          <a:xfrm>
            <a:off x="3722573" y="10690039"/>
            <a:ext cx="903649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Namiki</a:t>
            </a:r>
            <a:r>
              <a:rPr lang="en-US" sz="1400" dirty="0"/>
              <a:t> </a:t>
            </a:r>
            <a:r>
              <a:rPr lang="en-US" sz="1400" i="1" dirty="0"/>
              <a:t>et al</a:t>
            </a:r>
            <a:r>
              <a:rPr lang="en-US" sz="1400" dirty="0"/>
              <a:t>. 2012</a:t>
            </a:r>
            <a:r>
              <a:rPr lang="en-US" sz="1400" i="1" dirty="0"/>
              <a:t>. Nucleic Acids Research </a:t>
            </a:r>
            <a:r>
              <a:rPr lang="en-US" sz="1400" dirty="0"/>
              <a:t>40:e155</a:t>
            </a:r>
          </a:p>
        </p:txBody>
      </p:sp>
    </p:spTree>
    <p:extLst>
      <p:ext uri="{BB962C8B-B14F-4D97-AF65-F5344CB8AC3E}">
        <p14:creationId xmlns:p14="http://schemas.microsoft.com/office/powerpoint/2010/main" val="653484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5B98E-66BB-71AD-21A3-B8DFCC1D2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31428-BCDE-C029-4044-B3BDD5EBC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502223"/>
            <a:ext cx="19847721" cy="738817"/>
          </a:xfrm>
        </p:spPr>
        <p:txBody>
          <a:bodyPr/>
          <a:lstStyle/>
          <a:p>
            <a:r>
              <a:rPr lang="en-US" dirty="0"/>
              <a:t>A complete assembly…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440F7-B20C-52CE-95A1-9EF913365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B888C-E331-6D1A-E5CC-CC9700E3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C490CE-017C-471F-509B-39E29C2AC9A1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5BD277-A8B3-3F27-32EB-FAAB3948FEB3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712AD-A35E-3B57-3A28-A662ECDDDFA7}"/>
              </a:ext>
            </a:extLst>
          </p:cNvPr>
          <p:cNvSpPr txBox="1"/>
          <p:nvPr/>
        </p:nvSpPr>
        <p:spPr>
          <a:xfrm>
            <a:off x="16417847" y="9440561"/>
            <a:ext cx="408172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BANDAGE visualization</a:t>
            </a:r>
          </a:p>
        </p:txBody>
      </p:sp>
      <p:pic>
        <p:nvPicPr>
          <p:cNvPr id="8" name="Picture 7" descr="bandage1.jpg">
            <a:extLst>
              <a:ext uri="{FF2B5EF4-FFF2-40B4-BE49-F238E27FC236}">
                <a16:creationId xmlns:a16="http://schemas.microsoft.com/office/drawing/2014/main" id="{7A9E2540-B52D-64ED-AF14-6F690A5B2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781" y="2182923"/>
            <a:ext cx="8191388" cy="7657748"/>
          </a:xfrm>
          <a:prstGeom prst="rect">
            <a:avLst/>
          </a:prstGeom>
        </p:spPr>
      </p:pic>
      <p:pic>
        <p:nvPicPr>
          <p:cNvPr id="11" name="Picture 10" descr="bandage2.jpg">
            <a:extLst>
              <a:ext uri="{FF2B5EF4-FFF2-40B4-BE49-F238E27FC236}">
                <a16:creationId xmlns:a16="http://schemas.microsoft.com/office/drawing/2014/main" id="{60FA4C2F-791B-9B80-15BD-62476FBEA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3320" y="3126660"/>
            <a:ext cx="6330498" cy="549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45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91BCA-643E-00EE-F94D-4828DDDE2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8F74-6A34-F869-70D9-6AEE5703F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502223"/>
            <a:ext cx="19847721" cy="738817"/>
          </a:xfrm>
        </p:spPr>
        <p:txBody>
          <a:bodyPr/>
          <a:lstStyle/>
          <a:p>
            <a:r>
              <a:rPr lang="en-US" dirty="0"/>
              <a:t>Assembly Statistics – A5 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6B53F-5241-A4D3-C384-9CFB838C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B695E-4392-A6D6-44DF-B567C5BE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CFB82-A11A-6AE6-9011-5EE78A8F61D8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99CE5C-6CEC-E055-8044-7F3A1E41FC7B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69B4EC-3EA1-8D68-3E09-F2E3D916103C}"/>
              </a:ext>
            </a:extLst>
          </p:cNvPr>
          <p:cNvSpPr txBox="1"/>
          <p:nvPr/>
        </p:nvSpPr>
        <p:spPr>
          <a:xfrm>
            <a:off x="968418" y="2145765"/>
            <a:ext cx="18381575" cy="117262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800" dirty="0"/>
              <a:t>McMaster </a:t>
            </a:r>
            <a:r>
              <a:rPr lang="en-US" sz="2800" i="1" dirty="0"/>
              <a:t>E. coli </a:t>
            </a:r>
            <a:r>
              <a:rPr lang="en-US" sz="2800" dirty="0"/>
              <a:t>C008 strain with </a:t>
            </a:r>
            <a:r>
              <a:rPr lang="en-US" sz="2800" dirty="0" err="1"/>
              <a:t>Illumina</a:t>
            </a:r>
            <a:r>
              <a:rPr lang="en-US" sz="2800" dirty="0"/>
              <a:t> </a:t>
            </a:r>
            <a:r>
              <a:rPr lang="en-US" sz="2800" dirty="0" err="1"/>
              <a:t>HiSeq</a:t>
            </a:r>
            <a:r>
              <a:rPr lang="en-US" sz="2800" dirty="0"/>
              <a:t> 2 x 250 </a:t>
            </a:r>
            <a:r>
              <a:rPr lang="en-US" sz="2800" dirty="0" err="1"/>
              <a:t>bp</a:t>
            </a:r>
            <a:r>
              <a:rPr lang="en-US" sz="2800" dirty="0"/>
              <a:t> sequencing</a:t>
            </a:r>
          </a:p>
          <a:p>
            <a:pPr marL="342900" indent="-342900">
              <a:buFont typeface="Arial"/>
              <a:buChar char="•"/>
            </a:pPr>
            <a:r>
              <a:rPr lang="en-US" sz="2800" dirty="0"/>
              <a:t>Raw 3,735,008 sequencing reads totaling 933,752,000 </a:t>
            </a:r>
            <a:r>
              <a:rPr lang="en-US" sz="2800" dirty="0" err="1"/>
              <a:t>bp</a:t>
            </a:r>
            <a:endParaRPr lang="en-US" sz="2800" dirty="0"/>
          </a:p>
          <a:p>
            <a:pPr marL="342900" indent="-342900">
              <a:buFont typeface="Arial"/>
              <a:buChar char="•"/>
            </a:pPr>
            <a:r>
              <a:rPr lang="en-US" sz="2800" dirty="0"/>
              <a:t>~200 fold coverage of the </a:t>
            </a:r>
            <a:r>
              <a:rPr lang="en-US" sz="2800" i="1" dirty="0"/>
              <a:t>E. coli</a:t>
            </a:r>
            <a:r>
              <a:rPr lang="en-US" sz="2800" dirty="0"/>
              <a:t> genome (</a:t>
            </a:r>
            <a:r>
              <a:rPr lang="it-IT" sz="2800" i="1" dirty="0"/>
              <a:t>E. coli </a:t>
            </a:r>
            <a:r>
              <a:rPr lang="it-IT" sz="2800" dirty="0"/>
              <a:t>K-12 </a:t>
            </a:r>
            <a:r>
              <a:rPr lang="it-IT" sz="2800" dirty="0" err="1"/>
              <a:t>is</a:t>
            </a:r>
            <a:r>
              <a:rPr lang="it-IT" sz="2800" dirty="0"/>
              <a:t> 4,639,221 </a:t>
            </a:r>
            <a:r>
              <a:rPr lang="it-IT" sz="2800" dirty="0" err="1"/>
              <a:t>bp</a:t>
            </a:r>
            <a:r>
              <a:rPr lang="en-US" sz="2800" dirty="0"/>
              <a:t>)</a:t>
            </a:r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r>
              <a:rPr lang="en-US" sz="2800" dirty="0"/>
              <a:t>3,666,906 error-corrected reads totaling 797,138,877 bp</a:t>
            </a:r>
          </a:p>
          <a:p>
            <a:pPr marL="342900" indent="-342900">
              <a:buFont typeface="Arial"/>
              <a:buChar char="•"/>
            </a:pPr>
            <a:r>
              <a:rPr lang="en-US" sz="2800" dirty="0"/>
              <a:t>98.18% of reads passed error-correction</a:t>
            </a:r>
          </a:p>
          <a:p>
            <a:pPr marL="342900" indent="-342900">
              <a:buFont typeface="Arial"/>
              <a:buChar char="•"/>
            </a:pPr>
            <a:r>
              <a:rPr lang="en-US" sz="2800" dirty="0"/>
              <a:t>85.03% of nucleotides passed error-correction</a:t>
            </a:r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r>
              <a:rPr lang="en-US" sz="2800" dirty="0"/>
              <a:t>118 </a:t>
            </a:r>
            <a:r>
              <a:rPr lang="en-US" sz="2800" dirty="0" err="1"/>
              <a:t>contigs</a:t>
            </a:r>
            <a:r>
              <a:rPr lang="en-US" sz="2800" dirty="0"/>
              <a:t> in 118 scaffolds</a:t>
            </a:r>
          </a:p>
          <a:p>
            <a:pPr marL="342900" indent="-342900">
              <a:buFont typeface="Arial"/>
              <a:buChar char="•"/>
            </a:pPr>
            <a:r>
              <a:rPr lang="is-IS" sz="2800" dirty="0"/>
              <a:t>5,247,627 bp sum contig length</a:t>
            </a:r>
          </a:p>
          <a:p>
            <a:pPr marL="342900" indent="-342900">
              <a:buFont typeface="Arial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bases ≥ Q40 = 5,243,991 (99.9% of assembly; Q40 = 1 in 10,000 error rate)</a:t>
            </a:r>
            <a:endParaRPr lang="is-IS" sz="2800" b="1" dirty="0">
              <a:solidFill>
                <a:srgbClr val="FFC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800" dirty="0"/>
              <a:t>Longest scaffold = </a:t>
            </a:r>
            <a:r>
              <a:rPr lang="is-IS" sz="2800" dirty="0"/>
              <a:t>534,047 bp</a:t>
            </a:r>
          </a:p>
          <a:p>
            <a:pPr marL="342900" indent="-342900">
              <a:buFont typeface="Arial"/>
              <a:buChar char="•"/>
            </a:pPr>
            <a:r>
              <a:rPr lang="is-I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Contig N50 = 166,170 bp (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at least 50% of the assembly is contained in </a:t>
            </a:r>
            <a:b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contigs of this size or larger</a:t>
            </a:r>
            <a:r>
              <a:rPr lang="is-I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</a:t>
            </a:r>
          </a:p>
          <a:p>
            <a:pPr marL="342900" indent="-342900">
              <a:buFont typeface="Arial"/>
              <a:buChar char="•"/>
            </a:pPr>
            <a:r>
              <a:rPr lang="is-IS" sz="2800" dirty="0"/>
              <a:t>GC content = 50.6%</a:t>
            </a:r>
          </a:p>
          <a:p>
            <a:pPr marL="342900" indent="-342900">
              <a:buFont typeface="Arial"/>
              <a:buChar char="•"/>
            </a:pPr>
            <a:endParaRPr lang="is-IS" sz="2800" dirty="0"/>
          </a:p>
          <a:p>
            <a:pPr marL="342900" indent="-342900">
              <a:buFont typeface="Arial"/>
              <a:buChar char="•"/>
            </a:pPr>
            <a:r>
              <a:rPr lang="is-IS" sz="2800" b="1" dirty="0">
                <a:solidFill>
                  <a:srgbClr val="FFC000"/>
                </a:solidFill>
              </a:rPr>
              <a:t>Observed read coverage = 178.65 fold</a:t>
            </a:r>
          </a:p>
          <a:p>
            <a:pPr marL="342900" indent="-342900">
              <a:buFont typeface="Arial"/>
              <a:buChar char="•"/>
            </a:pPr>
            <a:r>
              <a:rPr lang="is-IS" sz="2800" b="1" dirty="0">
                <a:solidFill>
                  <a:srgbClr val="FFC000"/>
                </a:solidFill>
              </a:rPr>
              <a:t>Median = 154 fold; 10th percentile = 97 fold</a:t>
            </a:r>
          </a:p>
          <a:p>
            <a:pPr marL="342900" indent="-342900">
              <a:buFont typeface="Arial"/>
              <a:buChar char="•"/>
            </a:pPr>
            <a:endParaRPr lang="is-I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38F20-EF1C-DB95-128E-10D2E607E171}"/>
              </a:ext>
            </a:extLst>
          </p:cNvPr>
          <p:cNvSpPr txBox="1"/>
          <p:nvPr/>
        </p:nvSpPr>
        <p:spPr>
          <a:xfrm>
            <a:off x="13526664" y="8817924"/>
            <a:ext cx="472805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For a nice review of A5 statistics, see http://</a:t>
            </a:r>
            <a:r>
              <a:rPr lang="en-US" sz="2400" dirty="0" err="1"/>
              <a:t>tinyurl.com</a:t>
            </a:r>
            <a:r>
              <a:rPr lang="en-US" sz="2400" dirty="0"/>
              <a:t>/zwng5cb</a:t>
            </a:r>
          </a:p>
        </p:txBody>
      </p:sp>
    </p:spTree>
    <p:extLst>
      <p:ext uri="{BB962C8B-B14F-4D97-AF65-F5344CB8AC3E}">
        <p14:creationId xmlns:p14="http://schemas.microsoft.com/office/powerpoint/2010/main" val="367951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F71DD-C631-225E-3B00-A86ABA76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09571-661E-BB28-E130-B480D91D3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502223"/>
            <a:ext cx="19847721" cy="738817"/>
          </a:xfrm>
        </p:spPr>
        <p:txBody>
          <a:bodyPr/>
          <a:lstStyle/>
          <a:p>
            <a:r>
              <a:rPr lang="en-US" dirty="0"/>
              <a:t>N50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43781-EC6E-B284-D8E8-2672B01AD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3A1EA-9A3C-9AF9-70C1-5D7C3454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EDADB8-DED7-2DAA-131B-ADB06C18DC66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441FBC-BFEC-F17C-6FBD-3FD89F166562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ED23D4-8C98-1DC6-3C8C-EC134AF3EEF5}"/>
              </a:ext>
            </a:extLst>
          </p:cNvPr>
          <p:cNvSpPr txBox="1"/>
          <p:nvPr/>
        </p:nvSpPr>
        <p:spPr>
          <a:xfrm>
            <a:off x="968418" y="2145765"/>
            <a:ext cx="18381575" cy="45243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N50 is the size of the contig which, along with all larger contigs, contains half of sequence of an assembly.</a:t>
            </a:r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9DB23B-80C4-CF32-86B6-1004271B066E}"/>
              </a:ext>
            </a:extLst>
          </p:cNvPr>
          <p:cNvSpPr txBox="1"/>
          <p:nvPr/>
        </p:nvSpPr>
        <p:spPr>
          <a:xfrm>
            <a:off x="8964231" y="10506204"/>
            <a:ext cx="4960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contigs ordered smallest to largest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3EF3DE-AE1F-9D22-2376-6016741D57BC}"/>
              </a:ext>
            </a:extLst>
          </p:cNvPr>
          <p:cNvSpPr txBox="1"/>
          <p:nvPr/>
        </p:nvSpPr>
        <p:spPr>
          <a:xfrm rot="16200000">
            <a:off x="3833874" y="6245361"/>
            <a:ext cx="2273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contig</a:t>
            </a:r>
            <a:r>
              <a:rPr lang="en-US" sz="2400" dirty="0"/>
              <a:t> size (</a:t>
            </a:r>
            <a:r>
              <a:rPr lang="en-US" sz="2400" dirty="0" err="1"/>
              <a:t>bp</a:t>
            </a:r>
            <a:r>
              <a:rPr lang="en-US" sz="2400" dirty="0"/>
              <a:t>)</a:t>
            </a:r>
          </a:p>
        </p:txBody>
      </p:sp>
      <p:pic>
        <p:nvPicPr>
          <p:cNvPr id="11" name="Picture 10" descr="ordered.jpg">
            <a:extLst>
              <a:ext uri="{FF2B5EF4-FFF2-40B4-BE49-F238E27FC236}">
                <a16:creationId xmlns:a16="http://schemas.microsoft.com/office/drawing/2014/main" id="{3D921A8C-8442-B4B5-7E73-CE5665B55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396" y="2869468"/>
            <a:ext cx="10298975" cy="72134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ED9EC3-011C-4484-0AB8-2EA86CDAB2BF}"/>
              </a:ext>
            </a:extLst>
          </p:cNvPr>
          <p:cNvSpPr txBox="1"/>
          <p:nvPr/>
        </p:nvSpPr>
        <p:spPr>
          <a:xfrm>
            <a:off x="14967552" y="5044910"/>
            <a:ext cx="4512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top 4 contigs contain 1/2 of the assembly, sum = </a:t>
            </a:r>
            <a:r>
              <a:rPr lang="is-IS" sz="2400" dirty="0"/>
              <a:t>2,705,716</a:t>
            </a:r>
            <a:r>
              <a:rPr lang="cs-CZ" sz="2400" dirty="0"/>
              <a:t> </a:t>
            </a:r>
            <a:r>
              <a:rPr lang="cs-CZ" sz="2400" dirty="0" err="1"/>
              <a:t>bp</a:t>
            </a:r>
            <a:r>
              <a:rPr lang="en-US" sz="24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C1D86D-7EA9-54F6-A43A-3801E23E8334}"/>
              </a:ext>
            </a:extLst>
          </p:cNvPr>
          <p:cNvSpPr txBox="1"/>
          <p:nvPr/>
        </p:nvSpPr>
        <p:spPr>
          <a:xfrm>
            <a:off x="14967552" y="4523858"/>
            <a:ext cx="5049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top 3 </a:t>
            </a:r>
            <a:r>
              <a:rPr lang="en-US" sz="2400" dirty="0" err="1"/>
              <a:t>contigs</a:t>
            </a:r>
            <a:r>
              <a:rPr lang="en-US" sz="2400" dirty="0"/>
              <a:t> sum = </a:t>
            </a:r>
            <a:r>
              <a:rPr lang="is-IS" sz="2400" dirty="0"/>
              <a:t>2,299,813</a:t>
            </a:r>
            <a:r>
              <a:rPr lang="en-US" sz="2400" dirty="0"/>
              <a:t> bp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F4866C-7DFC-3CC8-F0E5-48A673E6EF57}"/>
              </a:ext>
            </a:extLst>
          </p:cNvPr>
          <p:cNvSpPr txBox="1"/>
          <p:nvPr/>
        </p:nvSpPr>
        <p:spPr>
          <a:xfrm>
            <a:off x="14967552" y="4002806"/>
            <a:ext cx="4804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top 2 </a:t>
            </a:r>
            <a:r>
              <a:rPr lang="en-US" sz="2400" dirty="0" err="1"/>
              <a:t>contigs</a:t>
            </a:r>
            <a:r>
              <a:rPr lang="en-US" sz="2400" dirty="0"/>
              <a:t> sum = </a:t>
            </a:r>
            <a:r>
              <a:rPr lang="fi-FI" sz="2400" dirty="0"/>
              <a:t>1,871,154</a:t>
            </a:r>
            <a:r>
              <a:rPr lang="en-US" sz="2400" dirty="0"/>
              <a:t> </a:t>
            </a:r>
            <a:r>
              <a:rPr lang="en-US" sz="2400" dirty="0" err="1"/>
              <a:t>bp</a:t>
            </a: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CAAF2C-731D-CA95-715A-BB2B69FBF462}"/>
              </a:ext>
            </a:extLst>
          </p:cNvPr>
          <p:cNvSpPr txBox="1"/>
          <p:nvPr/>
        </p:nvSpPr>
        <p:spPr>
          <a:xfrm>
            <a:off x="14967552" y="3481754"/>
            <a:ext cx="3659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top </a:t>
            </a:r>
            <a:r>
              <a:rPr lang="en-US" sz="2400" dirty="0" err="1"/>
              <a:t>contig</a:t>
            </a:r>
            <a:r>
              <a:rPr lang="en-US" sz="2400" dirty="0"/>
              <a:t> = </a:t>
            </a:r>
            <a:r>
              <a:rPr lang="is-IS" sz="2400" dirty="0"/>
              <a:t>1,223,670</a:t>
            </a:r>
            <a:r>
              <a:rPr lang="en-US" sz="2400" dirty="0"/>
              <a:t> </a:t>
            </a:r>
            <a:r>
              <a:rPr lang="en-US" sz="2400" dirty="0" err="1"/>
              <a:t>bp</a:t>
            </a:r>
            <a:endParaRPr lang="en-US" sz="2400" dirty="0"/>
          </a:p>
        </p:txBody>
      </p:sp>
      <p:sp>
        <p:nvSpPr>
          <p:cNvPr id="19" name="Right Bracket 18">
            <a:extLst>
              <a:ext uri="{FF2B5EF4-FFF2-40B4-BE49-F238E27FC236}">
                <a16:creationId xmlns:a16="http://schemas.microsoft.com/office/drawing/2014/main" id="{04D1CE19-43FF-2A21-58AA-55145702CAE7}"/>
              </a:ext>
            </a:extLst>
          </p:cNvPr>
          <p:cNvSpPr/>
          <p:nvPr/>
        </p:nvSpPr>
        <p:spPr>
          <a:xfrm rot="1609603">
            <a:off x="14426180" y="3835389"/>
            <a:ext cx="257286" cy="865077"/>
          </a:xfrm>
          <a:prstGeom prst="rightBracke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5698A1-91ED-5D4F-4E7A-94484CEFDEB1}"/>
              </a:ext>
            </a:extLst>
          </p:cNvPr>
          <p:cNvCxnSpPr>
            <a:stCxn id="19" idx="2"/>
          </p:cNvCxnSpPr>
          <p:nvPr/>
        </p:nvCxnSpPr>
        <p:spPr>
          <a:xfrm>
            <a:off x="14669621" y="4325984"/>
            <a:ext cx="297931" cy="7189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CC2C85B-28AA-6FAE-C840-16C226FB71EF}"/>
              </a:ext>
            </a:extLst>
          </p:cNvPr>
          <p:cNvSpPr txBox="1"/>
          <p:nvPr/>
        </p:nvSpPr>
        <p:spPr>
          <a:xfrm>
            <a:off x="6091038" y="3069892"/>
            <a:ext cx="5224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sum of all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</a:rPr>
              <a:t>contigs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cs-CZ" sz="2400" dirty="0">
                <a:solidFill>
                  <a:schemeClr val="bg2">
                    <a:lumMod val="25000"/>
                  </a:schemeClr>
                </a:solidFill>
              </a:rPr>
              <a:t>4,740,890 </a:t>
            </a:r>
            <a:r>
              <a:rPr lang="cs-CZ" sz="2400" dirty="0" err="1">
                <a:solidFill>
                  <a:schemeClr val="bg2">
                    <a:lumMod val="25000"/>
                  </a:schemeClr>
                </a:solidFill>
              </a:rPr>
              <a:t>bp</a:t>
            </a:r>
            <a:endParaRPr lang="cs-CZ" sz="24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cs-CZ" sz="2400" dirty="0">
                <a:solidFill>
                  <a:schemeClr val="bg2">
                    <a:lumMod val="25000"/>
                  </a:schemeClr>
                </a:solidFill>
              </a:rPr>
              <a:t>1/2 sum </a:t>
            </a:r>
            <a:r>
              <a:rPr lang="cs-CZ" sz="2400" dirty="0" err="1">
                <a:solidFill>
                  <a:schemeClr val="bg2">
                    <a:lumMod val="25000"/>
                  </a:schemeClr>
                </a:solidFill>
              </a:rPr>
              <a:t>of</a:t>
            </a:r>
            <a:r>
              <a:rPr lang="cs-CZ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cs-CZ" sz="2400" dirty="0" err="1">
                <a:solidFill>
                  <a:schemeClr val="bg2">
                    <a:lumMod val="25000"/>
                  </a:schemeClr>
                </a:solidFill>
              </a:rPr>
              <a:t>all</a:t>
            </a:r>
            <a:r>
              <a:rPr lang="cs-CZ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cs-CZ" sz="2400" dirty="0" err="1">
                <a:solidFill>
                  <a:schemeClr val="bg2">
                    <a:lumMod val="25000"/>
                  </a:schemeClr>
                </a:solidFill>
              </a:rPr>
              <a:t>contigs</a:t>
            </a:r>
            <a:r>
              <a:rPr lang="cs-CZ" sz="2400" dirty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is-IS" sz="2400" dirty="0">
                <a:solidFill>
                  <a:schemeClr val="bg2">
                    <a:lumMod val="25000"/>
                  </a:schemeClr>
                </a:solidFill>
              </a:rPr>
              <a:t>2,370,445 bp</a:t>
            </a: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CE8DA6-75AA-9995-DBBA-851B978BC3C2}"/>
              </a:ext>
            </a:extLst>
          </p:cNvPr>
          <p:cNvSpPr txBox="1"/>
          <p:nvPr/>
        </p:nvSpPr>
        <p:spPr>
          <a:xfrm>
            <a:off x="8092187" y="4096706"/>
            <a:ext cx="4262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this is the N50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</a:rPr>
              <a:t>contig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, with length </a:t>
            </a:r>
            <a:r>
              <a:rPr lang="is-IS" sz="2400" dirty="0">
                <a:solidFill>
                  <a:schemeClr val="bg2">
                    <a:lumMod val="25000"/>
                  </a:schemeClr>
                </a:solidFill>
              </a:rPr>
              <a:t>405,903 bp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C19C9F-057F-6FF8-1969-4933717B4CB0}"/>
              </a:ext>
            </a:extLst>
          </p:cNvPr>
          <p:cNvSpPr txBox="1"/>
          <p:nvPr/>
        </p:nvSpPr>
        <p:spPr>
          <a:xfrm>
            <a:off x="8092187" y="5106394"/>
            <a:ext cx="3004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2400" b="1" dirty="0">
                <a:solidFill>
                  <a:schemeClr val="bg2">
                    <a:lumMod val="25000"/>
                  </a:schemeClr>
                </a:solidFill>
              </a:rPr>
              <a:t>N50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=</a:t>
            </a:r>
            <a:r>
              <a:rPr lang="mr-IN" sz="2400" b="1" dirty="0">
                <a:solidFill>
                  <a:schemeClr val="bg2">
                    <a:lumMod val="25000"/>
                  </a:schemeClr>
                </a:solidFill>
              </a:rPr>
              <a:t> 405,903 bp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B35655B-01DA-5741-7464-702FE2AA3408}"/>
              </a:ext>
            </a:extLst>
          </p:cNvPr>
          <p:cNvCxnSpPr>
            <a:cxnSpLocks/>
          </p:cNvCxnSpPr>
          <p:nvPr/>
        </p:nvCxnSpPr>
        <p:spPr>
          <a:xfrm flipV="1">
            <a:off x="11830403" y="4325984"/>
            <a:ext cx="2093840" cy="9443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54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/>
      <p:bldP spid="19" grpId="0" animBg="1"/>
      <p:bldP spid="22" grpId="0"/>
      <p:bldP spid="23" grpId="0"/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C8756-F46C-8FA2-7393-C95A975B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18535-752E-257D-AD76-7E61E6AF2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551444"/>
            <a:ext cx="19847721" cy="738817"/>
          </a:xfrm>
        </p:spPr>
        <p:txBody>
          <a:bodyPr/>
          <a:lstStyle/>
          <a:p>
            <a:r>
              <a:rPr lang="en-US" dirty="0"/>
              <a:t>Finishing, Validation, Confidence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91863-8792-6C56-1342-F74ADE73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C5659-7F4C-A303-974D-C835E63A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04241C-F87A-9B6E-1CD8-660DEDD4B062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0267C5-6F8F-AA44-17A4-02B6E2C25084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A8B1B-29B8-C21B-6337-A9B18E05DABA}"/>
              </a:ext>
            </a:extLst>
          </p:cNvPr>
          <p:cNvSpPr txBox="1"/>
          <p:nvPr/>
        </p:nvSpPr>
        <p:spPr>
          <a:xfrm>
            <a:off x="968418" y="2145765"/>
            <a:ext cx="18381575" cy="113569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3200" dirty="0"/>
              <a:t>‘Finishing’ traditionally refers to the costly and </a:t>
            </a:r>
            <a:r>
              <a:rPr lang="en-US" sz="3200" dirty="0" err="1"/>
              <a:t>labourious</a:t>
            </a:r>
            <a:r>
              <a:rPr lang="en-US" sz="3200" dirty="0"/>
              <a:t> steps required to ‘close’ all the sequencing gaps to provide high quality and 100% complete chromosome sequences (aka “closure”)</a:t>
            </a:r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r>
              <a:rPr lang="en-US" sz="3200" dirty="0"/>
              <a:t>Finishing is workable for bacterial genomes but very hard for </a:t>
            </a:r>
            <a:r>
              <a:rPr lang="en-US" sz="3200" dirty="0" err="1"/>
              <a:t>eukyarotic</a:t>
            </a:r>
            <a:r>
              <a:rPr lang="en-US" sz="3200" dirty="0"/>
              <a:t> genomes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centromeres and </a:t>
            </a:r>
            <a:r>
              <a:rPr lang="en-US" sz="3200" dirty="0" err="1"/>
              <a:t>teleomeres</a:t>
            </a:r>
            <a:r>
              <a:rPr lang="en-US" sz="3200" dirty="0"/>
              <a:t> are hard to clone or sequence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yet important biology is encoded in these regions (e.g. </a:t>
            </a:r>
            <a:r>
              <a:rPr lang="en-US" sz="3200" i="1" dirty="0"/>
              <a:t>Trypanosoma</a:t>
            </a:r>
            <a:r>
              <a:rPr lang="en-US" sz="3200" dirty="0"/>
              <a:t>)</a:t>
            </a:r>
          </a:p>
          <a:p>
            <a:pPr marL="800100" lvl="1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r>
              <a:rPr lang="is-IS" sz="3200" dirty="0"/>
              <a:t>Most current genome projects do not attempt closure due to: </a:t>
            </a:r>
          </a:p>
          <a:p>
            <a:pPr marL="800100" lvl="1" indent="-342900">
              <a:buFont typeface="Arial"/>
              <a:buChar char="•"/>
            </a:pPr>
            <a:r>
              <a:rPr lang="is-IS" sz="3200" dirty="0"/>
              <a:t>the cost and time involved – closure does not get funded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s</a:t>
            </a:r>
            <a:r>
              <a:rPr lang="is-IS" sz="3200" dirty="0"/>
              <a:t>hotgun routinely obtains &gt;90% closure and thus the majority of the biology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g</a:t>
            </a:r>
            <a:r>
              <a:rPr lang="is-IS" sz="3200" dirty="0"/>
              <a:t>aps will be closed by research teams if it is relevant to their science</a:t>
            </a:r>
          </a:p>
          <a:p>
            <a:pPr marL="800100" lvl="1" indent="-342900">
              <a:buFont typeface="Arial"/>
              <a:buChar char="•"/>
            </a:pPr>
            <a:endParaRPr lang="is-IS" sz="3200" dirty="0"/>
          </a:p>
          <a:p>
            <a:pPr marL="342900" indent="-342900">
              <a:buFont typeface="Arial"/>
              <a:buChar char="•"/>
            </a:pPr>
            <a:r>
              <a:rPr lang="is-IS" sz="3200" dirty="0"/>
              <a:t>‘Finishing’ now most often refers to the scaffolding quality control steps in genome assembly – making the most out of the shotgun data – and is seen as distinct from ‘closure’</a:t>
            </a:r>
          </a:p>
          <a:p>
            <a:pPr marL="342900" indent="-342900">
              <a:buFont typeface="Arial"/>
              <a:buChar char="•"/>
            </a:pPr>
            <a:endParaRPr lang="is-I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73269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8B234-75C4-7981-F85E-41ADD56A4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C7987-C61B-6CDF-565B-5C56957F2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851" y="551444"/>
            <a:ext cx="19847721" cy="738817"/>
          </a:xfrm>
        </p:spPr>
        <p:txBody>
          <a:bodyPr/>
          <a:lstStyle/>
          <a:p>
            <a:r>
              <a:rPr lang="en-US" dirty="0"/>
              <a:t>Finishing, Validation, Confidence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D4CA9-E361-6AAF-8832-B513178B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DD0ED-2F29-8EBF-71C9-B204663A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18C133-9C87-FFA9-A19D-02F4C5DDAD4A}"/>
              </a:ext>
            </a:extLst>
          </p:cNvPr>
          <p:cNvSpPr/>
          <p:nvPr/>
        </p:nvSpPr>
        <p:spPr>
          <a:xfrm flipV="1">
            <a:off x="11104402" y="8414796"/>
            <a:ext cx="2083982" cy="1025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32BA8D-E61E-6464-3C75-D48DC60DFB7A}"/>
              </a:ext>
            </a:extLst>
          </p:cNvPr>
          <p:cNvSpPr/>
          <p:nvPr/>
        </p:nvSpPr>
        <p:spPr>
          <a:xfrm>
            <a:off x="10766122" y="8207184"/>
            <a:ext cx="549423" cy="1233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0427C-C257-C5D9-E65D-A81F98F17683}"/>
              </a:ext>
            </a:extLst>
          </p:cNvPr>
          <p:cNvSpPr txBox="1"/>
          <p:nvPr/>
        </p:nvSpPr>
        <p:spPr>
          <a:xfrm>
            <a:off x="968418" y="2103235"/>
            <a:ext cx="18381575" cy="118493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3200" dirty="0"/>
              <a:t>Validation of genome assembly is difficult as our knowledge about the genome we are sequencing is often limited</a:t>
            </a:r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r>
              <a:rPr lang="en-US" sz="3200" dirty="0"/>
              <a:t>If a closely related genome sequence is known, a comparison can be made to determine possible errors – or are they real differences?</a:t>
            </a:r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r>
              <a:rPr lang="en-US" sz="3200" dirty="0"/>
              <a:t>Genome annotation can identify gaps in the assembly (e.g. missing genes known from PCR or biochemistry)</a:t>
            </a:r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r>
              <a:rPr lang="en-US" sz="3200" dirty="0"/>
              <a:t>With limited prior knowledge, bioinformaticians rely on the assembly statistics such as Q40, N50, etc.</a:t>
            </a:r>
          </a:p>
          <a:p>
            <a:pPr marL="342900" indent="-342900">
              <a:buFont typeface="Arial"/>
              <a:buChar char="•"/>
            </a:pPr>
            <a:endParaRPr lang="en-US" sz="3200" dirty="0"/>
          </a:p>
          <a:p>
            <a:pPr marL="342900" indent="-342900">
              <a:buFont typeface="Arial"/>
              <a:buChar char="•"/>
            </a:pPr>
            <a:r>
              <a:rPr lang="en-US" sz="3200" dirty="0"/>
              <a:t>But can we trust the assembly software?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Peer-reviewed publication of algorithms and open source release of software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Head-to-head comparison of assemblers on the same data to identify consensus</a:t>
            </a:r>
          </a:p>
          <a:p>
            <a:pPr marL="800100" lvl="1" indent="-342900">
              <a:buFont typeface="Arial"/>
              <a:buChar char="•"/>
            </a:pPr>
            <a:r>
              <a:rPr lang="en-US" sz="3200" dirty="0"/>
              <a:t>Simulated data and </a:t>
            </a:r>
            <a:r>
              <a:rPr lang="en-US" sz="3200" dirty="0" err="1"/>
              <a:t>Assemblathon</a:t>
            </a:r>
            <a:r>
              <a:rPr lang="en-US" sz="3200" dirty="0"/>
              <a:t> / GAGE competitions</a:t>
            </a:r>
          </a:p>
          <a:p>
            <a:pPr marL="342900" indent="-342900">
              <a:buFont typeface="Arial"/>
              <a:buChar char="•"/>
            </a:pPr>
            <a:endParaRPr lang="is-I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  <a:p>
            <a:pPr marL="342900" indent="-342900">
              <a:buFont typeface="Arial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68910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F61F0-AFF7-B994-0C14-375A0BEE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A0F60C-B46B-380F-D860-58243C19171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792E9C-7E5E-F14F-B049-5BFE22D713B7}" type="datetime4">
              <a:rPr lang="en-CA" smtClean="0"/>
              <a:t>October 9,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6BF1535-73C8-4B53-8807-00E19432A5F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A12C66C-8635-75FD-9EF3-D69F2063A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75" y="458787"/>
            <a:ext cx="19441062" cy="738817"/>
          </a:xfrm>
        </p:spPr>
        <p:txBody>
          <a:bodyPr>
            <a:noAutofit/>
          </a:bodyPr>
          <a:lstStyle/>
          <a:p>
            <a:r>
              <a:rPr lang="en-US" sz="6000" dirty="0"/>
              <a:t>This week … </a:t>
            </a:r>
            <a:endParaRPr lang="en-US" sz="6000" dirty="0">
              <a:latin typeface="Raleway" pitchFamily="2" charset="77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49DC66-10B0-2C88-56DC-BE4EBECF1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83" y="2455436"/>
            <a:ext cx="18805917" cy="3014536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ADDA5D-5E23-91CD-ACFC-73EF4B88C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254" y="5715000"/>
            <a:ext cx="13696632" cy="442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93475"/>
      </p:ext>
    </p:extLst>
  </p:cSld>
  <p:clrMapOvr>
    <a:masterClrMapping/>
  </p:clrMapOvr>
</p:sld>
</file>

<file path=ppt/theme/theme1.xml><?xml version="1.0" encoding="utf-8"?>
<a:theme xmlns:a="http://schemas.openxmlformats.org/drawingml/2006/main" name="McMaster Title and Closing Slides">
  <a:themeElements>
    <a:clrScheme name="McMaster Colours PPTx 2024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cMaster Main Slides - White">
  <a:themeElements>
    <a:clrScheme name="McMaster Colours PPTx 2024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cMaster Main Slides - Maroon">
  <a:themeElements>
    <a:clrScheme name="McMaster Colours PPTx 2024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6b50f8d-715f-480a-838b-715664365a53">
      <UserInfo>
        <DisplayName>SharingLinks.489b77b9-d459-4f50-8e67-11d353497347.Flexible.911ce84e-a8fa-41b6-8c97-d208590a2ab8</DisplayName>
        <AccountId>365</AccountId>
        <AccountType/>
      </UserInfo>
      <UserInfo>
        <DisplayName>Omoseke Fowode</DisplayName>
        <AccountId>364</AccountId>
        <AccountType/>
      </UserInfo>
      <UserInfo>
        <DisplayName>VictoriaRose Regan</DisplayName>
        <AccountId>34</AccountId>
        <AccountType/>
      </UserInfo>
      <UserInfo>
        <DisplayName>Marketing Content Projects Owners</DisplayName>
        <AccountId>6</AccountId>
        <AccountType/>
      </UserInfo>
      <UserInfo>
        <DisplayName>vregan@elitedigital.ca</DisplayName>
        <AccountId>26</AccountId>
        <AccountType/>
      </UserInfo>
      <UserInfo>
        <DisplayName>Poelmans, Phil</DisplayName>
        <AccountId>378</AccountId>
        <AccountType/>
      </UserInfo>
      <UserInfo>
        <DisplayName>SharingLinks.11f30ffa-8e2d-48ff-ae65-417733c54462.Flexible.52ef79e5-1b7f-4940-af6c-97c7401e1422</DisplayName>
        <AccountId>367</AccountId>
        <AccountType/>
      </UserInfo>
      <UserInfo>
        <DisplayName>SharingLinks.ee822e11-9601-4420-be31-e0b505a82cae.Flexible.162289b9-8d28-4537-bbba-beb1e9cd24e5</DisplayName>
        <AccountId>366</AccountId>
        <AccountType/>
      </UserInfo>
      <UserInfo>
        <DisplayName>Blackwood, Jessica</DisplayName>
        <AccountId>280</AccountId>
        <AccountType/>
      </UserInfo>
      <UserInfo>
        <DisplayName>Valentine, Richard</DisplayName>
        <AccountId>12</AccountId>
        <AccountType/>
      </UserInfo>
      <UserInfo>
        <DisplayName>Jamie Kaushal</DisplayName>
        <AccountId>380</AccountId>
        <AccountType/>
      </UserInfo>
      <UserInfo>
        <DisplayName>Morgan, Sara</DisplayName>
        <AccountId>9</AccountId>
        <AccountType/>
      </UserInfo>
    </SharedWithUsers>
    <lcf76f155ced4ddcb4097134ff3c332f xmlns="88b0a0ff-d3b5-49df-8481-a9e681bdc8a6">
      <Terms xmlns="http://schemas.microsoft.com/office/infopath/2007/PartnerControls"/>
    </lcf76f155ced4ddcb4097134ff3c332f>
    <TaxCatchAll xmlns="56b50f8d-715f-480a-838b-715664365a5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A38F74C9162C478D8F165ED878BC5B" ma:contentTypeVersion="15" ma:contentTypeDescription="Create a new document." ma:contentTypeScope="" ma:versionID="e47a23570109c110b7798bafe919556a">
  <xsd:schema xmlns:xsd="http://www.w3.org/2001/XMLSchema" xmlns:xs="http://www.w3.org/2001/XMLSchema" xmlns:p="http://schemas.microsoft.com/office/2006/metadata/properties" xmlns:ns2="88b0a0ff-d3b5-49df-8481-a9e681bdc8a6" xmlns:ns3="56b50f8d-715f-480a-838b-715664365a53" targetNamespace="http://schemas.microsoft.com/office/2006/metadata/properties" ma:root="true" ma:fieldsID="fca2d4002b9751db08dcbe4d29144a3f" ns2:_="" ns3:_="">
    <xsd:import namespace="88b0a0ff-d3b5-49df-8481-a9e681bdc8a6"/>
    <xsd:import namespace="56b50f8d-715f-480a-838b-715664365a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b0a0ff-d3b5-49df-8481-a9e681bdc8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073764d-e844-48d8-8cbc-d63b9d9528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50f8d-715f-480a-838b-715664365a5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158ff6b1-b036-4316-b274-01ca8d384497}" ma:internalName="TaxCatchAll" ma:showField="CatchAllData" ma:web="56b50f8d-715f-480a-838b-715664365a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8C2D47-8966-498E-811F-A1F66EDD0AA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FCE0B-163E-4885-9228-6F21EEAE8497}">
  <ds:schemaRefs>
    <ds:schemaRef ds:uri="d40a990f-0aae-4c25-9c28-eaaf496ed2a5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f1f8a7e4-56c1-4563-85ae-320e346f1ca6"/>
    <ds:schemaRef ds:uri="http://schemas.microsoft.com/office/2006/metadata/properties"/>
    <ds:schemaRef ds:uri="http://www.w3.org/XML/1998/namespace"/>
    <ds:schemaRef ds:uri="http://purl.org/dc/dcmitype/"/>
    <ds:schemaRef ds:uri="56b50f8d-715f-480a-838b-715664365a53"/>
    <ds:schemaRef ds:uri="88b0a0ff-d3b5-49df-8481-a9e681bdc8a6"/>
  </ds:schemaRefs>
</ds:datastoreItem>
</file>

<file path=customXml/itemProps3.xml><?xml version="1.0" encoding="utf-8"?>
<ds:datastoreItem xmlns:ds="http://schemas.openxmlformats.org/officeDocument/2006/customXml" ds:itemID="{C57527D8-6F85-456C-AD90-B5FF6D7A1E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b0a0ff-d3b5-49df-8481-a9e681bdc8a6"/>
    <ds:schemaRef ds:uri="56b50f8d-715f-480a-838b-715664365a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8956</TotalTime>
  <Words>1624</Words>
  <Application>Microsoft Macintosh PowerPoint</Application>
  <PresentationFormat>Custom</PresentationFormat>
  <Paragraphs>295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Aptos</vt:lpstr>
      <vt:lpstr>Arial</vt:lpstr>
      <vt:lpstr>Helvetica</vt:lpstr>
      <vt:lpstr>Raleway</vt:lpstr>
      <vt:lpstr>Times</vt:lpstr>
      <vt:lpstr>McMaster Title and Closing Slides</vt:lpstr>
      <vt:lpstr>McMaster Main Slides - White</vt:lpstr>
      <vt:lpstr>McMaster Main Slides - Maroon</vt:lpstr>
      <vt:lpstr>DNA Sequencing &amp; Genome Assembly</vt:lpstr>
      <vt:lpstr>Genome references</vt:lpstr>
      <vt:lpstr>The Human Genome: a single “average” reference</vt:lpstr>
      <vt:lpstr>Genome Assembly</vt:lpstr>
      <vt:lpstr>DNA sequencing: Illumina (short read sequencing)</vt:lpstr>
      <vt:lpstr>Genome assembly by overlap</vt:lpstr>
      <vt:lpstr>PHRED Score: Quality control of sequencing reads</vt:lpstr>
      <vt:lpstr>PHRED Score: Quality control of sequencing reads</vt:lpstr>
      <vt:lpstr>Genome assembly by overlap</vt:lpstr>
      <vt:lpstr>Problem with greedy assembly: Repeats</vt:lpstr>
      <vt:lpstr>Bi-directional sequence (aka Mate Pairs)</vt:lpstr>
      <vt:lpstr>Reads to Contigs to Scaffolds to Genomes</vt:lpstr>
      <vt:lpstr>The A5 microbial genome assembly pipeline</vt:lpstr>
      <vt:lpstr>The A5 microbial genome assembly pipeline</vt:lpstr>
      <vt:lpstr>The A5 microbial genome assembly pipeline</vt:lpstr>
      <vt:lpstr>The A5 microbial genome assembly pipeline</vt:lpstr>
      <vt:lpstr>The A5 microbial genome assembly pipeline</vt:lpstr>
      <vt:lpstr>A5QC / SSPACE ‘Finishing’</vt:lpstr>
      <vt:lpstr>A5QC / SSPACE ‘Finishing’</vt:lpstr>
      <vt:lpstr>A5QC / SSPACE ‘Finishing’</vt:lpstr>
      <vt:lpstr>The A5 microbial genome assembly pipeline</vt:lpstr>
      <vt:lpstr>kmers, de Bruijn graphs, Eulerian paths</vt:lpstr>
      <vt:lpstr>kmers, de Bruijn graphs, Eulerian paths</vt:lpstr>
      <vt:lpstr>kmers, de Bruijn graphs, Eulerian paths</vt:lpstr>
      <vt:lpstr>kmers, de Bruijn graphs, Eulerian paths</vt:lpstr>
      <vt:lpstr>Try this example by hand ...</vt:lpstr>
      <vt:lpstr>A complete assembly…</vt:lpstr>
      <vt:lpstr>Assembly Statistics – A5 example</vt:lpstr>
      <vt:lpstr>N50</vt:lpstr>
      <vt:lpstr>Finishing, Validation, Confidence</vt:lpstr>
      <vt:lpstr>Finishing, Validation, Confidence</vt:lpstr>
      <vt:lpstr>This week …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McMaster Brand PowerPoint Template</dc:title>
  <dc:creator>Blackwood, Jessica</dc:creator>
  <cp:lastModifiedBy>Katie Houlahan</cp:lastModifiedBy>
  <cp:revision>381</cp:revision>
  <dcterms:created xsi:type="dcterms:W3CDTF">2024-04-26T03:09:02Z</dcterms:created>
  <dcterms:modified xsi:type="dcterms:W3CDTF">2026-10-09T16:11:49Z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0x01010042A38F74C9162C478D8F165ED878BC5B</vt:lpwstr>
  </property>
  <property fmtid="{D5CDD505-2E9C-101B-9397-08002B2CF9AE}" pid="3" name="MediaServiceImageTags">
    <vt:lpwstr/>
  </property>
</Properties>
</file>